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各位老师好，我们是软件工程课程项目小组成员戴晨威和黄裔。本次汇报的项目是房屋租赁系统——一个基于 Spring Boot、Vue3、MySQL、Redis 与 MinIO 的租赁业务平台。接下来我们将从项目背景、需求分析、系统设计、编码实现、测试和项目管理等方面进行汇报。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本次汇报分为五个部分。首先是项目概述与可行性分析，然后是需求分析——包括结构化方法和面向对象方法，接着是系统设计环节，涵盖架构、数据库和 UI 设计，随后是编码实现与测试，最后是项目管理和总结展望。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随着住房租赁市场的规范化和线上化趋势，青年群体流动增强，租赁企业需要数字化系统来提升房源周转和客户响应效率。本项目选用 Spring Boot 3、Vue3、MySQL、Redis 和 MinIO 技术栈，采用增量迭代模型，核心业务模块包括房源管理、预约管理、租约管理和后台管理。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我们从三个维度分析了项目的可行性。技术方面，Spring Boot 和 Vue3 均为成熟技术栈，Docker Compose 可实现一键部署。经济方面，技术栈完全开源，课程项目不产生许可证成本。操作方面，租客端以 H5 页面承载，管理端使用菜单系统，角色分工清晰。风险方面，我们针对接口不一致、数据库理解偏差等问题提前制定了应对措施。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定义了三种用户角色。租客可以找房筛选、查看详情、预约看房和查看租约。运营管理员可以维护公寓和房源、处理预约和租约。系统管理员负责用户、岗位和角色权限配置。右侧展示的是系统的顶层数据流图，展示了系统与租客、管理员、短信服务和对象存储之间的交互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结构化分析通过数据流图逐层分解系统功能。一层的 DFD 将系统拆分为认证管理、房源查询、预约管理、租约管理和后台运营五个子过程。二层的 DFD 进一步展开房源查询子过程，展示了筛选条件、列表展示和详情查看的完整数据流。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面向对象分析使用用例图来展示系统功能。系统包含租客和管理员两类参与者。租客的用例包括浏览房源、搜索筛选、查看详情和预约看房。管理员的用例包括房源维护、预约处理、租约管理和用户管理。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功能需求方面，系统涵盖认证、房源、预约、租约和后台管理五大模块，每个模块都有明确的业务功能。非功能需求方面，我们关注接口响应时间在两秒以内、JWT 安全认证、数据备份机制和响应式前端适配。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系统采用前后端分离架构。后端基于 Spring Boot 多模块工程，分为 model、common 和 web 三层，web 层进一步拆分为管理接口和租客端接口。前端管理端使用 Element Plus，租客端使用 Vant H5。基础设施层由 MySQL、Redis 和 MinIO 构成，通过 Docker Compose 统一部署。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功能结构图清晰地展示了系统的两大模块划分。管理后台包括公寓管理、房间管理、预约处理、用户管理和系统配置。租客端包括找房筛选、房源详情、预约看房和个人中心。基础设施层提供 MySQL 持久化、Redis 缓存、MinIO 图片存储和 JWT 认证支持。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数据库以公寓、房间和租约作为核心链路。核心表包括 apartment、room、lease、user、appointment 和 role 等。这里展示的是 ER 图和核心表结构，完整的数据表清单可以参考报告附录。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租客端的 UI 设计采用 Vant 移动端组件库，覆盖了首页搜索、房源详情、预约看房、个人中心和浏览历史等完整用户旅程。每个页面都经过了精心的交互设计，确保移动端用户体验流畅。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管理后台采用 Element Plus 组件库，提供了公寓与房间管理、预约处理、用户与权限管理等核心功能。后台界面采用表单、表格和菜单相结合的管理模式，适合运营人员的日常操作需求。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系统的网络架构分为前端、后端和基础设施三层。前端通过 Nginx 承载，后端 Spring Boot 提供服务，底层由 MySQL、Redis 和 MinIO 支撑。数据量方面，每公寓约需要一点五兆的图片存储，日均预约操作在两百次以上，接口响应时间控制在两秒以内。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后端采用多模块工程结构。model 模块包含实体和枚举，common 模块包含工具和异常处理，web 模块分为管理端和租客端两个接口。我们使用 MyBatis-Plus 简化 CRUD 开发，JWT 实现登录认证，MinIO 进行图片存储，Docker Compose 完成一键部署。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管理后台使用 Vue3 和 Element Plus，实现了数据表格展示、表单提交验证、图片上传和分页筛选等典型管理功能。租客端使用 Vue3 和 Vant，针对移动端优化了首页展示、图片轮播、上拉加载和预约交互等体验。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测试分为白盒测试和黑盒测试两个层面。白盒测试方面，我们使用 JUnit 和 Mockito 覆盖核心 Service 层方法，验证分支覆盖和边界值。黑盒测试方面，通过等价类划分和边界值分析，覆盖前端页面、接口和完整业务流程的测试。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采用增量迭代模型，共十四周的开发周期，覆盖了从需求分析到设计、编码、测试和答辩准备的完整过程。图表展示的是项目的甘特图，可以看到各阶段的时序安排和交付节点。作为课程项目，技术栈开源，部署成本可控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小组两名成员各有侧重。戴晨威主要负责后端开发、数据库设计与实现、本地部署和测试策略。黄裔主要负责前端开发、UI 设计、需求文档撰写和汇报材料准备。两人共同参与需求分析、系统设计和联调测试。配置管理方面，我们使用 Git 进行分支管理，遵循 feat、fix、docs 等提交信息规范。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项目的亮点在于同时运用了结构化 DFD 和面向对象用例图进行需求分析，前后端分离实现了管理端和租客端的完整覆盖，并建立了白盒加黑盒的测试闭环。后续扩展方向包括接入在线支付、电子合同签署、多商户入驻和智能推荐等功能。</a:t>
            </a:r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以上是本次房屋租赁系统项目的完整汇报。感谢各位老师的聆听，欢迎提问。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image" Target="../media/image11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10.png"/><Relationship Id="rId2" Type="http://schemas.openxmlformats.org/officeDocument/2006/relationships/tags" Target="../tags/tag2.xml"/><Relationship Id="rId15" Type="http://schemas.openxmlformats.org/officeDocument/2006/relationships/notesSlide" Target="../notesSlides/notesSlide1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9.xml"/><Relationship Id="rId12" Type="http://schemas.openxmlformats.org/officeDocument/2006/relationships/image" Target="../media/image13.png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95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DB6AC">
                  <a:alpha val="25000"/>
                </a:srgbClr>
              </a:gs>
              <a:gs pos="100000">
                <a:srgbClr val="4DB6A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695C">
                  <a:alpha val="20000"/>
                </a:srgbClr>
              </a:gs>
              <a:gs pos="100000">
                <a:srgbClr val="00695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-1524000"/>
            <a:ext cx="12192000" cy="7515225"/>
            <a:chOff x="571500" y="-1524000"/>
            <a:chExt cx="12192000" cy="7515225"/>
          </a:xfrm>
        </p:grpSpPr>
        <p:sp>
          <p:nvSpPr>
            <p:cNvPr id="5" name="Ellipse 5"/>
            <p:cNvSpPr/>
            <p:nvPr/>
          </p:nvSpPr>
          <p:spPr>
            <a:xfrm>
              <a:off x="8763000" y="-952500"/>
              <a:ext cx="3429000" cy="3429000"/>
            </a:xfrm>
            <a:prstGeom prst="ellipse">
              <a:avLst/>
            </a:prstGeom>
            <a:noFill/>
            <a:ln w="9525">
              <a:solidFill>
                <a:srgbClr val="4DB6AC">
                  <a:alpha val="15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8191500" y="-1524000"/>
              <a:ext cx="4572000" cy="4572000"/>
            </a:xfrm>
            <a:prstGeom prst="ellipse">
              <a:avLst/>
            </a:prstGeom>
            <a:noFill/>
            <a:ln w="4762">
              <a:solidFill>
                <a:srgbClr val="4DB6AC">
                  <a:alpha val="8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571500" y="59055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19050">
              <a:solidFill>
                <a:srgbClr val="4DB6AC">
                  <a:alpha val="3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71500" y="59817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4DB6AC">
                  <a:alpha val="15000"/>
                </a:srgbClr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2442686" y="1905000"/>
            <a:ext cx="7306628" cy="3386138"/>
            <a:chOff x="2442686" y="1905000"/>
            <a:chExt cx="7306628" cy="3386138"/>
          </a:xfrm>
        </p:grpSpPr>
        <p:sp>
          <p:nvSpPr>
            <p:cNvPr id="10" name="Rectangle 10"/>
            <p:cNvSpPr/>
            <p:nvPr/>
          </p:nvSpPr>
          <p:spPr>
            <a:xfrm>
              <a:off x="4667250" y="1905000"/>
              <a:ext cx="2857500" cy="342900"/>
            </a:xfrm>
            <a:prstGeom prst="roundRect">
              <a:avLst>
                <a:gd name="adj" fmla="val 50000"/>
              </a:avLst>
            </a:prstGeom>
            <a:solidFill>
              <a:srgbClr val="4DB6AC">
                <a:alpha val="20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324666" y="2004060"/>
              <a:ext cx="1542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2DF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软件工程大作业汇报</a:t>
              </a:r>
              <a:endParaRPr lang="zh-CN" sz="1200" b="1" dirty="0">
                <a:solidFill>
                  <a:srgbClr val="B2DF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59137" y="2369820"/>
              <a:ext cx="4673727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房屋租赁系统</a:t>
              </a:r>
              <a:endParaRPr lang="zh-CN" sz="54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42686" y="3329940"/>
              <a:ext cx="730662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2DF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基于 Spring Boot、Vue3、MySQL、Redis 与 MinIO 的租赁业务平台</a:t>
              </a:r>
              <a:endParaRPr lang="zh-CN" sz="1800" dirty="0">
                <a:solidFill>
                  <a:srgbClr val="B2DF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5143500" y="40005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4DB6AC">
                  <a:alpha val="60000"/>
                </a:srgb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075230" y="4712018"/>
              <a:ext cx="20415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80CBC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小组成员：戴晨威 · 黄裔</a:t>
              </a:r>
              <a:endParaRPr lang="zh-CN" sz="1350" dirty="0">
                <a:solidFill>
                  <a:srgbClr val="80CB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28646" y="5077778"/>
              <a:ext cx="3347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0CBC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2026</a:t>
              </a:r>
              <a:endParaRPr lang="zh-CN" sz="1050" dirty="0">
                <a:solidFill>
                  <a:srgbClr val="80CB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33400"/>
            <a:ext cx="2284145" cy="690562"/>
            <a:chOff x="762000" y="533400"/>
            <a:chExt cx="2284145" cy="690562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38100" cy="64770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16305" y="549592"/>
              <a:ext cx="1668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汇报目录</a:t>
              </a:r>
              <a:endParaRPr lang="zh-CN" sz="2850" b="1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39165" y="1010602"/>
              <a:ext cx="21069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房屋租赁系统 · 软件工程大作业</a:t>
              </a:r>
              <a:endParaRPr lang="zh-CN" sz="1050" b="1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7" name="Line 7"/>
          <p:cNvSpPr/>
          <p:nvPr/>
        </p:nvSpPr>
        <p:spPr>
          <a:xfrm>
            <a:off x="762000" y="147637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19050">
            <a:solidFill>
              <a:srgbClr val="E5E7EB"/>
            </a:solidFill>
          </a:ln>
        </p:spPr>
      </p:sp>
      <p:sp>
        <p:nvSpPr>
          <p:cNvPr id="8" name="Line 8"/>
          <p:cNvSpPr/>
          <p:nvPr/>
        </p:nvSpPr>
        <p:spPr>
          <a:xfrm>
            <a:off x="1238250" y="2047875"/>
            <a:ext cx="9525" cy="3762375"/>
          </a:xfrm>
          <a:custGeom>
            <a:avLst/>
            <a:gdLst/>
            <a:ahLst/>
            <a:cxnLst/>
            <a:rect l="l" t="t" r="r" b="b"/>
            <a:pathLst>
              <a:path w="9525" h="3762375">
                <a:moveTo>
                  <a:pt x="0" y="0"/>
                </a:moveTo>
                <a:lnTo>
                  <a:pt x="0" y="3762375"/>
                </a:lnTo>
              </a:path>
            </a:pathLst>
          </a:custGeom>
          <a:noFill/>
          <a:ln w="28575" cap="rnd">
            <a:gradFill>
              <a:gsLst>
                <a:gs pos="0">
                  <a:srgbClr val="00897B"/>
                </a:gs>
                <a:gs pos="100000">
                  <a:srgbClr val="4DB6AC"/>
                </a:gs>
              </a:gsLst>
              <a:lin ang="5400000" scaled="1"/>
            </a:gradFill>
          </a:ln>
        </p:spPr>
      </p:sp>
      <p:grpSp>
        <p:nvGrpSpPr>
          <p:cNvPr id="13" name="Group 13"/>
          <p:cNvGrpSpPr/>
          <p:nvPr/>
        </p:nvGrpSpPr>
        <p:grpSpPr>
          <a:xfrm>
            <a:off x="1009650" y="2012632"/>
            <a:ext cx="3627787" cy="563880"/>
            <a:chOff x="1009650" y="2012632"/>
            <a:chExt cx="3627787" cy="563880"/>
          </a:xfrm>
        </p:grpSpPr>
        <p:sp>
          <p:nvSpPr>
            <p:cNvPr id="9" name="Ellipse 9"/>
            <p:cNvSpPr/>
            <p:nvPr/>
          </p:nvSpPr>
          <p:spPr>
            <a:xfrm>
              <a:off x="1009650" y="20193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897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7327" y="22026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</a:t>
              </a:r>
              <a:endParaRPr lang="zh-CN" sz="1125" b="1" dirty="0">
                <a:solidFill>
                  <a:srgbClr val="00897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88795" y="2012632"/>
              <a:ext cx="235219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项目概述与可行性分析</a:t>
              </a:r>
              <a:endParaRPr lang="zh-CN" sz="1650" b="1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96415" y="2363152"/>
              <a:ext cx="28410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背景、生命周期模型、技术/经济/操作可行性</a:t>
              </a:r>
              <a:endPara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09650" y="2869882"/>
            <a:ext cx="5048964" cy="563880"/>
            <a:chOff x="1009650" y="2869882"/>
            <a:chExt cx="5048964" cy="563880"/>
          </a:xfrm>
        </p:grpSpPr>
        <p:sp>
          <p:nvSpPr>
            <p:cNvPr id="14" name="Ellipse 14"/>
            <p:cNvSpPr/>
            <p:nvPr/>
          </p:nvSpPr>
          <p:spPr>
            <a:xfrm>
              <a:off x="1009650" y="287655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897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37327" y="30599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</a:t>
              </a:r>
              <a:endParaRPr lang="zh-CN" sz="1125" b="1" dirty="0">
                <a:solidFill>
                  <a:srgbClr val="00897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88795" y="28698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需求分析</a:t>
              </a:r>
              <a:endParaRPr lang="zh-CN" sz="1650" b="1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96415" y="3220402"/>
              <a:ext cx="42621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用户角色、结构化 DFD 分析、面向对象用例分析、功能与非功能需求</a:t>
              </a:r>
              <a:endPara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09650" y="3727132"/>
            <a:ext cx="4292870" cy="563880"/>
            <a:chOff x="1009650" y="3727132"/>
            <a:chExt cx="4292870" cy="563880"/>
          </a:xfrm>
        </p:grpSpPr>
        <p:sp>
          <p:nvSpPr>
            <p:cNvPr id="19" name="Ellipse 19"/>
            <p:cNvSpPr/>
            <p:nvPr/>
          </p:nvSpPr>
          <p:spPr>
            <a:xfrm>
              <a:off x="1009650" y="37338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897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7327" y="39171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</a:t>
              </a:r>
              <a:endParaRPr lang="zh-CN" sz="1125" b="1" dirty="0">
                <a:solidFill>
                  <a:srgbClr val="00897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88795" y="37271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系统设计</a:t>
              </a:r>
              <a:endParaRPr lang="zh-CN" sz="1650" b="1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96415" y="4077652"/>
              <a:ext cx="35061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架构设计、功能结构、数据库 ER 图、UI 设计、网络设计</a:t>
              </a:r>
              <a:endPara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09650" y="4584382"/>
            <a:ext cx="3270742" cy="563880"/>
            <a:chOff x="1009650" y="4584382"/>
            <a:chExt cx="3270742" cy="563880"/>
          </a:xfrm>
        </p:grpSpPr>
        <p:sp>
          <p:nvSpPr>
            <p:cNvPr id="24" name="Ellipse 24"/>
            <p:cNvSpPr/>
            <p:nvPr/>
          </p:nvSpPr>
          <p:spPr>
            <a:xfrm>
              <a:off x="1009650" y="459105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897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37327" y="47744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04</a:t>
              </a:r>
              <a:endParaRPr lang="zh-CN" sz="1125" b="1" dirty="0">
                <a:solidFill>
                  <a:srgbClr val="00897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88795" y="458438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编码实现与测试</a:t>
              </a:r>
              <a:endParaRPr lang="zh-CN" sz="1650" b="1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96415" y="4934902"/>
              <a:ext cx="24839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前后端实现、本地部署、白盒/黑盒测试</a:t>
              </a:r>
              <a:endPara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09650" y="5441632"/>
            <a:ext cx="3753803" cy="563880"/>
            <a:chOff x="1009650" y="5441632"/>
            <a:chExt cx="3753803" cy="563880"/>
          </a:xfrm>
        </p:grpSpPr>
        <p:sp>
          <p:nvSpPr>
            <p:cNvPr id="29" name="Ellipse 29"/>
            <p:cNvSpPr/>
            <p:nvPr/>
          </p:nvSpPr>
          <p:spPr>
            <a:xfrm>
              <a:off x="1009650" y="54483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897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37327" y="56316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05</a:t>
              </a:r>
              <a:endParaRPr lang="zh-CN" sz="1125" b="1" dirty="0">
                <a:solidFill>
                  <a:srgbClr val="00897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88795" y="544163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项目管理与总结</a:t>
              </a:r>
              <a:endParaRPr lang="zh-CN" sz="1650" b="1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96415" y="5792152"/>
              <a:ext cx="29670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甘特图、成员分工、配置管理、亮点与后续扩展</a:t>
              </a:r>
              <a:endParaRPr lang="zh-CN" sz="105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0165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02 / 21</a:t>
            </a:r>
            <a:endParaRPr lang="zh-CN" sz="900" dirty="0">
              <a:solidFill>
                <a:srgbClr val="9CA3A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97B">
                  <a:alpha val="6000"/>
                </a:srgbClr>
              </a:gs>
              <a:gs pos="100000">
                <a:srgbClr val="00897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4" name="Rectangle 4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25830" y="5543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项目概述</a:t>
              </a:r>
              <a:endParaRPr lang="zh-CN" sz="2100" b="1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762000" y="1333500"/>
            <a:ext cx="10572750" cy="4000500"/>
            <a:chOff x="762000" y="1333500"/>
            <a:chExt cx="10572750" cy="4000500"/>
          </a:xfrm>
        </p:grpSpPr>
        <p:grpSp>
          <p:nvGrpSpPr>
            <p:cNvPr id="20" name="Group 20"/>
            <p:cNvGrpSpPr/>
            <p:nvPr/>
          </p:nvGrpSpPr>
          <p:grpSpPr>
            <a:xfrm>
              <a:off x="762000" y="1333500"/>
              <a:ext cx="2295525" cy="4000500"/>
              <a:chOff x="762000" y="1333500"/>
              <a:chExt cx="2295525" cy="4000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3048000" y="1333500"/>
                <a:ext cx="9525" cy="4000500"/>
              </a:xfrm>
              <a:prstGeom prst="rect">
                <a:avLst/>
              </a:prstGeom>
              <a:solidFill>
                <a:srgbClr val="E5E7EB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762000" y="1333500"/>
                <a:ext cx="1905000" cy="3810000"/>
              </a:xfrm>
              <a:prstGeom prst="roundRect">
                <a:avLst>
                  <a:gd name="adj" fmla="val 6000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543050" y="1714500"/>
                <a:ext cx="3429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457200">
                    <a:moveTo>
                      <a:pt x="342900" y="0"/>
                    </a:moveTo>
                    <a:lnTo>
                      <a:pt x="0" y="0"/>
                    </a:lnTo>
                    <a:lnTo>
                      <a:pt x="0" y="457200"/>
                    </a:lnTo>
                    <a:lnTo>
                      <a:pt x="114300" y="457200"/>
                    </a:lnTo>
                    <a:lnTo>
                      <a:pt x="114300" y="342900"/>
                    </a:lnTo>
                    <a:lnTo>
                      <a:pt x="228600" y="342900"/>
                    </a:lnTo>
                    <a:lnTo>
                      <a:pt x="228600" y="457200"/>
                    </a:lnTo>
                    <a:lnTo>
                      <a:pt x="342900" y="457200"/>
                    </a:lnTo>
                    <a:lnTo>
                      <a:pt x="342900" y="0"/>
                    </a:lnTo>
                    <a:close/>
                    <a:moveTo>
                      <a:pt x="85725" y="85725"/>
                    </a:moveTo>
                    <a:lnTo>
                      <a:pt x="142875" y="85725"/>
                    </a:lnTo>
                    <a:lnTo>
                      <a:pt x="142875" y="142875"/>
                    </a:lnTo>
                    <a:lnTo>
                      <a:pt x="85725" y="142875"/>
                    </a:lnTo>
                    <a:lnTo>
                      <a:pt x="85725" y="85725"/>
                    </a:lnTo>
                    <a:close/>
                    <a:moveTo>
                      <a:pt x="142875" y="200025"/>
                    </a:moveTo>
                    <a:lnTo>
                      <a:pt x="85725" y="200025"/>
                    </a:lnTo>
                    <a:lnTo>
                      <a:pt x="85725" y="257175"/>
                    </a:lnTo>
                    <a:lnTo>
                      <a:pt x="142875" y="257175"/>
                    </a:lnTo>
                    <a:lnTo>
                      <a:pt x="142875" y="200025"/>
                    </a:lnTo>
                    <a:close/>
                    <a:moveTo>
                      <a:pt x="200025" y="85725"/>
                    </a:moveTo>
                    <a:lnTo>
                      <a:pt x="257175" y="85725"/>
                    </a:lnTo>
                    <a:lnTo>
                      <a:pt x="257175" y="142875"/>
                    </a:lnTo>
                    <a:lnTo>
                      <a:pt x="200025" y="142875"/>
                    </a:lnTo>
                    <a:lnTo>
                      <a:pt x="200025" y="85725"/>
                    </a:lnTo>
                    <a:close/>
                    <a:moveTo>
                      <a:pt x="257175" y="200025"/>
                    </a:moveTo>
                    <a:lnTo>
                      <a:pt x="200025" y="200025"/>
                    </a:lnTo>
                    <a:lnTo>
                      <a:pt x="200025" y="257175"/>
                    </a:lnTo>
                    <a:lnTo>
                      <a:pt x="257175" y="257175"/>
                    </a:lnTo>
                    <a:lnTo>
                      <a:pt x="257175" y="200025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363218" y="23469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市场背景</a:t>
                </a:r>
                <a:endParaRPr lang="zh-CN" sz="120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17044" y="265699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住房租赁市场规范化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17044" y="286654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线上化降低沟通成本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82052" y="3076099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青年群体流动增强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1047750" y="3524250"/>
                <a:ext cx="133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9525">
                    <a:moveTo>
                      <a:pt x="0" y="0"/>
                    </a:moveTo>
                    <a:lnTo>
                      <a:pt x="1333500" y="0"/>
                    </a:lnTo>
                  </a:path>
                </a:pathLst>
              </a:custGeom>
              <a:noFill/>
              <a:ln w="9525">
                <a:solidFill>
                  <a:srgbClr val="E5E7EB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494270" y="3895725"/>
                <a:ext cx="448830" cy="277380"/>
              </a:xfrm>
              <a:custGeom>
                <a:avLst/>
                <a:gdLst/>
                <a:ahLst/>
                <a:cxnLst/>
                <a:rect l="l" t="t" r="r" b="b"/>
                <a:pathLst>
                  <a:path w="448830" h="277380">
                    <a:moveTo>
                      <a:pt x="277380" y="0"/>
                    </a:moveTo>
                    <a:lnTo>
                      <a:pt x="248805" y="28575"/>
                    </a:lnTo>
                    <a:lnTo>
                      <a:pt x="314325" y="94094"/>
                    </a:lnTo>
                    <a:lnTo>
                      <a:pt x="234518" y="173901"/>
                    </a:lnTo>
                    <a:lnTo>
                      <a:pt x="148793" y="88176"/>
                    </a:lnTo>
                    <a:lnTo>
                      <a:pt x="0" y="236970"/>
                    </a:lnTo>
                    <a:lnTo>
                      <a:pt x="40411" y="277380"/>
                    </a:lnTo>
                    <a:lnTo>
                      <a:pt x="148793" y="168999"/>
                    </a:lnTo>
                    <a:lnTo>
                      <a:pt x="234518" y="254723"/>
                    </a:lnTo>
                    <a:lnTo>
                      <a:pt x="354736" y="134506"/>
                    </a:lnTo>
                    <a:lnTo>
                      <a:pt x="420255" y="200025"/>
                    </a:lnTo>
                    <a:lnTo>
                      <a:pt x="448830" y="171450"/>
                    </a:lnTo>
                    <a:lnTo>
                      <a:pt x="448830" y="0"/>
                    </a:lnTo>
                    <a:lnTo>
                      <a:pt x="277380" y="0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363218" y="44424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项目目标</a:t>
                </a:r>
                <a:endParaRPr lang="zh-CN" sz="120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17044" y="475249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为租客提供线上服务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17044" y="496204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为运营提供管理能力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572000" y="1333500"/>
              <a:ext cx="3143250" cy="1809750"/>
              <a:chOff x="4572000" y="1333500"/>
              <a:chExt cx="3143250" cy="18097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4572000" y="1333500"/>
                <a:ext cx="3143250" cy="1809750"/>
              </a:xfrm>
              <a:prstGeom prst="roundRect">
                <a:avLst>
                  <a:gd name="adj" fmla="val 6316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745355" y="1473518"/>
                <a:ext cx="60136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技术栈</a:t>
                </a:r>
                <a:endParaRPr lang="zh-CN" sz="1350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749165" y="1839278"/>
                <a:ext cx="29250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后端：Spring Boot 3 + MyBatis-Plus + JWT</a:t>
                </a:r>
                <a:endParaRPr lang="zh-CN" sz="105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749165" y="2077402"/>
                <a:ext cx="27850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前端：Vue3 + Vite + Element Plus + Vant</a:t>
                </a:r>
                <a:endParaRPr lang="zh-CN" sz="105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749165" y="2315528"/>
                <a:ext cx="165787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数据库：MySQL + Redis</a:t>
                </a:r>
                <a:endParaRPr lang="zh-CN" sz="105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749165" y="2553652"/>
                <a:ext cx="153885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存储：MinIO 对象存储</a:t>
                </a:r>
                <a:endParaRPr lang="zh-CN" sz="105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749165" y="2791778"/>
                <a:ext cx="163687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部署：Docker Compose</a:t>
                </a:r>
                <a:endParaRPr lang="zh-CN" sz="105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191500" y="1333500"/>
              <a:ext cx="3143250" cy="1809750"/>
              <a:chOff x="8191500" y="1333500"/>
              <a:chExt cx="3143250" cy="18097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8191500" y="1333500"/>
                <a:ext cx="3143250" cy="1809750"/>
              </a:xfrm>
              <a:prstGeom prst="roundRect">
                <a:avLst>
                  <a:gd name="adj" fmla="val 6316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364855" y="147351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生命周期模型</a:t>
                </a:r>
                <a:endParaRPr lang="zh-CN" sz="1350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368665" y="1839278"/>
                <a:ext cx="14058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选择：增量迭代模型</a:t>
                </a:r>
                <a:endParaRPr lang="zh-CN" sz="105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369618" y="208549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核心业务拆分为独立增量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368665" y="2315528"/>
                <a:ext cx="16858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各增量可形成可运行版本</a:t>
                </a:r>
                <a:endParaRPr lang="zh-CN" sz="105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369618" y="2561749"/>
                <a:ext cx="15849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适合前后端联调频繁的场景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369618" y="2799874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需求细节逐步明确</a:t>
                </a:r>
                <a:endParaRPr lang="zh-CN" sz="97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4572000" y="3381375"/>
              <a:ext cx="6762750" cy="1809750"/>
              <a:chOff x="4572000" y="3381375"/>
              <a:chExt cx="6762750" cy="18097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4572000" y="3381375"/>
                <a:ext cx="6762750" cy="1809750"/>
              </a:xfrm>
              <a:prstGeom prst="roundRect">
                <a:avLst>
                  <a:gd name="adj" fmla="val 6316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4785360" y="3537585"/>
                <a:ext cx="103860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核心业务模块</a:t>
                </a:r>
                <a:endParaRPr lang="zh-CN" sz="120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4800600" y="3857625"/>
                <a:ext cx="1476375" cy="1047750"/>
              </a:xfrm>
              <a:prstGeom prst="roundRect">
                <a:avLst>
                  <a:gd name="adj" fmla="val 727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5248608" y="4057174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房源管理</a:t>
                </a:r>
                <a:endParaRPr lang="zh-CN" sz="975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132999" y="4321016"/>
                <a:ext cx="80205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公寓/房间/属性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138499" y="4492466"/>
                <a:ext cx="79105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图片标签全维护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6429375" y="3857625"/>
                <a:ext cx="1476375" cy="1047750"/>
              </a:xfrm>
              <a:prstGeom prst="roundRect">
                <a:avLst>
                  <a:gd name="adj" fmla="val 727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877383" y="4057174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预约管理</a:t>
                </a:r>
                <a:endParaRPr lang="zh-CN" sz="975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682014" y="4321016"/>
                <a:ext cx="96157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看房预约/状态流转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767274" y="4492466"/>
                <a:ext cx="79105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租客与运营交互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8058150" y="3857625"/>
                <a:ext cx="1476375" cy="1047750"/>
              </a:xfrm>
              <a:prstGeom prst="roundRect">
                <a:avLst>
                  <a:gd name="adj" fmla="val 727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506158" y="4057174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租约管理</a:t>
                </a:r>
                <a:endParaRPr lang="zh-CN" sz="975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390549" y="4321016"/>
                <a:ext cx="80205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合同/租期/支付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451056" y="4492466"/>
                <a:ext cx="6810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退租状态管理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9686925" y="3857625"/>
                <a:ext cx="1476375" cy="1047750"/>
              </a:xfrm>
              <a:prstGeom prst="roundRect">
                <a:avLst>
                  <a:gd name="adj" fmla="val 727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0134933" y="4057174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后台管理</a:t>
                </a:r>
                <a:endParaRPr lang="zh-CN" sz="975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019324" y="4321016"/>
                <a:ext cx="80205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用户/权限/角色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0079831" y="4492466"/>
                <a:ext cx="6810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系统配置维护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57" name="Line 57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房屋租赁系统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 / 21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97B">
                  <a:alpha val="5000"/>
                </a:srgbClr>
              </a:gs>
              <a:gs pos="100000">
                <a:srgbClr val="00897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4" name="Rectangle 4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25830" y="554355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可行性分析</a:t>
              </a:r>
              <a:endParaRPr lang="zh-CN" sz="2100" b="1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762000" y="1333500"/>
            <a:ext cx="10668000" cy="3333750"/>
            <a:chOff x="762000" y="1333500"/>
            <a:chExt cx="10668000" cy="3333750"/>
          </a:xfrm>
        </p:grpSpPr>
        <p:grpSp>
          <p:nvGrpSpPr>
            <p:cNvPr id="21" name="Group 21"/>
            <p:cNvGrpSpPr/>
            <p:nvPr/>
          </p:nvGrpSpPr>
          <p:grpSpPr>
            <a:xfrm>
              <a:off x="762000" y="1333500"/>
              <a:ext cx="3429000" cy="3333750"/>
              <a:chOff x="762000" y="1333500"/>
              <a:chExt cx="3429000" cy="33337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762000" y="1333500"/>
                <a:ext cx="3429000" cy="3333750"/>
              </a:xfrm>
              <a:prstGeom prst="roundRect">
                <a:avLst>
                  <a:gd name="adj" fmla="val 3429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762000" y="1333500"/>
                <a:ext cx="3429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762000" y="1714500"/>
                <a:ext cx="3429000" cy="381000"/>
              </a:xfrm>
              <a:prstGeom prst="rect">
                <a:avLst/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276475" y="1504950"/>
                <a:ext cx="40005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457200">
                    <a:moveTo>
                      <a:pt x="200025" y="457200"/>
                    </a:moveTo>
                    <a:lnTo>
                      <a:pt x="95729" y="382702"/>
                    </a:lnTo>
                    <a:cubicBezTo>
                      <a:pt x="35654" y="339791"/>
                      <a:pt x="0" y="270510"/>
                      <a:pt x="0" y="196683"/>
                    </a:cubicBezTo>
                    <a:lnTo>
                      <a:pt x="0" y="85725"/>
                    </a:lnTo>
                    <a:lnTo>
                      <a:pt x="200025" y="0"/>
                    </a:lnTo>
                    <a:lnTo>
                      <a:pt x="400050" y="85725"/>
                    </a:lnTo>
                    <a:lnTo>
                      <a:pt x="400050" y="196683"/>
                    </a:lnTo>
                    <a:cubicBezTo>
                      <a:pt x="400050" y="270510"/>
                      <a:pt x="364397" y="339791"/>
                      <a:pt x="304321" y="382702"/>
                    </a:cubicBezTo>
                    <a:lnTo>
                      <a:pt x="200025" y="457200"/>
                    </a:lnTo>
                    <a:close/>
                    <a:moveTo>
                      <a:pt x="320243" y="163081"/>
                    </a:moveTo>
                    <a:lnTo>
                      <a:pt x="279832" y="122669"/>
                    </a:lnTo>
                    <a:lnTo>
                      <a:pt x="171450" y="231051"/>
                    </a:lnTo>
                    <a:lnTo>
                      <a:pt x="120218" y="179819"/>
                    </a:lnTo>
                    <a:lnTo>
                      <a:pt x="79807" y="220231"/>
                    </a:lnTo>
                    <a:lnTo>
                      <a:pt x="171450" y="311873"/>
                    </a:lnTo>
                    <a:lnTo>
                      <a:pt x="320243" y="16308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932384" y="212407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技术可行性</a:t>
                </a:r>
                <a:endParaRPr lang="zh-CN" sz="1500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35368" y="2561749"/>
                <a:ext cx="256658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后端：Spring Boot 3、MyBatis-Plus、JWT</a:t>
                </a:r>
                <a:endParaRPr lang="zh-CN" sz="97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35368" y="2799874"/>
                <a:ext cx="241706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前端：Vue3、Vite、Element Plus、Vant</a:t>
                </a:r>
                <a:endParaRPr lang="zh-CN" sz="97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35368" y="3037999"/>
                <a:ext cx="140943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数据库：MySQL、Redis</a:t>
                </a:r>
                <a:endParaRPr lang="zh-CN" sz="97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35368" y="3276124"/>
                <a:ext cx="131842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存储：MinIO 对象存储</a:t>
                </a:r>
                <a:endParaRPr lang="zh-CN" sz="97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36320" y="3569970"/>
                <a:ext cx="14630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均为成熟技术栈，社区活跃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36320" y="3760470"/>
                <a:ext cx="145703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Docker Compose 统一部署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1035685" y="4364990"/>
                <a:ext cx="28575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2326965" y="4452779"/>
                <a:ext cx="297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2E7D3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可行</a:t>
                </a:r>
                <a:endParaRPr lang="zh-CN" sz="975" b="1" dirty="0">
                  <a:solidFill>
                    <a:srgbClr val="2E7D3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4381500" y="1333500"/>
              <a:ext cx="3429000" cy="3333750"/>
              <a:chOff x="4381500" y="1333500"/>
              <a:chExt cx="3429000" cy="3333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4381500" y="1333500"/>
                <a:ext cx="3429000" cy="3333750"/>
              </a:xfrm>
              <a:prstGeom prst="roundRect">
                <a:avLst>
                  <a:gd name="adj" fmla="val 3429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4381500" y="1333500"/>
                <a:ext cx="3429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4381500" y="1714500"/>
                <a:ext cx="3429000" cy="381000"/>
              </a:xfrm>
              <a:prstGeom prst="rect">
                <a:avLst/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924550" y="1504950"/>
                <a:ext cx="3429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457200">
                    <a:moveTo>
                      <a:pt x="120474" y="428625"/>
                    </a:moveTo>
                    <a:lnTo>
                      <a:pt x="117299" y="457200"/>
                    </a:lnTo>
                    <a:lnTo>
                      <a:pt x="174801" y="457200"/>
                    </a:lnTo>
                    <a:lnTo>
                      <a:pt x="177976" y="428625"/>
                    </a:lnTo>
                    <a:lnTo>
                      <a:pt x="228686" y="428625"/>
                    </a:lnTo>
                    <a:cubicBezTo>
                      <a:pt x="291765" y="428625"/>
                      <a:pt x="342900" y="377490"/>
                      <a:pt x="342900" y="314411"/>
                    </a:cubicBezTo>
                    <a:cubicBezTo>
                      <a:pt x="342900" y="260879"/>
                      <a:pt x="305721" y="214530"/>
                      <a:pt x="253463" y="202917"/>
                    </a:cubicBezTo>
                    <a:lnTo>
                      <a:pt x="204269" y="191985"/>
                    </a:lnTo>
                    <a:lnTo>
                      <a:pt x="212901" y="114300"/>
                    </a:lnTo>
                    <a:lnTo>
                      <a:pt x="314325" y="114300"/>
                    </a:lnTo>
                    <a:lnTo>
                      <a:pt x="314325" y="28575"/>
                    </a:lnTo>
                    <a:lnTo>
                      <a:pt x="222426" y="28575"/>
                    </a:lnTo>
                    <a:lnTo>
                      <a:pt x="225601" y="0"/>
                    </a:lnTo>
                    <a:lnTo>
                      <a:pt x="168099" y="0"/>
                    </a:lnTo>
                    <a:lnTo>
                      <a:pt x="164924" y="28575"/>
                    </a:lnTo>
                    <a:lnTo>
                      <a:pt x="114214" y="28575"/>
                    </a:lnTo>
                    <a:cubicBezTo>
                      <a:pt x="51135" y="28575"/>
                      <a:pt x="0" y="79710"/>
                      <a:pt x="0" y="142789"/>
                    </a:cubicBezTo>
                    <a:cubicBezTo>
                      <a:pt x="0" y="196321"/>
                      <a:pt x="37180" y="242670"/>
                      <a:pt x="89437" y="254283"/>
                    </a:cubicBezTo>
                    <a:lnTo>
                      <a:pt x="138631" y="265215"/>
                    </a:lnTo>
                    <a:lnTo>
                      <a:pt x="129999" y="342900"/>
                    </a:lnTo>
                    <a:lnTo>
                      <a:pt x="28575" y="342900"/>
                    </a:lnTo>
                    <a:lnTo>
                      <a:pt x="28575" y="428625"/>
                    </a:lnTo>
                    <a:lnTo>
                      <a:pt x="120474" y="428625"/>
                    </a:lnTo>
                    <a:close/>
                    <a:moveTo>
                      <a:pt x="187501" y="342900"/>
                    </a:moveTo>
                    <a:lnTo>
                      <a:pt x="228686" y="342900"/>
                    </a:lnTo>
                    <a:cubicBezTo>
                      <a:pt x="244419" y="342900"/>
                      <a:pt x="257175" y="330144"/>
                      <a:pt x="257175" y="314411"/>
                    </a:cubicBezTo>
                    <a:cubicBezTo>
                      <a:pt x="257175" y="301058"/>
                      <a:pt x="247900" y="289496"/>
                      <a:pt x="234866" y="286602"/>
                    </a:cubicBezTo>
                    <a:lnTo>
                      <a:pt x="194747" y="277685"/>
                    </a:lnTo>
                    <a:lnTo>
                      <a:pt x="187501" y="342900"/>
                    </a:lnTo>
                    <a:close/>
                    <a:moveTo>
                      <a:pt x="148153" y="179515"/>
                    </a:moveTo>
                    <a:lnTo>
                      <a:pt x="155399" y="114300"/>
                    </a:lnTo>
                    <a:lnTo>
                      <a:pt x="114214" y="114300"/>
                    </a:lnTo>
                    <a:cubicBezTo>
                      <a:pt x="98480" y="114300"/>
                      <a:pt x="85725" y="127055"/>
                      <a:pt x="85725" y="142789"/>
                    </a:cubicBezTo>
                    <a:cubicBezTo>
                      <a:pt x="85725" y="156142"/>
                      <a:pt x="94999" y="167703"/>
                      <a:pt x="108034" y="170599"/>
                    </a:cubicBezTo>
                    <a:lnTo>
                      <a:pt x="148153" y="1795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236845" y="2124075"/>
                <a:ext cx="171831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经济与进度可行性</a:t>
                </a:r>
                <a:endParaRPr lang="zh-CN" sz="1500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654868" y="2561749"/>
                <a:ext cx="16954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开源技术栈，零许可证成本</a:t>
                </a:r>
                <a:endParaRPr lang="zh-CN" sz="97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654868" y="2799874"/>
                <a:ext cx="9153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两人分工推进</a:t>
                </a:r>
                <a:endParaRPr lang="zh-CN" sz="97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654868" y="3037999"/>
                <a:ext cx="10973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14 周完成全流程</a:t>
                </a:r>
                <a:endParaRPr lang="zh-CN" sz="97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655820" y="3331845"/>
                <a:ext cx="17810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戴晨威：后端/数据库/部署/测试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655820" y="3522345"/>
                <a:ext cx="140303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黄裔：前端/UI/需求/汇报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655820" y="3808095"/>
                <a:ext cx="19431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两人共同参与需求分析、系统设计、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655820" y="3998595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联调测试和答辩准备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4667250" y="4364990"/>
                <a:ext cx="28575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5924240" y="4452779"/>
                <a:ext cx="297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2E7D3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可行</a:t>
                </a:r>
                <a:endParaRPr lang="zh-CN" sz="975" b="1" dirty="0">
                  <a:solidFill>
                    <a:srgbClr val="2E7D3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8001000" y="1333500"/>
              <a:ext cx="3429000" cy="3333750"/>
              <a:chOff x="8001000" y="1333500"/>
              <a:chExt cx="3429000" cy="33337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8001000" y="1333500"/>
                <a:ext cx="3429000" cy="3333750"/>
              </a:xfrm>
              <a:prstGeom prst="roundRect">
                <a:avLst>
                  <a:gd name="adj" fmla="val 3429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8001000" y="1333500"/>
                <a:ext cx="3429000" cy="762000"/>
              </a:xfrm>
              <a:prstGeom prst="roundRect">
                <a:avLst>
                  <a:gd name="adj" fmla="val 15000"/>
                </a:avLst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8001000" y="1714500"/>
                <a:ext cx="3429000" cy="381000"/>
              </a:xfrm>
              <a:prstGeom prst="rect">
                <a:avLst/>
              </a:prstGeom>
              <a:solidFill>
                <a:srgbClr val="00897B"/>
              </a:solidFill>
              <a:ln>
                <a:noFill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9515475" y="1533525"/>
                <a:ext cx="400050" cy="400050"/>
                <a:chOff x="9515475" y="1533525"/>
                <a:chExt cx="400050" cy="400050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9515475" y="15335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57150" y="0"/>
                      </a:moveTo>
                      <a:lnTo>
                        <a:pt x="0" y="0"/>
                      </a:lnTo>
                      <a:lnTo>
                        <a:pt x="0" y="57150"/>
                      </a:lnTo>
                      <a:lnTo>
                        <a:pt x="57150" y="57150"/>
                      </a:lnTo>
                      <a:lnTo>
                        <a:pt x="5715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9515475" y="16478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57150" y="0"/>
                      </a:moveTo>
                      <a:lnTo>
                        <a:pt x="0" y="0"/>
                      </a:lnTo>
                      <a:lnTo>
                        <a:pt x="0" y="57150"/>
                      </a:lnTo>
                      <a:lnTo>
                        <a:pt x="57150" y="57150"/>
                      </a:lnTo>
                      <a:lnTo>
                        <a:pt x="5715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9515475" y="17621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0"/>
                      </a:moveTo>
                      <a:lnTo>
                        <a:pt x="57150" y="0"/>
                      </a:lnTo>
                      <a:lnTo>
                        <a:pt x="57150" y="57150"/>
                      </a:lnTo>
                      <a:lnTo>
                        <a:pt x="0" y="5715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9515475" y="18764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57150" y="0"/>
                      </a:moveTo>
                      <a:lnTo>
                        <a:pt x="0" y="0"/>
                      </a:lnTo>
                      <a:lnTo>
                        <a:pt x="0" y="57150"/>
                      </a:lnTo>
                      <a:lnTo>
                        <a:pt x="57150" y="57150"/>
                      </a:lnTo>
                      <a:lnTo>
                        <a:pt x="5715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9629775" y="1533525"/>
                  <a:ext cx="2857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57150">
                      <a:moveTo>
                        <a:pt x="285750" y="0"/>
                      </a:moveTo>
                      <a:lnTo>
                        <a:pt x="0" y="0"/>
                      </a:lnTo>
                      <a:lnTo>
                        <a:pt x="0" y="57150"/>
                      </a:lnTo>
                      <a:lnTo>
                        <a:pt x="285750" y="57150"/>
                      </a:lnTo>
                      <a:lnTo>
                        <a:pt x="28575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9629775" y="1647825"/>
                  <a:ext cx="2857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57150">
                      <a:moveTo>
                        <a:pt x="285750" y="0"/>
                      </a:moveTo>
                      <a:lnTo>
                        <a:pt x="0" y="0"/>
                      </a:lnTo>
                      <a:lnTo>
                        <a:pt x="0" y="57150"/>
                      </a:lnTo>
                      <a:lnTo>
                        <a:pt x="285750" y="57150"/>
                      </a:lnTo>
                      <a:lnTo>
                        <a:pt x="28575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9629775" y="1762125"/>
                  <a:ext cx="2857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57150">
                      <a:moveTo>
                        <a:pt x="0" y="0"/>
                      </a:moveTo>
                      <a:lnTo>
                        <a:pt x="285750" y="0"/>
                      </a:lnTo>
                      <a:lnTo>
                        <a:pt x="285750" y="57150"/>
                      </a:lnTo>
                      <a:lnTo>
                        <a:pt x="0" y="5715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9629775" y="1876425"/>
                  <a:ext cx="2857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57150">
                      <a:moveTo>
                        <a:pt x="285750" y="0"/>
                      </a:moveTo>
                      <a:lnTo>
                        <a:pt x="0" y="0"/>
                      </a:lnTo>
                      <a:lnTo>
                        <a:pt x="0" y="57150"/>
                      </a:lnTo>
                      <a:lnTo>
                        <a:pt x="285750" y="57150"/>
                      </a:lnTo>
                      <a:lnTo>
                        <a:pt x="28575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8961358" y="2124075"/>
                <a:ext cx="150828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风险分析与应对</a:t>
                </a:r>
                <a:endParaRPr lang="zh-CN" sz="1500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275320" y="2569845"/>
                <a:ext cx="65293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D32F2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接口不一致</a:t>
                </a:r>
                <a:endParaRPr lang="zh-CN" sz="900" b="1" dirty="0">
                  <a:solidFill>
                    <a:srgbClr val="D32F2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276272" y="2768441"/>
                <a:ext cx="189118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对策：提前定义接口文档，统一错误码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275320" y="3046095"/>
                <a:ext cx="90497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D32F2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数据库字段偏差</a:t>
                </a:r>
                <a:endParaRPr lang="zh-CN" sz="900" b="1" dirty="0">
                  <a:solidFill>
                    <a:srgbClr val="D32F2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276272" y="3244691"/>
                <a:ext cx="189118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对策：以表结构和枚举为准，编写测试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75320" y="3522345"/>
                <a:ext cx="7789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D32F2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图片上传失败</a:t>
                </a:r>
                <a:endParaRPr lang="zh-CN" sz="900" b="1" dirty="0">
                  <a:solidFill>
                    <a:srgbClr val="D32F2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276272" y="3720941"/>
                <a:ext cx="184168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对策：MinIO 统一存储，验证 bucket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275320" y="3998595"/>
                <a:ext cx="7789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D32F2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成员职责不清</a:t>
                </a:r>
                <a:endParaRPr lang="zh-CN" sz="900" b="1" dirty="0">
                  <a:solidFill>
                    <a:srgbClr val="D32F2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276272" y="4197191"/>
                <a:ext cx="178117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对策：甘特图明确负责人和验收标准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8275320" y="4364990"/>
                <a:ext cx="28575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FF3E0"/>
              </a:solidFill>
              <a:ln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9565965" y="4452779"/>
                <a:ext cx="297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E6510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可控</a:t>
                </a:r>
                <a:endParaRPr lang="zh-CN" sz="975" b="1" dirty="0">
                  <a:solidFill>
                    <a:srgbClr val="E651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62" name="Line 62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房屋租赁系统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04 / 21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5830" y="554355"/>
              <a:ext cx="18175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需求分析总览</a:t>
              </a:r>
              <a:endParaRPr lang="zh-CN" sz="2100" b="1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746760" y="1299210"/>
            <a:ext cx="10683240" cy="4082415"/>
            <a:chOff x="746760" y="1299210"/>
            <a:chExt cx="10683240" cy="4082415"/>
          </a:xfrm>
        </p:grpSpPr>
        <p:grpSp>
          <p:nvGrpSpPr>
            <p:cNvPr id="31" name="Group 31"/>
            <p:cNvGrpSpPr/>
            <p:nvPr/>
          </p:nvGrpSpPr>
          <p:grpSpPr>
            <a:xfrm>
              <a:off x="746760" y="1299210"/>
              <a:ext cx="3253740" cy="3415665"/>
              <a:chOff x="746760" y="1299210"/>
              <a:chExt cx="3253740" cy="3415665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746760" y="12992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用户角色</a:t>
                </a:r>
                <a:endParaRPr lang="zh-CN" sz="1200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" name="Rectangle 8"/>
              <p:cNvSpPr/>
              <p:nvPr/>
            </p:nvSpPr>
            <p:spPr>
              <a:xfrm>
                <a:off x="762000" y="1571625"/>
                <a:ext cx="32385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952500" y="1733550"/>
                <a:ext cx="304800" cy="266700"/>
                <a:chOff x="952500" y="1733550"/>
                <a:chExt cx="304800" cy="266700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1009650" y="1733550"/>
                  <a:ext cx="952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95250">
                      <a:moveTo>
                        <a:pt x="95250" y="47625"/>
                      </a:moveTo>
                      <a:cubicBezTo>
                        <a:pt x="95250" y="73928"/>
                        <a:pt x="73928" y="95250"/>
                        <a:pt x="47625" y="95250"/>
                      </a:cubicBezTo>
                      <a:cubicBezTo>
                        <a:pt x="21322" y="95250"/>
                        <a:pt x="0" y="73928"/>
                        <a:pt x="0" y="47625"/>
                      </a:cubicBezTo>
                      <a:cubicBezTo>
                        <a:pt x="0" y="21322"/>
                        <a:pt x="21322" y="0"/>
                        <a:pt x="47625" y="0"/>
                      </a:cubicBezTo>
                      <a:cubicBezTo>
                        <a:pt x="73928" y="0"/>
                        <a:pt x="95250" y="21322"/>
                        <a:pt x="95250" y="47625"/>
                      </a:cubicBez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952500" y="1866900"/>
                  <a:ext cx="15240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33350">
                      <a:moveTo>
                        <a:pt x="57150" y="0"/>
                      </a:moveTo>
                      <a:cubicBezTo>
                        <a:pt x="25587" y="0"/>
                        <a:pt x="0" y="25587"/>
                        <a:pt x="0" y="57150"/>
                      </a:cubicBezTo>
                      <a:lnTo>
                        <a:pt x="0" y="133350"/>
                      </a:lnTo>
                      <a:lnTo>
                        <a:pt x="152400" y="133350"/>
                      </a:lnTo>
                      <a:lnTo>
                        <a:pt x="152400" y="0"/>
                      </a:lnTo>
                      <a:lnTo>
                        <a:pt x="57150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143000" y="1866900"/>
                  <a:ext cx="11430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33350">
                      <a:moveTo>
                        <a:pt x="57150" y="0"/>
                      </a:moveTo>
                      <a:lnTo>
                        <a:pt x="0" y="0"/>
                      </a:lnTo>
                      <a:lnTo>
                        <a:pt x="0" y="133350"/>
                      </a:lnTo>
                      <a:lnTo>
                        <a:pt x="114300" y="133350"/>
                      </a:lnTo>
                      <a:lnTo>
                        <a:pt x="114300" y="57150"/>
                      </a:lnTo>
                      <a:cubicBezTo>
                        <a:pt x="114300" y="25587"/>
                        <a:pt x="88714" y="0"/>
                        <a:pt x="57150" y="0"/>
                      </a:cubicBez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143000" y="17526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38100" y="76200"/>
                      </a:moveTo>
                      <a:cubicBezTo>
                        <a:pt x="59143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3" y="0"/>
                        <a:pt x="38100" y="0"/>
                      </a:cubicBezTo>
                      <a:cubicBezTo>
                        <a:pt x="17057" y="0"/>
                        <a:pt x="0" y="17058"/>
                        <a:pt x="0" y="38100"/>
                      </a:cubicBezTo>
                      <a:cubicBezTo>
                        <a:pt x="0" y="59142"/>
                        <a:pt x="17057" y="76200"/>
                        <a:pt x="38100" y="76200"/>
                      </a:cubicBez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365885" y="1727835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租客</a:t>
                </a:r>
                <a:endParaRPr lang="zh-CN" sz="120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41070" y="1998345"/>
                <a:ext cx="15830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核心目标：快速找到合适房源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41070" y="2188845"/>
                <a:ext cx="17810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主要功能：找房/筛选/预约/租约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41070" y="2379345"/>
                <a:ext cx="104898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个人中心/浏览历史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762000" y="2714625"/>
                <a:ext cx="32385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990600" y="2895600"/>
                <a:ext cx="228600" cy="266700"/>
                <a:chOff x="990600" y="2895600"/>
                <a:chExt cx="228600" cy="266700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1047750" y="2895600"/>
                  <a:ext cx="1143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14300">
                      <a:moveTo>
                        <a:pt x="57150" y="114300"/>
                      </a:moveTo>
                      <a:cubicBezTo>
                        <a:pt x="88713" y="114300"/>
                        <a:pt x="114300" y="88713"/>
                        <a:pt x="114300" y="57150"/>
                      </a:cubicBezTo>
                      <a:cubicBezTo>
                        <a:pt x="114300" y="25587"/>
                        <a:pt x="88713" y="0"/>
                        <a:pt x="57150" y="0"/>
                      </a:cubicBezTo>
                      <a:cubicBezTo>
                        <a:pt x="25587" y="0"/>
                        <a:pt x="0" y="25587"/>
                        <a:pt x="0" y="57150"/>
                      </a:cubicBezTo>
                      <a:cubicBezTo>
                        <a:pt x="0" y="88713"/>
                        <a:pt x="25587" y="114300"/>
                        <a:pt x="57150" y="114300"/>
                      </a:cubicBez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990600" y="3048000"/>
                  <a:ext cx="22860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14300">
                      <a:moveTo>
                        <a:pt x="228600" y="57150"/>
                      </a:moveTo>
                      <a:cubicBezTo>
                        <a:pt x="228600" y="25586"/>
                        <a:pt x="203014" y="0"/>
                        <a:pt x="171450" y="0"/>
                      </a:cubicBezTo>
                      <a:lnTo>
                        <a:pt x="57150" y="0"/>
                      </a:lnTo>
                      <a:cubicBezTo>
                        <a:pt x="25587" y="0"/>
                        <a:pt x="0" y="25586"/>
                        <a:pt x="0" y="57150"/>
                      </a:cubicBezTo>
                      <a:lnTo>
                        <a:pt x="0" y="114300"/>
                      </a:lnTo>
                      <a:lnTo>
                        <a:pt x="228600" y="114300"/>
                      </a:lnTo>
                      <a:lnTo>
                        <a:pt x="228600" y="5715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1365885" y="2870835"/>
                <a:ext cx="8705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运营管理员</a:t>
                </a:r>
                <a:endParaRPr lang="zh-CN" sz="120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41070" y="3141345"/>
                <a:ext cx="19431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核心目标：维护房源并处理租赁业务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41070" y="3331845"/>
                <a:ext cx="14210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公寓/房间/预约/租约管理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41070" y="3522345"/>
                <a:ext cx="104898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用户管理/图片上传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762000" y="3857625"/>
                <a:ext cx="3238500" cy="857250"/>
              </a:xfrm>
              <a:prstGeom prst="roundRect">
                <a:avLst>
                  <a:gd name="adj" fmla="val 8889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90600" y="4019550"/>
                <a:ext cx="2286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304800">
                    <a:moveTo>
                      <a:pt x="38100" y="114300"/>
                    </a:moveTo>
                    <a:lnTo>
                      <a:pt x="38100" y="76200"/>
                    </a:lnTo>
                    <a:cubicBezTo>
                      <a:pt x="38100" y="34116"/>
                      <a:pt x="72216" y="0"/>
                      <a:pt x="114300" y="0"/>
                    </a:cubicBezTo>
                    <a:cubicBezTo>
                      <a:pt x="156383" y="0"/>
                      <a:pt x="190500" y="34116"/>
                      <a:pt x="190500" y="76200"/>
                    </a:cubicBezTo>
                    <a:lnTo>
                      <a:pt x="190500" y="114300"/>
                    </a:lnTo>
                    <a:lnTo>
                      <a:pt x="228600" y="114300"/>
                    </a:lnTo>
                    <a:lnTo>
                      <a:pt x="228600" y="304800"/>
                    </a:lnTo>
                    <a:lnTo>
                      <a:pt x="0" y="304800"/>
                    </a:lnTo>
                    <a:lnTo>
                      <a:pt x="0" y="114300"/>
                    </a:lnTo>
                    <a:lnTo>
                      <a:pt x="38100" y="114300"/>
                    </a:lnTo>
                    <a:close/>
                    <a:moveTo>
                      <a:pt x="76200" y="76200"/>
                    </a:moveTo>
                    <a:cubicBezTo>
                      <a:pt x="76200" y="55158"/>
                      <a:pt x="93258" y="38100"/>
                      <a:pt x="114300" y="38100"/>
                    </a:cubicBezTo>
                    <a:cubicBezTo>
                      <a:pt x="135342" y="38100"/>
                      <a:pt x="152400" y="55158"/>
                      <a:pt x="152400" y="76200"/>
                    </a:cubicBezTo>
                    <a:lnTo>
                      <a:pt x="152400" y="114300"/>
                    </a:lnTo>
                    <a:lnTo>
                      <a:pt x="76200" y="114300"/>
                    </a:lnTo>
                    <a:lnTo>
                      <a:pt x="76200" y="76200"/>
                    </a:lnTo>
                    <a:close/>
                    <a:moveTo>
                      <a:pt x="95250" y="247650"/>
                    </a:moveTo>
                    <a:lnTo>
                      <a:pt x="95250" y="171450"/>
                    </a:lnTo>
                    <a:lnTo>
                      <a:pt x="133350" y="171450"/>
                    </a:lnTo>
                    <a:lnTo>
                      <a:pt x="133350" y="247650"/>
                    </a:lnTo>
                    <a:lnTo>
                      <a:pt x="95250" y="247650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365885" y="4013835"/>
                <a:ext cx="8705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系统管理员</a:t>
                </a:r>
                <a:endParaRPr lang="zh-CN" sz="120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41070" y="4284345"/>
                <a:ext cx="16610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用户/岗位/菜单/角色权限配置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41070" y="4474845"/>
                <a:ext cx="5029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状态管理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4461510" y="1299210"/>
              <a:ext cx="6968490" cy="4082415"/>
              <a:chOff x="4461510" y="1299210"/>
              <a:chExt cx="6968490" cy="4082415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4461510" y="1299210"/>
                <a:ext cx="91259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顶层 DFD 图</a:t>
                </a:r>
                <a:endParaRPr lang="zh-CN" sz="1200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4476750" y="1571625"/>
                <a:ext cx="6953250" cy="3810000"/>
              </a:xfrm>
              <a:prstGeom prst="roundRect">
                <a:avLst>
                  <a:gd name="adj" fmla="val 3000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pic>
            <p:nvPicPr>
              <p:cNvPr id="34" name="Image 34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5211039" y="1762125"/>
                <a:ext cx="5484673" cy="3429000"/>
              </a:xfrm>
              <a:prstGeom prst="rect">
                <a:avLst/>
              </a:prstGeom>
            </p:spPr>
          </p:pic>
          <p:sp>
            <p:nvSpPr>
              <p:cNvPr id="35" name="TextBox 35"/>
              <p:cNvSpPr txBox="1"/>
              <p:nvPr/>
            </p:nvSpPr>
            <p:spPr>
              <a:xfrm>
                <a:off x="6917019" y="5168741"/>
                <a:ext cx="207271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9CA3A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图 3-1 顶层 DFD 图 — 系统与外部实体交互</a:t>
                </a:r>
                <a:endParaRPr lang="zh-CN" sz="825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38" name="Line 38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房屋租赁系统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05 / 21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5830" y="554355"/>
              <a:ext cx="211159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结构化需求分析</a:t>
              </a:r>
              <a:endParaRPr lang="zh-CN" sz="2100" b="1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747712" y="1240631"/>
            <a:ext cx="10682288" cy="4998244"/>
            <a:chOff x="747712" y="1240631"/>
            <a:chExt cx="10682288" cy="4998244"/>
          </a:xfrm>
        </p:grpSpPr>
        <p:grpSp>
          <p:nvGrpSpPr>
            <p:cNvPr id="10" name="Group 10"/>
            <p:cNvGrpSpPr/>
            <p:nvPr/>
          </p:nvGrpSpPr>
          <p:grpSpPr>
            <a:xfrm>
              <a:off x="747712" y="1240631"/>
              <a:ext cx="5157788" cy="2426494"/>
              <a:chOff x="747712" y="1240631"/>
              <a:chExt cx="5157788" cy="2426494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747712" y="1240631"/>
                <a:ext cx="159589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 层 DFD — 五大子过程</a:t>
                </a:r>
                <a:endParaRPr lang="zh-CN" sz="1125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" name="Rectangle 8"/>
              <p:cNvSpPr/>
              <p:nvPr/>
            </p:nvSpPr>
            <p:spPr>
              <a:xfrm>
                <a:off x="762000" y="1476375"/>
                <a:ext cx="5143500" cy="2190750"/>
              </a:xfrm>
              <a:prstGeom prst="roundRect">
                <a:avLst>
                  <a:gd name="adj" fmla="val 4348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pic>
            <p:nvPicPr>
              <p:cNvPr id="9" name="Image 9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764524" y="1590675"/>
                <a:ext cx="3138452" cy="1962150"/>
              </a:xfrm>
              <a:prstGeom prst="rect">
                <a:avLst/>
              </a:prstGeom>
            </p:spPr>
          </p:pic>
        </p:grpSp>
        <p:grpSp>
          <p:nvGrpSpPr>
            <p:cNvPr id="18" name="Group 18"/>
            <p:cNvGrpSpPr/>
            <p:nvPr/>
          </p:nvGrpSpPr>
          <p:grpSpPr>
            <a:xfrm>
              <a:off x="6272212" y="1240631"/>
              <a:ext cx="5157788" cy="2426494"/>
              <a:chOff x="6272212" y="1240631"/>
              <a:chExt cx="5157788" cy="2426494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6272212" y="1240631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子过程说明</a:t>
                </a:r>
                <a:endParaRPr lang="zh-CN" sz="1125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6286500" y="1476375"/>
                <a:ext cx="5143500" cy="2190750"/>
              </a:xfrm>
              <a:prstGeom prst="roundRect">
                <a:avLst>
                  <a:gd name="adj" fmla="val 4348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6464618" y="1704499"/>
                <a:ext cx="16044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认证管理 — 登录注册 JWT</a:t>
                </a:r>
                <a:endParaRPr lang="zh-CN" sz="97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464618" y="1942624"/>
                <a:ext cx="15849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房源查询 — 搜索筛选详情</a:t>
                </a:r>
                <a:endParaRPr lang="zh-CN" sz="97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464618" y="2180749"/>
                <a:ext cx="165646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预约管理 — 创建/状态流转</a:t>
                </a:r>
                <a:endParaRPr lang="zh-CN" sz="97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464618" y="2418874"/>
                <a:ext cx="172797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租约管理 — 合同/租期/退租</a:t>
                </a:r>
                <a:endParaRPr lang="zh-CN" sz="97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464618" y="2656999"/>
                <a:ext cx="165646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后台运营 — 用户/权限配置</a:t>
                </a:r>
                <a:endParaRPr lang="zh-CN" sz="97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747712" y="3717131"/>
              <a:ext cx="10491788" cy="2521744"/>
              <a:chOff x="747712" y="3717131"/>
              <a:chExt cx="10491788" cy="2521744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747712" y="3717131"/>
                <a:ext cx="222597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 层 DFD — 房源查询子过程展开</a:t>
                </a:r>
                <a:endParaRPr lang="zh-CN" sz="1125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762000" y="3952875"/>
                <a:ext cx="10477500" cy="2286000"/>
              </a:xfrm>
              <a:prstGeom prst="roundRect">
                <a:avLst>
                  <a:gd name="adj" fmla="val 4167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pic>
            <p:nvPicPr>
              <p:cNvPr id="21" name="Image 2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401054" y="4095750"/>
                <a:ext cx="3199392" cy="2000250"/>
              </a:xfrm>
              <a:prstGeom prst="rect">
                <a:avLst/>
              </a:prstGeom>
            </p:spPr>
          </p:pic>
        </p:grpSp>
      </p:grpSp>
      <p:grpSp>
        <p:nvGrpSpPr>
          <p:cNvPr id="27" name="Group 27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24" name="Line 24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房屋租赁系统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06 / 21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5830" y="554355"/>
              <a:ext cx="24056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面向对象需求分析</a:t>
              </a:r>
              <a:endParaRPr lang="zh-CN" sz="2100" b="1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747712" y="1240631"/>
            <a:ext cx="10682288" cy="4760119"/>
            <a:chOff x="747712" y="1240631"/>
            <a:chExt cx="10682288" cy="4760119"/>
          </a:xfrm>
        </p:grpSpPr>
        <p:grpSp>
          <p:nvGrpSpPr>
            <p:cNvPr id="10" name="Group 10"/>
            <p:cNvGrpSpPr/>
            <p:nvPr/>
          </p:nvGrpSpPr>
          <p:grpSpPr>
            <a:xfrm>
              <a:off x="747712" y="1240631"/>
              <a:ext cx="5157788" cy="3093244"/>
              <a:chOff x="747712" y="1240631"/>
              <a:chExt cx="5157788" cy="3093244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747712" y="1240631"/>
                <a:ext cx="50113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用例图</a:t>
                </a:r>
                <a:endParaRPr lang="zh-CN" sz="1125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" name="Rectangle 8"/>
              <p:cNvSpPr/>
              <p:nvPr/>
            </p:nvSpPr>
            <p:spPr>
              <a:xfrm>
                <a:off x="762000" y="1476375"/>
                <a:ext cx="5143500" cy="2857500"/>
              </a:xfrm>
              <a:prstGeom prst="roundRect">
                <a:avLst>
                  <a:gd name="adj" fmla="val 3333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pic>
            <p:nvPicPr>
              <p:cNvPr id="9" name="Image 9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276998" y="1619250"/>
                <a:ext cx="4113504" cy="2571750"/>
              </a:xfrm>
              <a:prstGeom prst="rect">
                <a:avLst/>
              </a:prstGeom>
            </p:spPr>
          </p:pic>
        </p:grpSp>
        <p:grpSp>
          <p:nvGrpSpPr>
            <p:cNvPr id="23" name="Group 23"/>
            <p:cNvGrpSpPr/>
            <p:nvPr/>
          </p:nvGrpSpPr>
          <p:grpSpPr>
            <a:xfrm>
              <a:off x="6272212" y="1240631"/>
              <a:ext cx="5157788" cy="3093244"/>
              <a:chOff x="6272212" y="1240631"/>
              <a:chExt cx="5157788" cy="3093244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6272212" y="1240631"/>
                <a:ext cx="129660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Actor 与用例对应</a:t>
                </a:r>
                <a:endParaRPr lang="zh-CN" sz="1125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6286500" y="1476375"/>
                <a:ext cx="5143500" cy="2857500"/>
              </a:xfrm>
              <a:prstGeom prst="roundRect">
                <a:avLst>
                  <a:gd name="adj" fmla="val 3333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6477000" y="1666875"/>
                <a:ext cx="22860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262912" y="1799749"/>
                <a:ext cx="7141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租客 Actor</a:t>
                </a:r>
                <a:endParaRPr lang="zh-CN" sz="975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560820" y="2141220"/>
                <a:ext cx="1223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浏览房源 · 搜索筛选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560820" y="2331720"/>
                <a:ext cx="1223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查看详情 · 预约看房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560820" y="2522220"/>
                <a:ext cx="1223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查看租约 · 浏览历史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6477000" y="2857500"/>
                <a:ext cx="2286000" cy="381000"/>
              </a:xfrm>
              <a:prstGeom prst="roundRect">
                <a:avLst>
                  <a:gd name="adj" fmla="val 15000"/>
                </a:avLst>
              </a:prstGeom>
              <a:solidFill>
                <a:srgbClr val="E3F2FD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194653" y="2990374"/>
                <a:ext cx="85069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管理员 Actor</a:t>
                </a:r>
                <a:endParaRPr lang="zh-CN" sz="975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560820" y="3331845"/>
                <a:ext cx="1223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房源维护 · 预约处理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560820" y="3522345"/>
                <a:ext cx="1223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租约管理 · 用户管理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560820" y="3712845"/>
                <a:ext cx="1223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图片上传 · 费用管理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762000" y="4286250"/>
              <a:ext cx="10668000" cy="1714500"/>
              <a:chOff x="762000" y="4286250"/>
              <a:chExt cx="10668000" cy="17145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762000" y="4286250"/>
                <a:ext cx="10668000" cy="1714500"/>
              </a:xfrm>
              <a:prstGeom prst="roundRect">
                <a:avLst>
                  <a:gd name="adj" fmla="val 5556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pic>
            <p:nvPicPr>
              <p:cNvPr id="25" name="Image 2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953360" y="4429125"/>
                <a:ext cx="2285280" cy="1428750"/>
              </a:xfrm>
              <a:prstGeom prst="rect">
                <a:avLst/>
              </a:prstGeom>
            </p:spPr>
          </p:pic>
        </p:grpSp>
      </p:grpSp>
      <p:grpSp>
        <p:nvGrpSpPr>
          <p:cNvPr id="31" name="Group 31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28" name="Line 28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房屋租赁系统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07 / 21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97B">
                  <a:alpha val="5000"/>
                </a:srgbClr>
              </a:gs>
              <a:gs pos="100000">
                <a:srgbClr val="00897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4" name="Rectangle 4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25830" y="554355"/>
              <a:ext cx="24056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功能与非功能需求</a:t>
              </a:r>
              <a:endParaRPr lang="zh-CN" sz="2100" b="1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746760" y="1280160"/>
            <a:ext cx="10683240" cy="5101590"/>
            <a:chOff x="746760" y="1280160"/>
            <a:chExt cx="10683240" cy="5101590"/>
          </a:xfrm>
        </p:grpSpPr>
        <p:grpSp>
          <p:nvGrpSpPr>
            <p:cNvPr id="41" name="Group 41"/>
            <p:cNvGrpSpPr/>
            <p:nvPr/>
          </p:nvGrpSpPr>
          <p:grpSpPr>
            <a:xfrm>
              <a:off x="746760" y="1280160"/>
              <a:ext cx="10111740" cy="2005965"/>
              <a:chOff x="746760" y="1280160"/>
              <a:chExt cx="10111740" cy="2005965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746760" y="1280160"/>
                <a:ext cx="1761490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功能需求 — 四大核心模块</a:t>
                </a:r>
                <a:endParaRPr lang="zh-CN" sz="1200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" name="Rectangle 9"/>
              <p:cNvSpPr/>
              <p:nvPr/>
            </p:nvSpPr>
            <p:spPr>
              <a:xfrm>
                <a:off x="762000" y="1571625"/>
                <a:ext cx="2381250" cy="1714500"/>
              </a:xfrm>
              <a:prstGeom prst="roundRect">
                <a:avLst>
                  <a:gd name="adj" fmla="val 5556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62263" y="1768318"/>
                <a:ext cx="247171" cy="204070"/>
              </a:xfrm>
              <a:custGeom>
                <a:avLst/>
                <a:gdLst/>
                <a:ahLst/>
                <a:cxnLst/>
                <a:rect l="l" t="t" r="r" b="b"/>
                <a:pathLst>
                  <a:path w="247171" h="204070">
                    <a:moveTo>
                      <a:pt x="247171" y="47146"/>
                    </a:moveTo>
                    <a:lnTo>
                      <a:pt x="90248" y="204070"/>
                    </a:lnTo>
                    <a:lnTo>
                      <a:pt x="0" y="113821"/>
                    </a:lnTo>
                    <a:lnTo>
                      <a:pt x="47146" y="66675"/>
                    </a:lnTo>
                    <a:lnTo>
                      <a:pt x="90248" y="109777"/>
                    </a:lnTo>
                    <a:lnTo>
                      <a:pt x="200025" y="0"/>
                    </a:lnTo>
                    <a:lnTo>
                      <a:pt x="247171" y="47146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271588" y="18026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认证模块</a:t>
                </a:r>
                <a:endParaRPr lang="zh-CN" sz="1125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94398" y="2101691"/>
                <a:ext cx="61502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登录/注册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94398" y="2292191"/>
                <a:ext cx="57102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JWT 认证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94398" y="2482691"/>
                <a:ext cx="77454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角色权限校验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94398" y="2673191"/>
                <a:ext cx="44450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验证码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3333750" y="1571625"/>
                <a:ext cx="2381250" cy="1714500"/>
              </a:xfrm>
              <a:prstGeom prst="roundRect">
                <a:avLst>
                  <a:gd name="adj" fmla="val 5556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547777" y="1733550"/>
                <a:ext cx="233362" cy="250031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50031">
                    <a:moveTo>
                      <a:pt x="0" y="100012"/>
                    </a:moveTo>
                    <a:lnTo>
                      <a:pt x="0" y="250031"/>
                    </a:lnTo>
                    <a:lnTo>
                      <a:pt x="83344" y="250031"/>
                    </a:lnTo>
                    <a:lnTo>
                      <a:pt x="83344" y="183356"/>
                    </a:lnTo>
                    <a:cubicBezTo>
                      <a:pt x="83344" y="164944"/>
                      <a:pt x="98269" y="150019"/>
                      <a:pt x="116681" y="150019"/>
                    </a:cubicBezTo>
                    <a:cubicBezTo>
                      <a:pt x="135093" y="150019"/>
                      <a:pt x="150019" y="164944"/>
                      <a:pt x="150019" y="183356"/>
                    </a:cubicBezTo>
                    <a:lnTo>
                      <a:pt x="150019" y="250031"/>
                    </a:lnTo>
                    <a:lnTo>
                      <a:pt x="233362" y="250031"/>
                    </a:lnTo>
                    <a:lnTo>
                      <a:pt x="233362" y="100012"/>
                    </a:lnTo>
                    <a:lnTo>
                      <a:pt x="116681" y="0"/>
                    </a:lnTo>
                    <a:lnTo>
                      <a:pt x="0" y="100012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850196" y="18026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房源模块</a:t>
                </a:r>
                <a:endParaRPr lang="zh-CN" sz="1125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473006" y="2101691"/>
                <a:ext cx="89006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公寓/房间 CRUD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473006" y="2292191"/>
                <a:ext cx="55452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搜索筛选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473006" y="2482691"/>
                <a:ext cx="77454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图片标签管理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473006" y="2673191"/>
                <a:ext cx="77454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属性费用配置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5905500" y="1571625"/>
                <a:ext cx="2381250" cy="1714500"/>
              </a:xfrm>
              <a:prstGeom prst="roundRect">
                <a:avLst>
                  <a:gd name="adj" fmla="val 5556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6117241" y="1733550"/>
                <a:ext cx="233362" cy="250031"/>
                <a:chOff x="6117241" y="1733550"/>
                <a:chExt cx="233362" cy="250031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6117241" y="1733550"/>
                  <a:ext cx="233362" cy="83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362" h="83344">
                      <a:moveTo>
                        <a:pt x="83344" y="0"/>
                      </a:moveTo>
                      <a:lnTo>
                        <a:pt x="33338" y="0"/>
                      </a:lnTo>
                      <a:lnTo>
                        <a:pt x="33338" y="33338"/>
                      </a:lnTo>
                      <a:lnTo>
                        <a:pt x="0" y="33338"/>
                      </a:lnTo>
                      <a:lnTo>
                        <a:pt x="0" y="83344"/>
                      </a:lnTo>
                      <a:lnTo>
                        <a:pt x="233362" y="83344"/>
                      </a:lnTo>
                      <a:lnTo>
                        <a:pt x="233362" y="33338"/>
                      </a:lnTo>
                      <a:lnTo>
                        <a:pt x="200025" y="33338"/>
                      </a:lnTo>
                      <a:lnTo>
                        <a:pt x="200025" y="0"/>
                      </a:lnTo>
                      <a:lnTo>
                        <a:pt x="150019" y="0"/>
                      </a:lnTo>
                      <a:lnTo>
                        <a:pt x="150019" y="33338"/>
                      </a:lnTo>
                      <a:lnTo>
                        <a:pt x="83344" y="33338"/>
                      </a:lnTo>
                      <a:lnTo>
                        <a:pt x="83344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6117241" y="1850231"/>
                  <a:ext cx="233362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362" h="133350">
                      <a:moveTo>
                        <a:pt x="233362" y="0"/>
                      </a:moveTo>
                      <a:lnTo>
                        <a:pt x="0" y="0"/>
                      </a:lnTo>
                      <a:lnTo>
                        <a:pt x="0" y="133350"/>
                      </a:lnTo>
                      <a:lnTo>
                        <a:pt x="233362" y="133350"/>
                      </a:lnTo>
                      <a:lnTo>
                        <a:pt x="233362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6419660" y="18026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预约模块</a:t>
                </a:r>
                <a:endParaRPr lang="zh-CN" sz="1125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042470" y="2101691"/>
                <a:ext cx="77454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提交看房预约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042470" y="2292191"/>
                <a:ext cx="77454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预约状态流转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042470" y="2482691"/>
                <a:ext cx="77454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运营处理预约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042470" y="2673191"/>
                <a:ext cx="55452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历史记录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8477250" y="1571625"/>
                <a:ext cx="2381250" cy="1714500"/>
              </a:xfrm>
              <a:prstGeom prst="roundRect">
                <a:avLst>
                  <a:gd name="adj" fmla="val 5556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8703374" y="1733550"/>
                <a:ext cx="200025" cy="266700"/>
                <a:chOff x="8703374" y="1733550"/>
                <a:chExt cx="200025" cy="266700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8703374" y="1733550"/>
                  <a:ext cx="200025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66700">
                      <a:moveTo>
                        <a:pt x="83344" y="0"/>
                      </a:moveTo>
                      <a:lnTo>
                        <a:pt x="0" y="0"/>
                      </a:lnTo>
                      <a:lnTo>
                        <a:pt x="0" y="266700"/>
                      </a:lnTo>
                      <a:lnTo>
                        <a:pt x="200025" y="266700"/>
                      </a:lnTo>
                      <a:lnTo>
                        <a:pt x="200025" y="116681"/>
                      </a:lnTo>
                      <a:lnTo>
                        <a:pt x="83344" y="116681"/>
                      </a:lnTo>
                      <a:lnTo>
                        <a:pt x="83344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8820055" y="1733550"/>
                  <a:ext cx="83344" cy="83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344" h="83344">
                      <a:moveTo>
                        <a:pt x="0" y="0"/>
                      </a:moveTo>
                      <a:lnTo>
                        <a:pt x="0" y="83344"/>
                      </a:lnTo>
                      <a:lnTo>
                        <a:pt x="83344" y="8334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8989124" y="18026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租约模块</a:t>
                </a:r>
                <a:endParaRPr lang="zh-CN" sz="1125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611934" y="2101691"/>
                <a:ext cx="55452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租约生成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611934" y="2292191"/>
                <a:ext cx="83505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租期/费用管理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611934" y="2482691"/>
                <a:ext cx="55452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退租处理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611934" y="2673191"/>
                <a:ext cx="55452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支付方式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746760" y="3375660"/>
              <a:ext cx="5158740" cy="3006090"/>
              <a:chOff x="746760" y="3375660"/>
              <a:chExt cx="5158740" cy="3006090"/>
            </a:xfrm>
          </p:grpSpPr>
          <p:sp>
            <p:nvSpPr>
              <p:cNvPr id="42" name="TextBox 42"/>
              <p:cNvSpPr txBox="1"/>
              <p:nvPr/>
            </p:nvSpPr>
            <p:spPr>
              <a:xfrm>
                <a:off x="746760" y="3375660"/>
                <a:ext cx="8705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非功能需求</a:t>
                </a:r>
                <a:endParaRPr lang="zh-CN" sz="1200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762000" y="3619500"/>
                <a:ext cx="5143500" cy="2762250"/>
              </a:xfrm>
              <a:prstGeom prst="roundRect">
                <a:avLst>
                  <a:gd name="adj" fmla="val 3448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939165" y="3839528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性能</a:t>
                </a:r>
                <a:endParaRPr lang="zh-CN" sz="105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941070" y="4074795"/>
                <a:ext cx="194910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接口响应时间 &lt; 2s，支持 200+ 并发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939165" y="434435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安全</a:t>
                </a:r>
                <a:endParaRPr lang="zh-CN" sz="105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41070" y="4579620"/>
                <a:ext cx="196110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JWT 认证、角色权限隔离、数据脱敏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39165" y="4849178"/>
                <a:ext cx="4677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可用性</a:t>
                </a:r>
                <a:endParaRPr lang="zh-CN" sz="105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941070" y="5084445"/>
                <a:ext cx="19010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前端响应式适配（PC + 移动端 H5）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939165" y="53540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可维护性</a:t>
                </a:r>
                <a:endParaRPr lang="zh-CN" sz="105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41070" y="5589270"/>
                <a:ext cx="241115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多 Profile 环境切换、Docker Compose 部署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939165" y="5858828"/>
                <a:ext cx="4677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可靠性</a:t>
                </a:r>
                <a:endParaRPr lang="zh-CN" sz="105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941070" y="6094095"/>
                <a:ext cx="205711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数据备份机制、MinIO 对象存储持久化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6286500" y="3619500"/>
              <a:ext cx="5143500" cy="2762250"/>
              <a:chOff x="6286500" y="3619500"/>
              <a:chExt cx="5143500" cy="276225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6286500" y="3619500"/>
                <a:ext cx="5143500" cy="2762250"/>
              </a:xfrm>
              <a:prstGeom prst="roundRect">
                <a:avLst>
                  <a:gd name="adj" fmla="val 3448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6501765" y="374427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关键约束</a:t>
                </a:r>
                <a:endParaRPr lang="zh-CN" sz="105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6503670" y="4046220"/>
                <a:ext cx="19431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后端采用 Spring Boot 多模块工程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503670" y="4284345"/>
                <a:ext cx="197310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管理端 Element Plus / H5 端 Vant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503670" y="4522470"/>
                <a:ext cx="191909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MySQL 主库 + Redis 缓存/验证码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6503670" y="4760595"/>
                <a:ext cx="143903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MinIO 统一图片对象存储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6503670" y="4998720"/>
                <a:ext cx="163706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Git 分支管理 + Commit 规范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503670" y="5236845"/>
                <a:ext cx="179908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Docker Compose 固化开发环境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65" name="Line 65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房屋租赁系统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08 / 21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5830" y="5543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系统架构</a:t>
              </a:r>
              <a:endParaRPr lang="zh-CN" sz="2100" b="1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762000" y="1238250"/>
            <a:ext cx="10668000" cy="4857750"/>
            <a:chOff x="762000" y="1238250"/>
            <a:chExt cx="10668000" cy="4857750"/>
          </a:xfrm>
        </p:grpSpPr>
        <p:grpSp>
          <p:nvGrpSpPr>
            <p:cNvPr id="10" name="Group 10"/>
            <p:cNvGrpSpPr/>
            <p:nvPr/>
          </p:nvGrpSpPr>
          <p:grpSpPr>
            <a:xfrm>
              <a:off x="762000" y="1238250"/>
              <a:ext cx="6667500" cy="4857750"/>
              <a:chOff x="762000" y="1238250"/>
              <a:chExt cx="6667500" cy="48577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762000" y="1238250"/>
                <a:ext cx="6667500" cy="4857750"/>
              </a:xfrm>
              <a:prstGeom prst="roundRect">
                <a:avLst>
                  <a:gd name="adj" fmla="val 2353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pic>
            <p:nvPicPr>
              <p:cNvPr id="8" name="Image 8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810470" y="1381125"/>
                <a:ext cx="4570560" cy="2857500"/>
              </a:xfrm>
              <a:prstGeom prst="rect">
                <a:avLst/>
              </a:prstGeom>
            </p:spPr>
          </p:pic>
          <p:pic>
            <p:nvPicPr>
              <p:cNvPr id="9" name="Image 9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38846" y="4381500"/>
                <a:ext cx="2513808" cy="1571625"/>
              </a:xfrm>
              <a:prstGeom prst="rect">
                <a:avLst/>
              </a:prstGeom>
            </p:spPr>
          </p:pic>
        </p:grpSp>
        <p:grpSp>
          <p:nvGrpSpPr>
            <p:cNvPr id="26" name="Group 26"/>
            <p:cNvGrpSpPr/>
            <p:nvPr/>
          </p:nvGrpSpPr>
          <p:grpSpPr>
            <a:xfrm>
              <a:off x="7810500" y="1238250"/>
              <a:ext cx="3619500" cy="4857750"/>
              <a:chOff x="7810500" y="1238250"/>
              <a:chExt cx="3619500" cy="48577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7810500" y="1238250"/>
                <a:ext cx="3619500" cy="4857750"/>
              </a:xfrm>
              <a:prstGeom prst="roundRect">
                <a:avLst>
                  <a:gd name="adj" fmla="val 3158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985760" y="1442085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架构要点</a:t>
                </a:r>
                <a:endParaRPr lang="zh-CN" sz="1200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988618" y="1799749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后端架构</a:t>
                </a:r>
                <a:endParaRPr lang="zh-CN" sz="975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989570" y="2017395"/>
                <a:ext cx="118700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Spring Boot 多模块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989570" y="2207895"/>
                <a:ext cx="175707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web-admin / web-app 双接口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989570" y="2398395"/>
                <a:ext cx="139703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MyBatis-Plus + MySQL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988618" y="2676049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前端架构</a:t>
                </a:r>
                <a:endParaRPr lang="zh-CN" sz="975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989570" y="2893695"/>
                <a:ext cx="76095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Vue3 + Vite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989570" y="3084195"/>
                <a:ext cx="124701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管理端 Element Plus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989570" y="3274695"/>
                <a:ext cx="95297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租客端 Vant H5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988618" y="3552349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基础设施</a:t>
                </a:r>
                <a:endParaRPr lang="zh-CN" sz="975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989570" y="3769995"/>
                <a:ext cx="77895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MySQL 主库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989570" y="3960495"/>
                <a:ext cx="112699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Redis 缓存/验证码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989570" y="4150995"/>
                <a:ext cx="95897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MinIO 对象存储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989570" y="4341495"/>
                <a:ext cx="104298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Docker Compose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28" name="Line 28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房屋租赁系统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09 / 21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5830" y="5543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功能结构</a:t>
              </a:r>
              <a:endParaRPr lang="zh-CN" sz="2100" b="1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762000" y="1238250"/>
            <a:ext cx="10668000" cy="4857750"/>
            <a:chOff x="762000" y="1238250"/>
            <a:chExt cx="10668000" cy="4857750"/>
          </a:xfrm>
        </p:grpSpPr>
        <p:grpSp>
          <p:nvGrpSpPr>
            <p:cNvPr id="9" name="Group 9"/>
            <p:cNvGrpSpPr/>
            <p:nvPr/>
          </p:nvGrpSpPr>
          <p:grpSpPr>
            <a:xfrm>
              <a:off x="762000" y="1238250"/>
              <a:ext cx="7239000" cy="4857750"/>
              <a:chOff x="762000" y="1238250"/>
              <a:chExt cx="7239000" cy="48577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762000" y="1238250"/>
                <a:ext cx="7239000" cy="4857750"/>
              </a:xfrm>
              <a:prstGeom prst="roundRect">
                <a:avLst>
                  <a:gd name="adj" fmla="val 2353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pic>
            <p:nvPicPr>
              <p:cNvPr id="8" name="Image 8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04875" y="1493550"/>
                <a:ext cx="6953250" cy="4347150"/>
              </a:xfrm>
              <a:prstGeom prst="rect">
                <a:avLst/>
              </a:prstGeom>
            </p:spPr>
          </p:pic>
        </p:grpSp>
        <p:grpSp>
          <p:nvGrpSpPr>
            <p:cNvPr id="32" name="Group 32"/>
            <p:cNvGrpSpPr/>
            <p:nvPr/>
          </p:nvGrpSpPr>
          <p:grpSpPr>
            <a:xfrm>
              <a:off x="8191500" y="1238250"/>
              <a:ext cx="3238500" cy="4857750"/>
              <a:chOff x="8191500" y="1238250"/>
              <a:chExt cx="3238500" cy="48577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8191500" y="1238250"/>
                <a:ext cx="3238500" cy="4857750"/>
              </a:xfrm>
              <a:prstGeom prst="roundRect">
                <a:avLst>
                  <a:gd name="adj" fmla="val 3529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8366760" y="1442085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模块划分</a:t>
                </a:r>
                <a:endParaRPr lang="zh-CN" sz="1200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8398669" y="1826419"/>
                <a:ext cx="233362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33362">
                    <a:moveTo>
                      <a:pt x="100012" y="0"/>
                    </a:moveTo>
                    <a:lnTo>
                      <a:pt x="0" y="0"/>
                    </a:lnTo>
                    <a:lnTo>
                      <a:pt x="0" y="100012"/>
                    </a:lnTo>
                    <a:lnTo>
                      <a:pt x="100012" y="100012"/>
                    </a:lnTo>
                    <a:lnTo>
                      <a:pt x="100012" y="0"/>
                    </a:lnTo>
                    <a:close/>
                    <a:moveTo>
                      <a:pt x="100012" y="133350"/>
                    </a:moveTo>
                    <a:lnTo>
                      <a:pt x="0" y="133350"/>
                    </a:lnTo>
                    <a:lnTo>
                      <a:pt x="0" y="233362"/>
                    </a:lnTo>
                    <a:lnTo>
                      <a:pt x="100012" y="233362"/>
                    </a:lnTo>
                    <a:lnTo>
                      <a:pt x="100012" y="133350"/>
                    </a:lnTo>
                    <a:close/>
                    <a:moveTo>
                      <a:pt x="133350" y="0"/>
                    </a:moveTo>
                    <a:lnTo>
                      <a:pt x="233362" y="0"/>
                    </a:lnTo>
                    <a:lnTo>
                      <a:pt x="233362" y="100012"/>
                    </a:lnTo>
                    <a:lnTo>
                      <a:pt x="133350" y="100012"/>
                    </a:lnTo>
                    <a:lnTo>
                      <a:pt x="133350" y="0"/>
                    </a:lnTo>
                    <a:close/>
                    <a:moveTo>
                      <a:pt x="233362" y="133350"/>
                    </a:moveTo>
                    <a:lnTo>
                      <a:pt x="133350" y="133350"/>
                    </a:lnTo>
                    <a:lnTo>
                      <a:pt x="133350" y="233362"/>
                    </a:lnTo>
                    <a:lnTo>
                      <a:pt x="233362" y="233362"/>
                    </a:lnTo>
                    <a:lnTo>
                      <a:pt x="233362" y="133350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702040" y="18869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管理后台</a:t>
                </a:r>
                <a:endParaRPr lang="zh-CN" sz="105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370570" y="2141220"/>
                <a:ext cx="91097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公寓/房间管理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370570" y="2331720"/>
                <a:ext cx="6049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预约处理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370570" y="2522220"/>
                <a:ext cx="6049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租约管理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370570" y="2712720"/>
                <a:ext cx="6049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用户管理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370570" y="2903220"/>
                <a:ext cx="6049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系统配置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8415338" y="3333750"/>
                <a:ext cx="2000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66700">
                    <a:moveTo>
                      <a:pt x="22985" y="170415"/>
                    </a:moveTo>
                    <a:lnTo>
                      <a:pt x="100012" y="266700"/>
                    </a:lnTo>
                    <a:lnTo>
                      <a:pt x="177040" y="170415"/>
                    </a:lnTo>
                    <a:cubicBezTo>
                      <a:pt x="191919" y="151817"/>
                      <a:pt x="200025" y="128708"/>
                      <a:pt x="200025" y="104891"/>
                    </a:cubicBezTo>
                    <a:lnTo>
                      <a:pt x="200025" y="100012"/>
                    </a:ln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  <a:lnTo>
                      <a:pt x="0" y="104891"/>
                    </a:lnTo>
                    <a:cubicBezTo>
                      <a:pt x="0" y="128708"/>
                      <a:pt x="8106" y="151817"/>
                      <a:pt x="22985" y="170415"/>
                    </a:cubicBezTo>
                    <a:close/>
                    <a:moveTo>
                      <a:pt x="100012" y="133350"/>
                    </a:moveTo>
                    <a:cubicBezTo>
                      <a:pt x="118424" y="133350"/>
                      <a:pt x="133350" y="118424"/>
                      <a:pt x="133350" y="100012"/>
                    </a:cubicBezTo>
                    <a:cubicBezTo>
                      <a:pt x="133350" y="81601"/>
                      <a:pt x="118424" y="66675"/>
                      <a:pt x="100012" y="66675"/>
                    </a:cubicBezTo>
                    <a:cubicBezTo>
                      <a:pt x="81601" y="66675"/>
                      <a:pt x="66675" y="81601"/>
                      <a:pt x="66675" y="100012"/>
                    </a:cubicBezTo>
                    <a:cubicBezTo>
                      <a:pt x="66675" y="118424"/>
                      <a:pt x="81601" y="133350"/>
                      <a:pt x="100012" y="133350"/>
                    </a:cubicBez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702040" y="3410902"/>
                <a:ext cx="6735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租客端 H5</a:t>
                </a:r>
                <a:endParaRPr lang="zh-CN" sz="105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370570" y="3665220"/>
                <a:ext cx="6049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找房筛选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370570" y="3855720"/>
                <a:ext cx="6049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房源详情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370570" y="4046220"/>
                <a:ext cx="6049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预约看房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370570" y="4236720"/>
                <a:ext cx="6049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个人中心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370570" y="4427220"/>
                <a:ext cx="6049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租约查看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8398669" y="4857750"/>
                <a:ext cx="233362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66700">
                    <a:moveTo>
                      <a:pt x="116681" y="266700"/>
                    </a:moveTo>
                    <a:lnTo>
                      <a:pt x="55842" y="223243"/>
                    </a:lnTo>
                    <a:cubicBezTo>
                      <a:pt x="20798" y="198211"/>
                      <a:pt x="0" y="157798"/>
                      <a:pt x="0" y="114732"/>
                    </a:cubicBezTo>
                    <a:lnTo>
                      <a:pt x="0" y="50006"/>
                    </a:lnTo>
                    <a:lnTo>
                      <a:pt x="116681" y="0"/>
                    </a:lnTo>
                    <a:lnTo>
                      <a:pt x="233362" y="50006"/>
                    </a:lnTo>
                    <a:lnTo>
                      <a:pt x="233362" y="114732"/>
                    </a:lnTo>
                    <a:cubicBezTo>
                      <a:pt x="233362" y="157798"/>
                      <a:pt x="212565" y="198211"/>
                      <a:pt x="177521" y="223243"/>
                    </a:cubicBezTo>
                    <a:lnTo>
                      <a:pt x="116681" y="266700"/>
                    </a:lnTo>
                    <a:close/>
                    <a:moveTo>
                      <a:pt x="186808" y="95130"/>
                    </a:moveTo>
                    <a:lnTo>
                      <a:pt x="163235" y="71557"/>
                    </a:lnTo>
                    <a:lnTo>
                      <a:pt x="100012" y="134780"/>
                    </a:lnTo>
                    <a:lnTo>
                      <a:pt x="70127" y="104895"/>
                    </a:lnTo>
                    <a:lnTo>
                      <a:pt x="46554" y="128468"/>
                    </a:lnTo>
                    <a:lnTo>
                      <a:pt x="100012" y="181926"/>
                    </a:lnTo>
                    <a:lnTo>
                      <a:pt x="186808" y="95130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702040" y="49349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基础设施</a:t>
                </a:r>
                <a:endParaRPr lang="zh-CN" sz="105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370570" y="5189220"/>
                <a:ext cx="11390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MySQL 持久化存储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370570" y="5379720"/>
                <a:ext cx="70094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Redis 缓存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370570" y="5570220"/>
                <a:ext cx="95897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MinIO 图片存储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370570" y="5760720"/>
                <a:ext cx="6229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JWT 认证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34" name="Line 34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房屋租赁系统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 / 21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5830" y="554355"/>
              <a:ext cx="1523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数据库设计</a:t>
              </a:r>
              <a:endParaRPr lang="zh-CN" sz="2100" b="1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35" name="Line 35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房屋租赁系统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11 / 21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pic>
        <p:nvPicPr>
          <p:cNvPr id="39" name="图片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0865" y="1152525"/>
            <a:ext cx="9289415" cy="55289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97B">
                  <a:alpha val="4000"/>
                </a:srgbClr>
              </a:gs>
              <a:gs pos="100000">
                <a:srgbClr val="00897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4" name="Rectangle 4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25830" y="554355"/>
              <a:ext cx="302311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UI设计 — 租客端（H5）</a:t>
              </a:r>
              <a:endParaRPr lang="zh-CN" sz="2100" b="1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35" name="Group 35"/>
          <p:cNvGrpSpPr/>
          <p:nvPr>
            <p:custDataLst>
              <p:tags r:id="rId1"/>
            </p:custDataLst>
          </p:nvPr>
        </p:nvGrpSpPr>
        <p:grpSpPr>
          <a:xfrm>
            <a:off x="571500" y="1304276"/>
            <a:ext cx="11049000" cy="4778764"/>
            <a:chOff x="571500" y="1304276"/>
            <a:chExt cx="11049000" cy="4778764"/>
          </a:xfrm>
        </p:grpSpPr>
        <p:grpSp>
          <p:nvGrpSpPr>
            <p:cNvPr id="10" name="Group 10"/>
            <p:cNvGrpSpPr/>
            <p:nvPr/>
          </p:nvGrpSpPr>
          <p:grpSpPr>
            <a:xfrm>
              <a:off x="571500" y="1304276"/>
              <a:ext cx="1238250" cy="3012930"/>
              <a:chOff x="571500" y="1304276"/>
              <a:chExt cx="1238250" cy="3012930"/>
            </a:xfrm>
          </p:grpSpPr>
          <p:pic>
            <p:nvPicPr>
              <p:cNvPr id="8" name="Image 8"/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3"/>
              <a:stretch>
                <a:fillRect/>
              </a:stretch>
            </p:blipFill>
            <p:spPr>
              <a:xfrm>
                <a:off x="571500" y="1304276"/>
                <a:ext cx="1238250" cy="2677824"/>
              </a:xfrm>
              <a:prstGeom prst="rect">
                <a:avLst/>
              </a:prstGeom>
            </p:spPr>
          </p:pic>
          <p:sp>
            <p:nvSpPr>
              <p:cNvPr id="9" name="TextBox 9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929866" y="4149566"/>
                <a:ext cx="52151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首页/搜索</a:t>
                </a:r>
                <a:endParaRPr lang="zh-CN" sz="82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2619375" y="1304276"/>
              <a:ext cx="1238250" cy="3012930"/>
              <a:chOff x="2619375" y="1304276"/>
              <a:chExt cx="1238250" cy="3012930"/>
            </a:xfrm>
          </p:grpSpPr>
          <p:pic>
            <p:nvPicPr>
              <p:cNvPr id="11" name="Image 11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>
                <a:off x="2619375" y="1304276"/>
                <a:ext cx="1238250" cy="2677824"/>
              </a:xfrm>
              <a:prstGeom prst="rect">
                <a:avLst/>
              </a:prstGeom>
            </p:spPr>
          </p:pic>
          <p:sp>
            <p:nvSpPr>
              <p:cNvPr id="12" name="TextBox 12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3007995" y="4149566"/>
                <a:ext cx="46101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房源详情</a:t>
                </a:r>
                <a:endParaRPr lang="zh-CN" sz="82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4667250" y="1304276"/>
              <a:ext cx="1238250" cy="3012930"/>
              <a:chOff x="4667250" y="1304276"/>
              <a:chExt cx="1238250" cy="3012930"/>
            </a:xfrm>
          </p:grpSpPr>
          <p:pic>
            <p:nvPicPr>
              <p:cNvPr id="14" name="Image 14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9"/>
              <a:stretch>
                <a:fillRect/>
              </a:stretch>
            </p:blipFill>
            <p:spPr>
              <a:xfrm>
                <a:off x="4667250" y="1304276"/>
                <a:ext cx="1238250" cy="2677824"/>
              </a:xfrm>
              <a:prstGeom prst="rect">
                <a:avLst/>
              </a:prstGeom>
            </p:spPr>
          </p:pic>
          <p:sp>
            <p:nvSpPr>
              <p:cNvPr id="15" name="TextBox 15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055870" y="4149566"/>
                <a:ext cx="46101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预约看房</a:t>
                </a:r>
                <a:endParaRPr lang="zh-CN" sz="82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6715125" y="1320151"/>
              <a:ext cx="1238250" cy="2958320"/>
              <a:chOff x="6715125" y="1320151"/>
              <a:chExt cx="1238250" cy="2958320"/>
            </a:xfrm>
          </p:grpSpPr>
          <p:pic>
            <p:nvPicPr>
              <p:cNvPr id="20" name="Image 20"/>
              <p:cNvPicPr>
                <a:picLocks noChangeAspect="1"/>
              </p:cNvPicPr>
              <p:nvPr>
                <p:custDataLst>
                  <p:tags r:id="rId11"/>
                </p:custDataLst>
              </p:nvPr>
            </p:nvPicPr>
            <p:blipFill>
              <a:blip r:embed="rId12"/>
              <a:stretch>
                <a:fillRect/>
              </a:stretch>
            </p:blipFill>
            <p:spPr>
              <a:xfrm>
                <a:off x="6715125" y="1320151"/>
                <a:ext cx="1238250" cy="2677824"/>
              </a:xfrm>
              <a:prstGeom prst="rect">
                <a:avLst/>
              </a:prstGeom>
            </p:spPr>
          </p:pic>
          <p:sp>
            <p:nvSpPr>
              <p:cNvPr id="21" name="TextBox 21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7103745" y="4110831"/>
                <a:ext cx="46101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浏览历史</a:t>
                </a:r>
                <a:endParaRPr lang="zh-CN" sz="82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7239000" y="4391400"/>
              <a:ext cx="4381500" cy="1691640"/>
              <a:chOff x="7239000" y="3762375"/>
              <a:chExt cx="4381500" cy="25717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7239000" y="3762375"/>
                <a:ext cx="4381500" cy="2571750"/>
              </a:xfrm>
              <a:prstGeom prst="roundRect">
                <a:avLst>
                  <a:gd name="adj" fmla="val 3704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416165" y="3982402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移动端设计要点</a:t>
                </a:r>
                <a:endParaRPr lang="zh-CN" sz="105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418070" y="4284345"/>
                <a:ext cx="106099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使用 Vant 组件库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418070" y="4503420"/>
                <a:ext cx="92897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响应式 H5 适配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418070" y="4722495"/>
                <a:ext cx="84496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图片轮播组件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418070" y="4941570"/>
                <a:ext cx="84496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上拉加载更多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418070" y="5160645"/>
                <a:ext cx="96497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交互式预约流程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36" name="Line 36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房屋租赁系统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12 / 21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97B">
                  <a:alpha val="5000"/>
                </a:srgbClr>
              </a:gs>
              <a:gs pos="100000">
                <a:srgbClr val="00897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4" name="Rectangle 4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25830" y="554355"/>
              <a:ext cx="24056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UI设计 — 管理后台</a:t>
              </a:r>
              <a:endParaRPr lang="zh-CN" sz="2100" b="1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747712" y="1307306"/>
            <a:ext cx="10682288" cy="5026819"/>
            <a:chOff x="747712" y="1307306"/>
            <a:chExt cx="10682288" cy="5026819"/>
          </a:xfrm>
        </p:grpSpPr>
        <p:grpSp>
          <p:nvGrpSpPr>
            <p:cNvPr id="30" name="Group 30"/>
            <p:cNvGrpSpPr/>
            <p:nvPr/>
          </p:nvGrpSpPr>
          <p:grpSpPr>
            <a:xfrm>
              <a:off x="747712" y="1307306"/>
              <a:ext cx="2871788" cy="3026569"/>
              <a:chOff x="747712" y="1307306"/>
              <a:chExt cx="2871788" cy="3026569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747712" y="1307306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后台管理功能</a:t>
                </a:r>
                <a:endParaRPr lang="zh-CN" sz="1125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" name="Rectangle 9"/>
              <p:cNvSpPr/>
              <p:nvPr/>
            </p:nvSpPr>
            <p:spPr>
              <a:xfrm>
                <a:off x="762000" y="1571625"/>
                <a:ext cx="2857500" cy="857250"/>
              </a:xfrm>
              <a:prstGeom prst="roundRect">
                <a:avLst>
                  <a:gd name="adj" fmla="val 8889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38212" y="1714500"/>
                <a:ext cx="2000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66700">
                    <a:moveTo>
                      <a:pt x="200025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66675" y="266700"/>
                    </a:lnTo>
                    <a:lnTo>
                      <a:pt x="66675" y="200025"/>
                    </a:lnTo>
                    <a:lnTo>
                      <a:pt x="133350" y="200025"/>
                    </a:lnTo>
                    <a:lnTo>
                      <a:pt x="133350" y="266700"/>
                    </a:lnTo>
                    <a:lnTo>
                      <a:pt x="200025" y="266700"/>
                    </a:lnTo>
                    <a:lnTo>
                      <a:pt x="200025" y="0"/>
                    </a:lnTo>
                    <a:close/>
                    <a:moveTo>
                      <a:pt x="50006" y="50006"/>
                    </a:moveTo>
                    <a:lnTo>
                      <a:pt x="83344" y="50006"/>
                    </a:lnTo>
                    <a:lnTo>
                      <a:pt x="83344" y="83344"/>
                    </a:lnTo>
                    <a:lnTo>
                      <a:pt x="50006" y="83344"/>
                    </a:lnTo>
                    <a:lnTo>
                      <a:pt x="50006" y="50006"/>
                    </a:lnTo>
                    <a:close/>
                    <a:moveTo>
                      <a:pt x="83344" y="116681"/>
                    </a:moveTo>
                    <a:lnTo>
                      <a:pt x="50006" y="116681"/>
                    </a:lnTo>
                    <a:lnTo>
                      <a:pt x="50006" y="150019"/>
                    </a:lnTo>
                    <a:lnTo>
                      <a:pt x="83344" y="150019"/>
                    </a:lnTo>
                    <a:lnTo>
                      <a:pt x="83344" y="116681"/>
                    </a:lnTo>
                    <a:close/>
                    <a:moveTo>
                      <a:pt x="116681" y="50006"/>
                    </a:moveTo>
                    <a:lnTo>
                      <a:pt x="150019" y="50006"/>
                    </a:lnTo>
                    <a:lnTo>
                      <a:pt x="150019" y="83344"/>
                    </a:lnTo>
                    <a:lnTo>
                      <a:pt x="116681" y="83344"/>
                    </a:lnTo>
                    <a:lnTo>
                      <a:pt x="116681" y="50006"/>
                    </a:lnTo>
                    <a:close/>
                    <a:moveTo>
                      <a:pt x="150019" y="116681"/>
                    </a:moveTo>
                    <a:lnTo>
                      <a:pt x="116681" y="116681"/>
                    </a:lnTo>
                    <a:lnTo>
                      <a:pt x="116681" y="150019"/>
                    </a:lnTo>
                    <a:lnTo>
                      <a:pt x="150019" y="150019"/>
                    </a:lnTo>
                    <a:lnTo>
                      <a:pt x="150019" y="116681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243965" y="1772602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公寓与房间管理</a:t>
                </a:r>
                <a:endParaRPr lang="zh-CN" sz="105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94398" y="2025491"/>
                <a:ext cx="145113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公寓信息维护、房间属性配置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94398" y="2196941"/>
                <a:ext cx="101107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图片上传、标签管理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762000" y="2524125"/>
                <a:ext cx="2857500" cy="857250"/>
              </a:xfrm>
              <a:prstGeom prst="roundRect">
                <a:avLst>
                  <a:gd name="adj" fmla="val 8889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grpSp>
            <p:nvGrpSpPr>
              <p:cNvPr id="17" name="Group 17"/>
              <p:cNvGrpSpPr/>
              <p:nvPr/>
            </p:nvGrpSpPr>
            <p:grpSpPr>
              <a:xfrm>
                <a:off x="921544" y="2667000"/>
                <a:ext cx="233362" cy="250031"/>
                <a:chOff x="921544" y="2667000"/>
                <a:chExt cx="233362" cy="250031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921544" y="2667000"/>
                  <a:ext cx="233362" cy="83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362" h="83344">
                      <a:moveTo>
                        <a:pt x="83344" y="0"/>
                      </a:moveTo>
                      <a:lnTo>
                        <a:pt x="33338" y="0"/>
                      </a:lnTo>
                      <a:lnTo>
                        <a:pt x="33338" y="33338"/>
                      </a:lnTo>
                      <a:lnTo>
                        <a:pt x="0" y="33338"/>
                      </a:lnTo>
                      <a:lnTo>
                        <a:pt x="0" y="83344"/>
                      </a:lnTo>
                      <a:lnTo>
                        <a:pt x="233362" y="83344"/>
                      </a:lnTo>
                      <a:lnTo>
                        <a:pt x="233362" y="33338"/>
                      </a:lnTo>
                      <a:lnTo>
                        <a:pt x="200025" y="33338"/>
                      </a:lnTo>
                      <a:lnTo>
                        <a:pt x="200025" y="0"/>
                      </a:lnTo>
                      <a:lnTo>
                        <a:pt x="150019" y="0"/>
                      </a:lnTo>
                      <a:lnTo>
                        <a:pt x="150019" y="33338"/>
                      </a:lnTo>
                      <a:lnTo>
                        <a:pt x="83344" y="33338"/>
                      </a:lnTo>
                      <a:lnTo>
                        <a:pt x="83344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921544" y="2783681"/>
                  <a:ext cx="233362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362" h="133350">
                      <a:moveTo>
                        <a:pt x="233362" y="0"/>
                      </a:moveTo>
                      <a:lnTo>
                        <a:pt x="0" y="0"/>
                      </a:lnTo>
                      <a:lnTo>
                        <a:pt x="0" y="133350"/>
                      </a:lnTo>
                      <a:lnTo>
                        <a:pt x="233362" y="133350"/>
                      </a:lnTo>
                      <a:lnTo>
                        <a:pt x="233362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1243965" y="27251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预约处理</a:t>
                </a:r>
                <a:endParaRPr lang="zh-CN" sz="105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94398" y="2977991"/>
                <a:ext cx="123110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预约状态变更、运营确认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94398" y="3149441"/>
                <a:ext cx="6810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租客沟通跟进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762000" y="3476625"/>
                <a:ext cx="2857500" cy="857250"/>
              </a:xfrm>
              <a:prstGeom prst="roundRect">
                <a:avLst>
                  <a:gd name="adj" fmla="val 8889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904875" y="3636169"/>
                <a:ext cx="266699" cy="233362"/>
                <a:chOff x="904875" y="3636169"/>
                <a:chExt cx="266699" cy="233362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954881" y="3636169"/>
                  <a:ext cx="83344" cy="83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344" h="83344">
                      <a:moveTo>
                        <a:pt x="83344" y="41672"/>
                      </a:moveTo>
                      <a:cubicBezTo>
                        <a:pt x="83344" y="64687"/>
                        <a:pt x="64687" y="83344"/>
                        <a:pt x="41672" y="83344"/>
                      </a:cubicBezTo>
                      <a:cubicBezTo>
                        <a:pt x="18657" y="83344"/>
                        <a:pt x="0" y="64687"/>
                        <a:pt x="0" y="41672"/>
                      </a:cubicBezTo>
                      <a:cubicBezTo>
                        <a:pt x="0" y="18657"/>
                        <a:pt x="18657" y="0"/>
                        <a:pt x="41672" y="0"/>
                      </a:cubicBezTo>
                      <a:cubicBezTo>
                        <a:pt x="64687" y="0"/>
                        <a:pt x="83344" y="18657"/>
                        <a:pt x="83344" y="41672"/>
                      </a:cubicBez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904875" y="3752850"/>
                  <a:ext cx="133350" cy="116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16681">
                      <a:moveTo>
                        <a:pt x="50006" y="0"/>
                      </a:moveTo>
                      <a:cubicBezTo>
                        <a:pt x="22389" y="0"/>
                        <a:pt x="0" y="22389"/>
                        <a:pt x="0" y="50006"/>
                      </a:cubicBezTo>
                      <a:lnTo>
                        <a:pt x="0" y="116681"/>
                      </a:lnTo>
                      <a:lnTo>
                        <a:pt x="133350" y="116681"/>
                      </a:lnTo>
                      <a:lnTo>
                        <a:pt x="133350" y="0"/>
                      </a:lnTo>
                      <a:lnTo>
                        <a:pt x="50006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071562" y="3752850"/>
                  <a:ext cx="100012" cy="116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16681">
                      <a:moveTo>
                        <a:pt x="50006" y="0"/>
                      </a:moveTo>
                      <a:lnTo>
                        <a:pt x="0" y="0"/>
                      </a:lnTo>
                      <a:lnTo>
                        <a:pt x="0" y="116681"/>
                      </a:lnTo>
                      <a:lnTo>
                        <a:pt x="100012" y="116681"/>
                      </a:lnTo>
                      <a:lnTo>
                        <a:pt x="100012" y="50006"/>
                      </a:lnTo>
                      <a:cubicBezTo>
                        <a:pt x="100012" y="22389"/>
                        <a:pt x="77625" y="0"/>
                        <a:pt x="50006" y="0"/>
                      </a:cubicBez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071562" y="3652838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33338" y="66675"/>
                      </a:moveTo>
                      <a:cubicBezTo>
                        <a:pt x="51750" y="66675"/>
                        <a:pt x="66675" y="51749"/>
                        <a:pt x="66675" y="33338"/>
                      </a:cubicBezTo>
                      <a:cubicBezTo>
                        <a:pt x="66675" y="14926"/>
                        <a:pt x="51750" y="0"/>
                        <a:pt x="33338" y="0"/>
                      </a:cubicBezTo>
                      <a:cubicBezTo>
                        <a:pt x="14925" y="0"/>
                        <a:pt x="0" y="14926"/>
                        <a:pt x="0" y="33338"/>
                      </a:cubicBezTo>
                      <a:cubicBezTo>
                        <a:pt x="0" y="51749"/>
                        <a:pt x="14925" y="66675"/>
                        <a:pt x="33338" y="66675"/>
                      </a:cubicBez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1243965" y="3677602"/>
                <a:ext cx="10557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用户与权限管理</a:t>
                </a:r>
                <a:endParaRPr lang="zh-CN" sz="105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94398" y="3930491"/>
                <a:ext cx="101107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用户管理、岗位配置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94398" y="4101941"/>
                <a:ext cx="6810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角色权限分配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3986212" y="1307306"/>
              <a:ext cx="7443788" cy="5026819"/>
              <a:chOff x="3986212" y="1307306"/>
              <a:chExt cx="7443788" cy="5026819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3986212" y="1307306"/>
                <a:ext cx="614045" cy="1733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管理界面</a:t>
                </a:r>
                <a:endParaRPr lang="zh-CN" sz="1125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4000500" y="1571625"/>
                <a:ext cx="7429500" cy="4762500"/>
              </a:xfrm>
              <a:prstGeom prst="roundRect">
                <a:avLst>
                  <a:gd name="adj" fmla="val 2000"/>
                </a:avLst>
              </a:prstGeom>
              <a:solidFill>
                <a:srgbClr val="F0F7F4"/>
              </a:solidFill>
              <a:ln>
                <a:noFill/>
              </a:ln>
            </p:spPr>
          </p:sp>
        </p:grpSp>
      </p:grpSp>
      <p:grpSp>
        <p:nvGrpSpPr>
          <p:cNvPr id="39" name="Group 39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36" name="Line 36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房屋租赁系统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13 / 21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pic>
        <p:nvPicPr>
          <p:cNvPr id="41" name="Imag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4170" y="1674495"/>
            <a:ext cx="3579495" cy="2256155"/>
          </a:xfrm>
          <a:prstGeom prst="rect">
            <a:avLst/>
          </a:prstGeom>
        </p:spPr>
      </p:pic>
      <p:pic>
        <p:nvPicPr>
          <p:cNvPr id="44" name="Imag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8920" y="1674495"/>
            <a:ext cx="3560445" cy="2256155"/>
          </a:xfrm>
          <a:prstGeom prst="rect">
            <a:avLst/>
          </a:prstGeom>
        </p:spPr>
      </p:pic>
      <p:pic>
        <p:nvPicPr>
          <p:cNvPr id="45" name="Imag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725" y="4269740"/>
            <a:ext cx="3583940" cy="1972945"/>
          </a:xfrm>
          <a:prstGeom prst="rect">
            <a:avLst/>
          </a:prstGeom>
        </p:spPr>
      </p:pic>
      <p:pic>
        <p:nvPicPr>
          <p:cNvPr id="46" name="Imag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205" y="4269740"/>
            <a:ext cx="3554730" cy="19989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5830" y="554355"/>
              <a:ext cx="240563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网络设计与数据量</a:t>
              </a:r>
              <a:endParaRPr lang="zh-CN" sz="2100" b="1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747712" y="1288256"/>
            <a:ext cx="10682288" cy="4998244"/>
            <a:chOff x="747712" y="1288256"/>
            <a:chExt cx="10682288" cy="4998244"/>
          </a:xfrm>
        </p:grpSpPr>
        <p:grpSp>
          <p:nvGrpSpPr>
            <p:cNvPr id="23" name="Group 23"/>
            <p:cNvGrpSpPr/>
            <p:nvPr/>
          </p:nvGrpSpPr>
          <p:grpSpPr>
            <a:xfrm>
              <a:off x="747712" y="1288256"/>
              <a:ext cx="3824288" cy="2521744"/>
              <a:chOff x="747712" y="1288256"/>
              <a:chExt cx="3824288" cy="2521744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747712" y="1288256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系统网络架构</a:t>
                </a:r>
                <a:endParaRPr lang="zh-CN" sz="1125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" name="Rectangle 8"/>
              <p:cNvSpPr/>
              <p:nvPr/>
            </p:nvSpPr>
            <p:spPr>
              <a:xfrm>
                <a:off x="762000" y="1524000"/>
                <a:ext cx="3810000" cy="2286000"/>
              </a:xfrm>
              <a:prstGeom prst="roundRect">
                <a:avLst>
                  <a:gd name="adj" fmla="val 4167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1238250" y="1714500"/>
                <a:ext cx="285750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2023226" y="1847374"/>
                <a:ext cx="128754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前端 (Vue3 + Nginx)</a:t>
                </a:r>
                <a:endPara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1" name="Line 11"/>
              <p:cNvSpPr/>
              <p:nvPr/>
            </p:nvSpPr>
            <p:spPr>
              <a:xfrm>
                <a:off x="2667000" y="2095500"/>
                <a:ext cx="9525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5">
                    <a:moveTo>
                      <a:pt x="0" y="0"/>
                    </a:moveTo>
                    <a:lnTo>
                      <a:pt x="0" y="238125"/>
                    </a:lnTo>
                  </a:path>
                </a:pathLst>
              </a:custGeom>
              <a:noFill/>
              <a:ln w="19050">
                <a:solidFill>
                  <a:srgbClr val="4DB6AC"/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1238250" y="2333625"/>
                <a:ext cx="285750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00695C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043704" y="2466499"/>
                <a:ext cx="124659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后端 (Spring Boot)</a:t>
                </a:r>
                <a:endPara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1905000" y="2714625"/>
                <a:ext cx="9525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5">
                    <a:moveTo>
                      <a:pt x="0" y="0"/>
                    </a:moveTo>
                    <a:lnTo>
                      <a:pt x="0" y="238125"/>
                    </a:lnTo>
                  </a:path>
                </a:pathLst>
              </a:custGeom>
              <a:noFill/>
              <a:ln w="19050">
                <a:solidFill>
                  <a:srgbClr val="4DB6AC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2667000" y="2714625"/>
                <a:ext cx="9525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5">
                    <a:moveTo>
                      <a:pt x="0" y="0"/>
                    </a:moveTo>
                    <a:lnTo>
                      <a:pt x="0" y="238125"/>
                    </a:lnTo>
                  </a:path>
                </a:pathLst>
              </a:custGeom>
              <a:noFill/>
              <a:ln w="19050">
                <a:solidFill>
                  <a:srgbClr val="4DB6AC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3429000" y="2714625"/>
                <a:ext cx="9525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5">
                    <a:moveTo>
                      <a:pt x="0" y="0"/>
                    </a:moveTo>
                    <a:lnTo>
                      <a:pt x="0" y="238125"/>
                    </a:lnTo>
                  </a:path>
                </a:pathLst>
              </a:custGeom>
              <a:noFill/>
              <a:ln w="19050">
                <a:solidFill>
                  <a:srgbClr val="4DB6AC"/>
                </a:solidFill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1238250" y="2952750"/>
                <a:ext cx="857250" cy="333375"/>
              </a:xfrm>
              <a:prstGeom prst="roundRect">
                <a:avLst>
                  <a:gd name="adj" fmla="val 17143"/>
                </a:avLst>
              </a:prstGeom>
              <a:solidFill>
                <a:srgbClr val="4DB6AC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474462" y="3073241"/>
                <a:ext cx="38482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MySQL</a:t>
                </a:r>
                <a:endParaRPr lang="zh-CN" sz="8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2238375" y="2952750"/>
                <a:ext cx="857250" cy="333375"/>
              </a:xfrm>
              <a:prstGeom prst="roundRect">
                <a:avLst>
                  <a:gd name="adj" fmla="val 17143"/>
                </a:avLst>
              </a:prstGeom>
              <a:solidFill>
                <a:srgbClr val="4DB6AC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2512129" y="3073241"/>
                <a:ext cx="30974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Redis</a:t>
                </a:r>
                <a:endParaRPr lang="zh-CN" sz="8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3238500" y="2952750"/>
                <a:ext cx="857250" cy="333375"/>
              </a:xfrm>
              <a:prstGeom prst="roundRect">
                <a:avLst>
                  <a:gd name="adj" fmla="val 17143"/>
                </a:avLst>
              </a:prstGeom>
              <a:solidFill>
                <a:srgbClr val="4DB6AC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3503591" y="3073241"/>
                <a:ext cx="32706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MinIO</a:t>
                </a:r>
                <a:endParaRPr lang="zh-CN" sz="8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938712" y="1288256"/>
              <a:ext cx="6491288" cy="2521744"/>
              <a:chOff x="4938712" y="1288256"/>
              <a:chExt cx="6491288" cy="2521744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4938712" y="128825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数据量预估</a:t>
                </a:r>
                <a:endParaRPr lang="zh-CN" sz="1125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4953000" y="1524000"/>
                <a:ext cx="6477000" cy="2286000"/>
              </a:xfrm>
              <a:prstGeom prst="roundRect">
                <a:avLst>
                  <a:gd name="adj" fmla="val 4167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5143500" y="1714500"/>
                <a:ext cx="190500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5767161" y="1819275"/>
                <a:ext cx="657677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E7D3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1.5MB</a:t>
                </a:r>
                <a:endParaRPr lang="zh-CN" sz="1500" b="1" dirty="0">
                  <a:solidFill>
                    <a:srgbClr val="2E7D3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700474" y="2196941"/>
                <a:ext cx="79105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每公寓图片存储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7239000" y="1714500"/>
                <a:ext cx="190500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E3F2FD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941421" y="1819275"/>
                <a:ext cx="50015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200+</a:t>
                </a:r>
                <a:endParaRPr lang="zh-CN" sz="1500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850981" y="2196941"/>
                <a:ext cx="6810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日均预约操作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9334500" y="1714500"/>
                <a:ext cx="190500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FFF3E0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063174" y="1819275"/>
                <a:ext cx="44765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E6510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&lt; 2s</a:t>
                </a:r>
                <a:endParaRPr lang="zh-CN" sz="1500" b="1" dirty="0">
                  <a:solidFill>
                    <a:srgbClr val="E651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946481" y="2196941"/>
                <a:ext cx="6810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接口响应时间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747712" y="3860006"/>
              <a:ext cx="10682288" cy="2426494"/>
              <a:chOff x="747712" y="3860006"/>
              <a:chExt cx="10682288" cy="2426494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747712" y="3860006"/>
                <a:ext cx="113121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预约模块活动图</a:t>
                </a:r>
                <a:endParaRPr lang="zh-CN" sz="1125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762000" y="4095750"/>
                <a:ext cx="10668000" cy="2190750"/>
              </a:xfrm>
              <a:prstGeom prst="roundRect">
                <a:avLst>
                  <a:gd name="adj" fmla="val 4348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pic>
            <p:nvPicPr>
              <p:cNvPr id="38" name="Image 38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4572480" y="4238625"/>
                <a:ext cx="3047040" cy="1905000"/>
              </a:xfrm>
              <a:prstGeom prst="rect">
                <a:avLst/>
              </a:prstGeom>
            </p:spPr>
          </p:pic>
        </p:grpSp>
      </p:grpSp>
      <p:grpSp>
        <p:nvGrpSpPr>
          <p:cNvPr id="44" name="Group 44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41" name="Line 41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房屋租赁系统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14 / 21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5830" y="5543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后端实现</a:t>
              </a:r>
              <a:endParaRPr lang="zh-CN" sz="2100" b="1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762000" y="1238250"/>
            <a:ext cx="10668000" cy="4857750"/>
            <a:chOff x="762000" y="1238250"/>
            <a:chExt cx="10668000" cy="4857750"/>
          </a:xfrm>
        </p:grpSpPr>
        <p:grpSp>
          <p:nvGrpSpPr>
            <p:cNvPr id="9" name="Group 9"/>
            <p:cNvGrpSpPr/>
            <p:nvPr/>
          </p:nvGrpSpPr>
          <p:grpSpPr>
            <a:xfrm>
              <a:off x="762000" y="1238250"/>
              <a:ext cx="4762500" cy="4857750"/>
              <a:chOff x="762000" y="1238250"/>
              <a:chExt cx="4762500" cy="48577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762000" y="1238250"/>
                <a:ext cx="4762500" cy="4857750"/>
              </a:xfrm>
              <a:prstGeom prst="roundRect">
                <a:avLst>
                  <a:gd name="adj" fmla="val 2000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pic>
            <p:nvPicPr>
              <p:cNvPr id="8" name="Image 8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04875" y="2267700"/>
                <a:ext cx="4476750" cy="2798850"/>
              </a:xfrm>
              <a:prstGeom prst="rect">
                <a:avLst/>
              </a:prstGeom>
            </p:spPr>
          </p:pic>
        </p:grpSp>
        <p:grpSp>
          <p:nvGrpSpPr>
            <p:cNvPr id="37" name="Group 37"/>
            <p:cNvGrpSpPr/>
            <p:nvPr/>
          </p:nvGrpSpPr>
          <p:grpSpPr>
            <a:xfrm>
              <a:off x="5890260" y="1280160"/>
              <a:ext cx="5539740" cy="4530090"/>
              <a:chOff x="5890260" y="1280160"/>
              <a:chExt cx="5539740" cy="4530090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5890260" y="12801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后端要点</a:t>
                </a:r>
                <a:endParaRPr lang="zh-CN" sz="1200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5905500" y="1571625"/>
                <a:ext cx="552450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6065044" y="1714500"/>
                <a:ext cx="233362" cy="266700"/>
                <a:chOff x="6065044" y="1714500"/>
                <a:chExt cx="233362" cy="266700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6065044" y="1714500"/>
                  <a:ext cx="233362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362" h="133350">
                      <a:moveTo>
                        <a:pt x="0" y="83344"/>
                      </a:moveTo>
                      <a:lnTo>
                        <a:pt x="0" y="50006"/>
                      </a:lnTo>
                      <a:lnTo>
                        <a:pt x="116681" y="0"/>
                      </a:lnTo>
                      <a:lnTo>
                        <a:pt x="233362" y="50006"/>
                      </a:lnTo>
                      <a:lnTo>
                        <a:pt x="233362" y="83344"/>
                      </a:lnTo>
                      <a:lnTo>
                        <a:pt x="116681" y="133350"/>
                      </a:lnTo>
                      <a:lnTo>
                        <a:pt x="0" y="83344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6065044" y="1897856"/>
                  <a:ext cx="233362" cy="83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362" h="83344">
                      <a:moveTo>
                        <a:pt x="116681" y="83344"/>
                      </a:moveTo>
                      <a:lnTo>
                        <a:pt x="0" y="33338"/>
                      </a:lnTo>
                      <a:lnTo>
                        <a:pt x="0" y="0"/>
                      </a:lnTo>
                      <a:lnTo>
                        <a:pt x="116681" y="50006"/>
                      </a:lnTo>
                      <a:lnTo>
                        <a:pt x="233362" y="0"/>
                      </a:lnTo>
                      <a:lnTo>
                        <a:pt x="233362" y="33338"/>
                      </a:lnTo>
                      <a:lnTo>
                        <a:pt x="116681" y="83344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6065044" y="1831181"/>
                  <a:ext cx="233362" cy="83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362" h="83344">
                      <a:moveTo>
                        <a:pt x="0" y="33338"/>
                      </a:moveTo>
                      <a:lnTo>
                        <a:pt x="116681" y="83344"/>
                      </a:lnTo>
                      <a:lnTo>
                        <a:pt x="233362" y="33338"/>
                      </a:lnTo>
                      <a:lnTo>
                        <a:pt x="233362" y="0"/>
                      </a:lnTo>
                      <a:lnTo>
                        <a:pt x="116681" y="50006"/>
                      </a:lnTo>
                      <a:lnTo>
                        <a:pt x="0" y="0"/>
                      </a:lnTo>
                      <a:lnTo>
                        <a:pt x="0" y="33338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6415088" y="1764506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多模块工程</a:t>
                </a:r>
                <a:endParaRPr lang="zh-CN" sz="1125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036945" y="2017395"/>
                <a:ext cx="396535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model（实体/枚举） + common（工具/异常） + web（admin/app 接口）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036945" y="2236470"/>
                <a:ext cx="219513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MyBatis-Plus 自动 CRUD，降低重复编码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5905500" y="2667000"/>
                <a:ext cx="552450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065044" y="2809875"/>
                <a:ext cx="233362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66700">
                    <a:moveTo>
                      <a:pt x="116681" y="266700"/>
                    </a:moveTo>
                    <a:lnTo>
                      <a:pt x="55842" y="223243"/>
                    </a:lnTo>
                    <a:cubicBezTo>
                      <a:pt x="20798" y="198211"/>
                      <a:pt x="0" y="157798"/>
                      <a:pt x="0" y="114732"/>
                    </a:cubicBezTo>
                    <a:lnTo>
                      <a:pt x="0" y="50006"/>
                    </a:lnTo>
                    <a:lnTo>
                      <a:pt x="116681" y="0"/>
                    </a:lnTo>
                    <a:lnTo>
                      <a:pt x="233362" y="50006"/>
                    </a:lnTo>
                    <a:lnTo>
                      <a:pt x="233362" y="114732"/>
                    </a:lnTo>
                    <a:cubicBezTo>
                      <a:pt x="233362" y="157798"/>
                      <a:pt x="212565" y="198211"/>
                      <a:pt x="177521" y="223243"/>
                    </a:cubicBezTo>
                    <a:lnTo>
                      <a:pt x="116681" y="266700"/>
                    </a:lnTo>
                    <a:close/>
                    <a:moveTo>
                      <a:pt x="186808" y="95130"/>
                    </a:moveTo>
                    <a:lnTo>
                      <a:pt x="163235" y="71557"/>
                    </a:lnTo>
                    <a:lnTo>
                      <a:pt x="100012" y="134780"/>
                    </a:lnTo>
                    <a:lnTo>
                      <a:pt x="70127" y="104895"/>
                    </a:lnTo>
                    <a:lnTo>
                      <a:pt x="46554" y="128468"/>
                    </a:lnTo>
                    <a:lnTo>
                      <a:pt x="100012" y="181926"/>
                    </a:lnTo>
                    <a:lnTo>
                      <a:pt x="186808" y="95130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415088" y="285988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安全认证</a:t>
                </a:r>
                <a:endParaRPr lang="zh-CN" sz="1125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036945" y="3112770"/>
                <a:ext cx="195510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JWT 登录认证，多 Profile 环境切换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036945" y="3331845"/>
                <a:ext cx="143903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Redis 管理验证码和登录态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5905500" y="3762375"/>
                <a:ext cx="552450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6081712" y="3905250"/>
                <a:ext cx="200025" cy="266700"/>
                <a:chOff x="6081712" y="3905250"/>
                <a:chExt cx="200025" cy="266700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6081712" y="4011930"/>
                  <a:ext cx="200025" cy="76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76676">
                      <a:moveTo>
                        <a:pt x="185642" y="8504"/>
                      </a:moveTo>
                      <a:cubicBezTo>
                        <a:pt x="190330" y="6159"/>
                        <a:pt x="195229" y="3330"/>
                        <a:pt x="200025" y="0"/>
                      </a:cubicBezTo>
                      <a:lnTo>
                        <a:pt x="200025" y="26670"/>
                      </a:lnTo>
                      <a:cubicBezTo>
                        <a:pt x="200025" y="54287"/>
                        <a:pt x="155248" y="76676"/>
                        <a:pt x="100012" y="76676"/>
                      </a:cubicBezTo>
                      <a:cubicBezTo>
                        <a:pt x="44777" y="76676"/>
                        <a:pt x="0" y="54287"/>
                        <a:pt x="0" y="26670"/>
                      </a:cubicBezTo>
                      <a:lnTo>
                        <a:pt x="0" y="0"/>
                      </a:lnTo>
                      <a:cubicBezTo>
                        <a:pt x="4796" y="3330"/>
                        <a:pt x="9694" y="6159"/>
                        <a:pt x="14384" y="8504"/>
                      </a:cubicBezTo>
                      <a:cubicBezTo>
                        <a:pt x="38021" y="20322"/>
                        <a:pt x="68342" y="26670"/>
                        <a:pt x="100012" y="26670"/>
                      </a:cubicBezTo>
                      <a:cubicBezTo>
                        <a:pt x="131683" y="26670"/>
                        <a:pt x="162004" y="20322"/>
                        <a:pt x="185642" y="8504"/>
                      </a:cubicBez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081712" y="4095274"/>
                  <a:ext cx="200025" cy="76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76676">
                      <a:moveTo>
                        <a:pt x="0" y="0"/>
                      </a:moveTo>
                      <a:lnTo>
                        <a:pt x="0" y="26670"/>
                      </a:lnTo>
                      <a:cubicBezTo>
                        <a:pt x="0" y="54288"/>
                        <a:pt x="44777" y="76676"/>
                        <a:pt x="100012" y="76676"/>
                      </a:cubicBezTo>
                      <a:cubicBezTo>
                        <a:pt x="155248" y="76676"/>
                        <a:pt x="200025" y="54288"/>
                        <a:pt x="200025" y="26670"/>
                      </a:cubicBezTo>
                      <a:lnTo>
                        <a:pt x="200025" y="0"/>
                      </a:lnTo>
                      <a:cubicBezTo>
                        <a:pt x="195229" y="3330"/>
                        <a:pt x="190330" y="6159"/>
                        <a:pt x="185642" y="8504"/>
                      </a:cubicBezTo>
                      <a:cubicBezTo>
                        <a:pt x="162004" y="20323"/>
                        <a:pt x="131683" y="26670"/>
                        <a:pt x="100012" y="26670"/>
                      </a:cubicBezTo>
                      <a:cubicBezTo>
                        <a:pt x="68342" y="26670"/>
                        <a:pt x="38021" y="20323"/>
                        <a:pt x="14384" y="8504"/>
                      </a:cubicBezTo>
                      <a:cubicBezTo>
                        <a:pt x="9694" y="6159"/>
                        <a:pt x="4796" y="3330"/>
                        <a:pt x="0" y="0"/>
                      </a:cubicBez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6081712" y="3905250"/>
                  <a:ext cx="20002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00012">
                      <a:moveTo>
                        <a:pt x="100012" y="0"/>
                      </a:moveTo>
                      <a:cubicBezTo>
                        <a:pt x="155248" y="0"/>
                        <a:pt x="200025" y="22389"/>
                        <a:pt x="200025" y="50006"/>
                      </a:cubicBezTo>
                      <a:cubicBezTo>
                        <a:pt x="200025" y="77624"/>
                        <a:pt x="155248" y="100012"/>
                        <a:pt x="100012" y="100012"/>
                      </a:cubicBezTo>
                      <a:cubicBezTo>
                        <a:pt x="44777" y="100012"/>
                        <a:pt x="0" y="77624"/>
                        <a:pt x="0" y="50006"/>
                      </a:cubicBezTo>
                      <a:cubicBezTo>
                        <a:pt x="0" y="22389"/>
                        <a:pt x="44777" y="0"/>
                        <a:pt x="100012" y="0"/>
                      </a:cubicBez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6415088" y="3955256"/>
                <a:ext cx="113121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数据与文件存储</a:t>
                </a:r>
                <a:endParaRPr lang="zh-CN" sz="1125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036945" y="4208145"/>
                <a:ext cx="21291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MySQL 主业务库 + MinIO 图片对象存储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036945" y="4427220"/>
                <a:ext cx="10789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Redis 缓存热点数据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5905500" y="4857750"/>
                <a:ext cx="5524500" cy="9525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065044" y="5017294"/>
                <a:ext cx="233362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33362">
                    <a:moveTo>
                      <a:pt x="233362" y="0"/>
                    </a:moveTo>
                    <a:lnTo>
                      <a:pt x="0" y="0"/>
                    </a:lnTo>
                    <a:lnTo>
                      <a:pt x="0" y="233362"/>
                    </a:lnTo>
                    <a:lnTo>
                      <a:pt x="233362" y="233362"/>
                    </a:lnTo>
                    <a:lnTo>
                      <a:pt x="233362" y="0"/>
                    </a:lnTo>
                    <a:close/>
                    <a:moveTo>
                      <a:pt x="83344" y="66675"/>
                    </a:moveTo>
                    <a:lnTo>
                      <a:pt x="106917" y="90248"/>
                    </a:lnTo>
                    <a:lnTo>
                      <a:pt x="80484" y="116681"/>
                    </a:lnTo>
                    <a:lnTo>
                      <a:pt x="106917" y="143114"/>
                    </a:lnTo>
                    <a:lnTo>
                      <a:pt x="83344" y="166688"/>
                    </a:lnTo>
                    <a:lnTo>
                      <a:pt x="33338" y="116681"/>
                    </a:lnTo>
                    <a:lnTo>
                      <a:pt x="83344" y="66675"/>
                    </a:lnTo>
                    <a:close/>
                    <a:moveTo>
                      <a:pt x="150019" y="66675"/>
                    </a:moveTo>
                    <a:lnTo>
                      <a:pt x="126446" y="90248"/>
                    </a:lnTo>
                    <a:lnTo>
                      <a:pt x="152879" y="116681"/>
                    </a:lnTo>
                    <a:lnTo>
                      <a:pt x="126446" y="143114"/>
                    </a:lnTo>
                    <a:lnTo>
                      <a:pt x="150019" y="166688"/>
                    </a:lnTo>
                    <a:lnTo>
                      <a:pt x="200025" y="116681"/>
                    </a:lnTo>
                    <a:lnTo>
                      <a:pt x="150019" y="66675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415088" y="505063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本地部署</a:t>
                </a:r>
                <a:endParaRPr lang="zh-CN" sz="1125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036945" y="5303520"/>
                <a:ext cx="26211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Docker Compose 一键启动 MySQL/Redis/MinIO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036945" y="5522595"/>
                <a:ext cx="176307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Spring Boot Profile 多环境切换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39" name="Line 39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房屋租赁系统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15 / 21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97B">
                  <a:alpha val="5000"/>
                </a:srgbClr>
              </a:gs>
              <a:gs pos="100000">
                <a:srgbClr val="00897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4" name="Rectangle 4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25830" y="5543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前端实现</a:t>
              </a:r>
              <a:endParaRPr lang="zh-CN" sz="2100" b="1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762000" y="1238250"/>
            <a:ext cx="10668000" cy="4143375"/>
            <a:chOff x="762000" y="1238250"/>
            <a:chExt cx="10668000" cy="4143375"/>
          </a:xfrm>
        </p:grpSpPr>
        <p:grpSp>
          <p:nvGrpSpPr>
            <p:cNvPr id="33" name="Group 33"/>
            <p:cNvGrpSpPr/>
            <p:nvPr/>
          </p:nvGrpSpPr>
          <p:grpSpPr>
            <a:xfrm>
              <a:off x="762000" y="1238250"/>
              <a:ext cx="5048250" cy="4143375"/>
              <a:chOff x="762000" y="1238250"/>
              <a:chExt cx="5048250" cy="4143375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62000" y="1571625"/>
                <a:ext cx="5048250" cy="3810000"/>
              </a:xfrm>
              <a:prstGeom prst="roundRect">
                <a:avLst>
                  <a:gd name="adj" fmla="val 300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762000" y="1238250"/>
                <a:ext cx="504825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762000" y="1466850"/>
                <a:ext cx="5048250" cy="228600"/>
              </a:xfrm>
              <a:prstGeom prst="rect">
                <a:avLst/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66788" y="1871662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85725" y="0"/>
                    </a:moveTo>
                    <a:lnTo>
                      <a:pt x="0" y="0"/>
                    </a:lnTo>
                    <a:lnTo>
                      <a:pt x="0" y="85725"/>
                    </a:lnTo>
                    <a:lnTo>
                      <a:pt x="85725" y="85725"/>
                    </a:lnTo>
                    <a:lnTo>
                      <a:pt x="85725" y="0"/>
                    </a:lnTo>
                    <a:close/>
                    <a:moveTo>
                      <a:pt x="85725" y="114300"/>
                    </a:moveTo>
                    <a:lnTo>
                      <a:pt x="0" y="114300"/>
                    </a:lnTo>
                    <a:lnTo>
                      <a:pt x="0" y="200025"/>
                    </a:lnTo>
                    <a:lnTo>
                      <a:pt x="85725" y="200025"/>
                    </a:lnTo>
                    <a:lnTo>
                      <a:pt x="85725" y="114300"/>
                    </a:lnTo>
                    <a:close/>
                    <a:moveTo>
                      <a:pt x="114300" y="0"/>
                    </a:moveTo>
                    <a:lnTo>
                      <a:pt x="200025" y="0"/>
                    </a:lnTo>
                    <a:lnTo>
                      <a:pt x="200025" y="85725"/>
                    </a:lnTo>
                    <a:lnTo>
                      <a:pt x="114300" y="85725"/>
                    </a:lnTo>
                    <a:lnTo>
                      <a:pt x="114300" y="0"/>
                    </a:lnTo>
                    <a:close/>
                    <a:moveTo>
                      <a:pt x="200025" y="114300"/>
                    </a:moveTo>
                    <a:lnTo>
                      <a:pt x="114300" y="114300"/>
                    </a:lnTo>
                    <a:lnTo>
                      <a:pt x="114300" y="200025"/>
                    </a:lnTo>
                    <a:lnTo>
                      <a:pt x="200025" y="200025"/>
                    </a:lnTo>
                    <a:lnTo>
                      <a:pt x="200025" y="114300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272540" y="1905952"/>
                <a:ext cx="4677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技术栈</a:t>
                </a:r>
                <a:endParaRPr lang="zh-CN" sz="105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40118" y="2180749"/>
                <a:ext cx="112340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Vue3 + Vite 构建</a:t>
                </a:r>
                <a:endParaRPr lang="zh-CN" sz="97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40118" y="2418874"/>
                <a:ext cx="135093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Element Plus 组件库</a:t>
                </a:r>
                <a:endParaRPr lang="zh-CN" sz="97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40118" y="2656999"/>
                <a:ext cx="137693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Vue Router 路由管理</a:t>
                </a:r>
                <a:endParaRPr lang="zh-CN" sz="97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40118" y="2895124"/>
                <a:ext cx="98688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Pinia 状态管理</a:t>
                </a:r>
                <a:endParaRPr lang="zh-CN" sz="97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40118" y="3133249"/>
                <a:ext cx="10843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Axios HTTP 请求</a:t>
                </a:r>
                <a:endParaRPr lang="zh-CN" sz="97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grpSp>
            <p:nvGrpSpPr>
              <p:cNvPr id="27" name="Group 27"/>
              <p:cNvGrpSpPr/>
              <p:nvPr/>
            </p:nvGrpSpPr>
            <p:grpSpPr>
              <a:xfrm>
                <a:off x="966788" y="3538538"/>
                <a:ext cx="200025" cy="200025"/>
                <a:chOff x="966788" y="3538538"/>
                <a:chExt cx="200025" cy="200025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966788" y="3538538"/>
                  <a:ext cx="285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28575">
                      <a:moveTo>
                        <a:pt x="28575" y="0"/>
                      </a:moveTo>
                      <a:lnTo>
                        <a:pt x="0" y="0"/>
                      </a:lnTo>
                      <a:lnTo>
                        <a:pt x="0" y="28575"/>
                      </a:lnTo>
                      <a:lnTo>
                        <a:pt x="28575" y="28575"/>
                      </a:lnTo>
                      <a:lnTo>
                        <a:pt x="28575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966788" y="3595688"/>
                  <a:ext cx="285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28575">
                      <a:moveTo>
                        <a:pt x="28575" y="0"/>
                      </a:moveTo>
                      <a:lnTo>
                        <a:pt x="0" y="0"/>
                      </a:lnTo>
                      <a:lnTo>
                        <a:pt x="0" y="28575"/>
                      </a:lnTo>
                      <a:lnTo>
                        <a:pt x="28575" y="28575"/>
                      </a:lnTo>
                      <a:lnTo>
                        <a:pt x="28575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966788" y="3652838"/>
                  <a:ext cx="285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28575">
                      <a:moveTo>
                        <a:pt x="0" y="0"/>
                      </a:moveTo>
                      <a:lnTo>
                        <a:pt x="28575" y="0"/>
                      </a:lnTo>
                      <a:lnTo>
                        <a:pt x="28575" y="28575"/>
                      </a:lnTo>
                      <a:lnTo>
                        <a:pt x="0" y="2857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966788" y="3709988"/>
                  <a:ext cx="285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28575">
                      <a:moveTo>
                        <a:pt x="28575" y="0"/>
                      </a:moveTo>
                      <a:lnTo>
                        <a:pt x="0" y="0"/>
                      </a:lnTo>
                      <a:lnTo>
                        <a:pt x="0" y="28575"/>
                      </a:lnTo>
                      <a:lnTo>
                        <a:pt x="28575" y="28575"/>
                      </a:lnTo>
                      <a:lnTo>
                        <a:pt x="28575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1023938" y="3538538"/>
                  <a:ext cx="1428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28575">
                      <a:moveTo>
                        <a:pt x="142875" y="0"/>
                      </a:moveTo>
                      <a:lnTo>
                        <a:pt x="0" y="0"/>
                      </a:lnTo>
                      <a:lnTo>
                        <a:pt x="0" y="28575"/>
                      </a:lnTo>
                      <a:lnTo>
                        <a:pt x="142875" y="28575"/>
                      </a:lnTo>
                      <a:lnTo>
                        <a:pt x="142875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023938" y="3595688"/>
                  <a:ext cx="1428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28575">
                      <a:moveTo>
                        <a:pt x="142875" y="0"/>
                      </a:moveTo>
                      <a:lnTo>
                        <a:pt x="0" y="0"/>
                      </a:lnTo>
                      <a:lnTo>
                        <a:pt x="0" y="28575"/>
                      </a:lnTo>
                      <a:lnTo>
                        <a:pt x="142875" y="28575"/>
                      </a:lnTo>
                      <a:lnTo>
                        <a:pt x="142875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023938" y="3652838"/>
                  <a:ext cx="1428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28575">
                      <a:moveTo>
                        <a:pt x="0" y="0"/>
                      </a:moveTo>
                      <a:lnTo>
                        <a:pt x="142875" y="0"/>
                      </a:lnTo>
                      <a:lnTo>
                        <a:pt x="142875" y="28575"/>
                      </a:lnTo>
                      <a:lnTo>
                        <a:pt x="0" y="2857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023938" y="3709988"/>
                  <a:ext cx="1428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28575">
                      <a:moveTo>
                        <a:pt x="142875" y="0"/>
                      </a:moveTo>
                      <a:lnTo>
                        <a:pt x="0" y="0"/>
                      </a:lnTo>
                      <a:lnTo>
                        <a:pt x="0" y="28575"/>
                      </a:lnTo>
                      <a:lnTo>
                        <a:pt x="142875" y="28575"/>
                      </a:lnTo>
                      <a:lnTo>
                        <a:pt x="142875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1272540" y="357282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页面功能</a:t>
                </a:r>
                <a:endParaRPr lang="zh-CN" sz="105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41070" y="3855720"/>
                <a:ext cx="120500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数据表格展示与操作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41070" y="4074795"/>
                <a:ext cx="96497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表单提交与验证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941070" y="4293870"/>
                <a:ext cx="84496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图片上传组件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41070" y="4512945"/>
                <a:ext cx="97697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分页/搜索/筛选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925830" y="1329373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tx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管理后台</a:t>
                </a:r>
                <a:endParaRPr lang="zh-CN" sz="1350" b="1" dirty="0">
                  <a:solidFill>
                    <a:schemeClr val="tx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6286500" y="1238250"/>
              <a:ext cx="5143500" cy="4143375"/>
              <a:chOff x="6286500" y="1238250"/>
              <a:chExt cx="5143500" cy="4143375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6286500" y="1571625"/>
                <a:ext cx="5143500" cy="3810000"/>
              </a:xfrm>
              <a:prstGeom prst="roundRect">
                <a:avLst>
                  <a:gd name="adj" fmla="val 300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6286500" y="1238250"/>
                <a:ext cx="51435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6286500" y="1466850"/>
                <a:ext cx="5143500" cy="228600"/>
              </a:xfrm>
              <a:prstGeom prst="rect">
                <a:avLst/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491288" y="1871662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200025" y="0"/>
                    </a:moveTo>
                    <a:lnTo>
                      <a:pt x="0" y="0"/>
                    </a:lnTo>
                    <a:lnTo>
                      <a:pt x="0" y="200025"/>
                    </a:lnTo>
                    <a:lnTo>
                      <a:pt x="200025" y="200025"/>
                    </a:lnTo>
                    <a:lnTo>
                      <a:pt x="200025" y="0"/>
                    </a:lnTo>
                    <a:close/>
                    <a:moveTo>
                      <a:pt x="71438" y="57150"/>
                    </a:moveTo>
                    <a:lnTo>
                      <a:pt x="91643" y="77356"/>
                    </a:lnTo>
                    <a:lnTo>
                      <a:pt x="68986" y="100012"/>
                    </a:lnTo>
                    <a:lnTo>
                      <a:pt x="91643" y="122669"/>
                    </a:lnTo>
                    <a:lnTo>
                      <a:pt x="71438" y="142875"/>
                    </a:lnTo>
                    <a:lnTo>
                      <a:pt x="28575" y="100012"/>
                    </a:lnTo>
                    <a:lnTo>
                      <a:pt x="71438" y="57150"/>
                    </a:lnTo>
                    <a:close/>
                    <a:moveTo>
                      <a:pt x="128588" y="57150"/>
                    </a:moveTo>
                    <a:lnTo>
                      <a:pt x="108382" y="77356"/>
                    </a:lnTo>
                    <a:lnTo>
                      <a:pt x="131039" y="100012"/>
                    </a:lnTo>
                    <a:lnTo>
                      <a:pt x="108382" y="122669"/>
                    </a:lnTo>
                    <a:lnTo>
                      <a:pt x="128588" y="142875"/>
                    </a:lnTo>
                    <a:lnTo>
                      <a:pt x="171450" y="100012"/>
                    </a:lnTo>
                    <a:lnTo>
                      <a:pt x="128588" y="57150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797040" y="1905952"/>
                <a:ext cx="4677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技术栈</a:t>
                </a:r>
                <a:endParaRPr lang="zh-CN" sz="105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464618" y="2180749"/>
                <a:ext cx="112340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Vue3 + Vite 构建</a:t>
                </a:r>
                <a:endParaRPr lang="zh-CN" sz="97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464618" y="2418874"/>
                <a:ext cx="124041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Vant 移动端组件库</a:t>
                </a:r>
                <a:endParaRPr lang="zh-CN" sz="97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464618" y="2656999"/>
                <a:ext cx="100638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响应式 H5 适配</a:t>
                </a:r>
                <a:endParaRPr lang="zh-CN" sz="97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464618" y="2895124"/>
                <a:ext cx="10843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Axios HTTP 请求</a:t>
                </a:r>
                <a:endParaRPr lang="zh-CN" sz="97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464618" y="3133249"/>
                <a:ext cx="104539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移动端交互体验</a:t>
                </a:r>
                <a:endParaRPr lang="zh-CN" sz="97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6477000" y="3552825"/>
                <a:ext cx="2286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71450">
                    <a:moveTo>
                      <a:pt x="0" y="85725"/>
                    </a:moveTo>
                    <a:lnTo>
                      <a:pt x="43998" y="32928"/>
                    </a:lnTo>
                    <a:cubicBezTo>
                      <a:pt x="61385" y="12064"/>
                      <a:pt x="87141" y="0"/>
                      <a:pt x="114300" y="0"/>
                    </a:cubicBezTo>
                    <a:cubicBezTo>
                      <a:pt x="141459" y="0"/>
                      <a:pt x="167215" y="12064"/>
                      <a:pt x="184603" y="32928"/>
                    </a:cubicBezTo>
                    <a:lnTo>
                      <a:pt x="228600" y="85725"/>
                    </a:lnTo>
                    <a:lnTo>
                      <a:pt x="184603" y="138522"/>
                    </a:lnTo>
                    <a:cubicBezTo>
                      <a:pt x="167215" y="159387"/>
                      <a:pt x="141459" y="171450"/>
                      <a:pt x="114300" y="171450"/>
                    </a:cubicBezTo>
                    <a:cubicBezTo>
                      <a:pt x="87141" y="171450"/>
                      <a:pt x="61385" y="159387"/>
                      <a:pt x="43998" y="138522"/>
                    </a:cubicBezTo>
                    <a:lnTo>
                      <a:pt x="0" y="85725"/>
                    </a:lnTo>
                    <a:close/>
                    <a:moveTo>
                      <a:pt x="114300" y="128588"/>
                    </a:moveTo>
                    <a:cubicBezTo>
                      <a:pt x="137972" y="128588"/>
                      <a:pt x="157162" y="109397"/>
                      <a:pt x="157162" y="85725"/>
                    </a:cubicBezTo>
                    <a:cubicBezTo>
                      <a:pt x="157162" y="62053"/>
                      <a:pt x="137972" y="42862"/>
                      <a:pt x="114300" y="42862"/>
                    </a:cubicBezTo>
                    <a:cubicBezTo>
                      <a:pt x="90628" y="42862"/>
                      <a:pt x="71438" y="62053"/>
                      <a:pt x="71438" y="85725"/>
                    </a:cubicBezTo>
                    <a:cubicBezTo>
                      <a:pt x="71438" y="109397"/>
                      <a:pt x="90628" y="128588"/>
                      <a:pt x="114300" y="128588"/>
                    </a:cubicBez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6797040" y="357282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页面功能</a:t>
                </a:r>
                <a:endParaRPr lang="zh-CN" sz="105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465570" y="3855720"/>
                <a:ext cx="84496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首页房源展示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465570" y="4074795"/>
                <a:ext cx="84496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图片轮播组件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465570" y="4293870"/>
                <a:ext cx="84496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上拉加载更多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465570" y="4512945"/>
                <a:ext cx="84496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预约交互流程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491605" y="1329373"/>
                <a:ext cx="86599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tx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租客端 H5</a:t>
                </a:r>
                <a:endParaRPr lang="zh-CN" sz="1350" b="1" dirty="0">
                  <a:solidFill>
                    <a:schemeClr val="tx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53" name="Line 53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房屋租赁系统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16 / 21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5830" y="5543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软件测试</a:t>
              </a:r>
              <a:endParaRPr lang="zh-CN" sz="2100" b="1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746760" y="1280160"/>
            <a:ext cx="10683240" cy="5006340"/>
            <a:chOff x="746760" y="1280160"/>
            <a:chExt cx="10683240" cy="5006340"/>
          </a:xfrm>
        </p:grpSpPr>
        <p:grpSp>
          <p:nvGrpSpPr>
            <p:cNvPr id="16" name="Group 16"/>
            <p:cNvGrpSpPr/>
            <p:nvPr/>
          </p:nvGrpSpPr>
          <p:grpSpPr>
            <a:xfrm>
              <a:off x="746760" y="1280160"/>
              <a:ext cx="5158740" cy="2625090"/>
              <a:chOff x="746760" y="1280160"/>
              <a:chExt cx="5158740" cy="2625090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746760" y="12801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白盒测试</a:t>
                </a:r>
                <a:endParaRPr lang="zh-CN" sz="1200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" name="Rectangle 8"/>
              <p:cNvSpPr/>
              <p:nvPr/>
            </p:nvSpPr>
            <p:spPr>
              <a:xfrm>
                <a:off x="762000" y="1524000"/>
                <a:ext cx="5143500" cy="2381250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952500" y="1714500"/>
                <a:ext cx="4762500" cy="333375"/>
              </a:xfrm>
              <a:prstGeom prst="roundRect">
                <a:avLst>
                  <a:gd name="adj" fmla="val 17143"/>
                </a:avLst>
              </a:prstGeom>
              <a:solidFill>
                <a:srgbClr val="E8F5E9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2519330" y="1828324"/>
                <a:ext cx="16288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2E7D3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JUnit + Mockito 单元测试</a:t>
                </a:r>
                <a:endParaRPr lang="zh-CN" sz="975" b="1" dirty="0">
                  <a:solidFill>
                    <a:srgbClr val="2E7D3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41070" y="2188845"/>
                <a:ext cx="146904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覆盖核心 Service 层方法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41070" y="2426970"/>
                <a:ext cx="19851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分支覆盖：if-else / switch-case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41070" y="2665095"/>
                <a:ext cx="18230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边界值：字符串长度 / 数值范围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41070" y="2903220"/>
                <a:ext cx="15830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循环覆盖：正常 / 异常退出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41070" y="3141345"/>
                <a:ext cx="196710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Mock 外部依赖（数据库 / Redis）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271260" y="1280160"/>
              <a:ext cx="5158740" cy="2625090"/>
              <a:chOff x="6271260" y="1280160"/>
              <a:chExt cx="5158740" cy="2625090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6271260" y="12801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黑盒测试</a:t>
                </a:r>
                <a:endParaRPr lang="zh-CN" sz="1200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6286500" y="1524000"/>
                <a:ext cx="5143500" cy="2381250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6477000" y="1714500"/>
                <a:ext cx="4762500" cy="333375"/>
              </a:xfrm>
              <a:prstGeom prst="roundRect">
                <a:avLst>
                  <a:gd name="adj" fmla="val 17143"/>
                </a:avLst>
              </a:prstGeom>
              <a:solidFill>
                <a:srgbClr val="E3F2FD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084785" y="1828324"/>
                <a:ext cx="15469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等价类划分 + 边界值分析</a:t>
                </a:r>
                <a:endParaRPr lang="zh-CN" sz="975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465570" y="2188845"/>
                <a:ext cx="18230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前端页面测试：租金筛选 / 搜索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465570" y="2426970"/>
                <a:ext cx="184708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接口测试：CRUD / 预约状态迁移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465570" y="2665095"/>
                <a:ext cx="188309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业务流程：找房→预约→看房→签约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465570" y="2903220"/>
                <a:ext cx="170307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异常场景：无权限 / 参数缺失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465570" y="3141345"/>
                <a:ext cx="16670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兼容性测试：Chrome / Edge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746760" y="4042410"/>
              <a:ext cx="10683240" cy="2244090"/>
              <a:chOff x="746760" y="4042410"/>
              <a:chExt cx="10683240" cy="224409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46760" y="40424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测试策略</a:t>
                </a:r>
                <a:endParaRPr lang="zh-CN" sz="1200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762000" y="4286250"/>
                <a:ext cx="10668000" cy="2000250"/>
              </a:xfrm>
              <a:prstGeom prst="roundRect">
                <a:avLst>
                  <a:gd name="adj" fmla="val 4762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952500" y="4476750"/>
                <a:ext cx="238125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789450" y="4638199"/>
                <a:ext cx="7073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单元测试层</a:t>
                </a:r>
                <a:endParaRPr lang="zh-CN" sz="975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643086" y="4911566"/>
                <a:ext cx="100007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Service 方法级验证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764101" y="5073491"/>
                <a:ext cx="75804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Mock 外部依赖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3524250" y="4476750"/>
                <a:ext cx="238125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4361200" y="4638199"/>
                <a:ext cx="7073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接口测试层</a:t>
                </a:r>
                <a:endParaRPr lang="zh-CN" sz="975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250591" y="4911566"/>
                <a:ext cx="92856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API 请求/响应验证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289096" y="5073491"/>
                <a:ext cx="85155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状态码/数据验证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6096000" y="4476750"/>
                <a:ext cx="238125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932950" y="4638199"/>
                <a:ext cx="7073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集成测试层</a:t>
                </a:r>
                <a:endParaRPr lang="zh-CN" sz="975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891099" y="4911566"/>
                <a:ext cx="79105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端到端业务流程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001113" y="5073491"/>
                <a:ext cx="57102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前后端联调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8667750" y="4476750"/>
                <a:ext cx="2571750" cy="762000"/>
              </a:xfrm>
              <a:prstGeom prst="roundRect">
                <a:avLst>
                  <a:gd name="adj" fmla="val 1000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9599950" y="4638199"/>
                <a:ext cx="7073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验收测试层</a:t>
                </a:r>
                <a:endParaRPr lang="zh-CN" sz="975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558099" y="4911566"/>
                <a:ext cx="79105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需求覆盖度检查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9659862" y="5073491"/>
                <a:ext cx="58752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UI 走查评审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0" name="Group 50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47" name="Line 47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房屋租赁系统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17 / 21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97B">
                  <a:alpha val="4000"/>
                </a:srgbClr>
              </a:gs>
              <a:gs pos="100000">
                <a:srgbClr val="00897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4" name="Rectangle 4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25830" y="554355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项目管理</a:t>
              </a:r>
              <a:endParaRPr lang="zh-CN" sz="2100" b="1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762000" y="1238250"/>
            <a:ext cx="10668000" cy="4857750"/>
            <a:chOff x="762000" y="1238250"/>
            <a:chExt cx="10668000" cy="4857750"/>
          </a:xfrm>
        </p:grpSpPr>
        <p:grpSp>
          <p:nvGrpSpPr>
            <p:cNvPr id="10" name="Group 10"/>
            <p:cNvGrpSpPr/>
            <p:nvPr/>
          </p:nvGrpSpPr>
          <p:grpSpPr>
            <a:xfrm>
              <a:off x="762000" y="1238250"/>
              <a:ext cx="7239000" cy="4857750"/>
              <a:chOff x="762000" y="1238250"/>
              <a:chExt cx="7239000" cy="48577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762000" y="1238250"/>
                <a:ext cx="7239000" cy="4857750"/>
              </a:xfrm>
              <a:prstGeom prst="roundRect">
                <a:avLst>
                  <a:gd name="adj" fmla="val 2353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pic>
            <p:nvPicPr>
              <p:cNvPr id="9" name="Image 9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904875" y="1493550"/>
                <a:ext cx="6953250" cy="4347150"/>
              </a:xfrm>
              <a:prstGeom prst="rect">
                <a:avLst/>
              </a:prstGeom>
            </p:spPr>
          </p:pic>
        </p:grpSp>
        <p:grpSp>
          <p:nvGrpSpPr>
            <p:cNvPr id="18" name="Group 18"/>
            <p:cNvGrpSpPr/>
            <p:nvPr/>
          </p:nvGrpSpPr>
          <p:grpSpPr>
            <a:xfrm>
              <a:off x="8191500" y="1238250"/>
              <a:ext cx="3238500" cy="2286000"/>
              <a:chOff x="8191500" y="1238250"/>
              <a:chExt cx="3238500" cy="22860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8191500" y="1238250"/>
                <a:ext cx="3238500" cy="22860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366760" y="13944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开发周期</a:t>
                </a:r>
                <a:endParaRPr lang="zh-CN" sz="1200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8382000" y="1762125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133350" y="266700"/>
                    </a:moveTo>
                    <a:cubicBezTo>
                      <a:pt x="206998" y="266700"/>
                      <a:pt x="266700" y="206998"/>
                      <a:pt x="266700" y="133350"/>
                    </a:cubicBezTo>
                    <a:cubicBezTo>
                      <a:pt x="266700" y="59703"/>
                      <a:pt x="206998" y="0"/>
                      <a:pt x="133350" y="0"/>
                    </a:cubicBezTo>
                    <a:cubicBezTo>
                      <a:pt x="59703" y="0"/>
                      <a:pt x="0" y="59703"/>
                      <a:pt x="0" y="133350"/>
                    </a:cubicBezTo>
                    <a:cubicBezTo>
                      <a:pt x="0" y="206998"/>
                      <a:pt x="59703" y="266700"/>
                      <a:pt x="133350" y="266700"/>
                    </a:cubicBezTo>
                    <a:close/>
                    <a:moveTo>
                      <a:pt x="116681" y="50006"/>
                    </a:moveTo>
                    <a:lnTo>
                      <a:pt x="116681" y="140254"/>
                    </a:lnTo>
                    <a:lnTo>
                      <a:pt x="171570" y="195143"/>
                    </a:lnTo>
                    <a:lnTo>
                      <a:pt x="195143" y="171570"/>
                    </a:lnTo>
                    <a:lnTo>
                      <a:pt x="150019" y="126446"/>
                    </a:lnTo>
                    <a:lnTo>
                      <a:pt x="150019" y="50006"/>
                    </a:lnTo>
                    <a:lnTo>
                      <a:pt x="116681" y="50006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694420" y="1774508"/>
                <a:ext cx="596379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14 周</a:t>
                </a:r>
                <a:endParaRPr lang="zh-CN" sz="165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370570" y="2141220"/>
                <a:ext cx="14630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增量迭代模型，分阶段交付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370570" y="2379345"/>
                <a:ext cx="1257300" cy="1384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需求→设计→编码→测试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370570" y="2617470"/>
                <a:ext cx="13430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每个增量形成可运行版本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8191500" y="3762375"/>
              <a:ext cx="3238500" cy="2333625"/>
              <a:chOff x="8191500" y="3762375"/>
              <a:chExt cx="3238500" cy="2333625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8191500" y="3762375"/>
                <a:ext cx="3238500" cy="2333625"/>
              </a:xfrm>
              <a:prstGeom prst="roundRect">
                <a:avLst>
                  <a:gd name="adj" fmla="val 4898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368665" y="3915728"/>
                <a:ext cx="533400" cy="161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产品报价</a:t>
                </a:r>
                <a:endParaRPr lang="zh-CN" sz="1050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370570" y="4236720"/>
                <a:ext cx="1417955" cy="1384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</a:t>
                </a:r>
                <a:r>
                  <a:rPr lang="zh-CN" altLang="en-US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需求分析与设计</a:t>
                </a:r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：</a:t>
                </a:r>
                <a:r>
                  <a:rPr lang="en-US" alt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8,000 </a:t>
                </a:r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元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370570" y="4474845"/>
                <a:ext cx="1138555" cy="1384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</a:t>
                </a:r>
                <a:r>
                  <a:rPr lang="zh-CN" altLang="en-US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后端开发</a:t>
                </a:r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：</a:t>
                </a:r>
                <a:r>
                  <a:rPr lang="en-US" alt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18,000</a:t>
                </a:r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 元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370570" y="4712970"/>
                <a:ext cx="1138555" cy="1384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</a:t>
                </a:r>
                <a:r>
                  <a:rPr lang="zh-CN" altLang="en-US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前端开发</a:t>
                </a:r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：</a:t>
                </a:r>
                <a:r>
                  <a:rPr lang="en-US" alt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20,000 </a:t>
                </a:r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元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28" name="Line 28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房屋租赁系统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18 / 21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2" name="TextBox 23"/>
          <p:cNvSpPr txBox="1"/>
          <p:nvPr/>
        </p:nvSpPr>
        <p:spPr>
          <a:xfrm>
            <a:off x="8370570" y="4949190"/>
            <a:ext cx="1189355" cy="1384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• </a:t>
            </a:r>
            <a:r>
              <a:rPr lang="zh-CN" altLang="en-US" sz="900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测试与部署</a:t>
            </a:r>
            <a:r>
              <a:rPr lang="zh-CN" sz="900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：</a:t>
            </a:r>
            <a:r>
              <a:rPr lang="en-US" altLang="zh-CN" sz="900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6,000</a:t>
            </a:r>
            <a:r>
              <a:rPr lang="zh-CN" sz="900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元</a:t>
            </a:r>
            <a:endParaRPr lang="zh-CN" sz="900" dirty="0">
              <a:solidFill>
                <a:srgbClr val="1D1D1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TextBox 23"/>
          <p:cNvSpPr txBox="1"/>
          <p:nvPr/>
        </p:nvSpPr>
        <p:spPr>
          <a:xfrm>
            <a:off x="8366760" y="5429250"/>
            <a:ext cx="1367155" cy="1384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• </a:t>
            </a:r>
            <a:r>
              <a:rPr lang="zh-CN" altLang="en-US" sz="900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合计</a:t>
            </a:r>
            <a:r>
              <a:rPr lang="zh-CN" sz="900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：</a:t>
            </a:r>
            <a:r>
              <a:rPr lang="en-US" altLang="zh-CN" sz="900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56,000</a:t>
            </a:r>
            <a:r>
              <a:rPr lang="zh-CN" sz="900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元（本地）</a:t>
            </a:r>
            <a:endParaRPr lang="zh-CN" sz="900" dirty="0">
              <a:solidFill>
                <a:srgbClr val="1D1D1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TextBox 23"/>
          <p:cNvSpPr txBox="1"/>
          <p:nvPr/>
        </p:nvSpPr>
        <p:spPr>
          <a:xfrm>
            <a:off x="8382000" y="5189220"/>
            <a:ext cx="1189355" cy="1384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• </a:t>
            </a:r>
            <a:r>
              <a:rPr lang="zh-CN" altLang="en-US" sz="900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文档与培训</a:t>
            </a:r>
            <a:r>
              <a:rPr lang="zh-CN" sz="900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：</a:t>
            </a:r>
            <a:r>
              <a:rPr lang="en-US" altLang="zh-CN" sz="900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4,000</a:t>
            </a:r>
            <a:r>
              <a:rPr lang="zh-CN" sz="900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元</a:t>
            </a:r>
            <a:endParaRPr lang="zh-CN" sz="900" dirty="0">
              <a:solidFill>
                <a:srgbClr val="1D1D1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3" name="Rectangle 3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5830" y="554355"/>
              <a:ext cx="269967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成员职责与配置管理</a:t>
              </a:r>
              <a:endParaRPr lang="zh-CN" sz="2100" b="1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746760" y="1238250"/>
            <a:ext cx="10683240" cy="4286250"/>
            <a:chOff x="746760" y="1238250"/>
            <a:chExt cx="10683240" cy="4286250"/>
          </a:xfrm>
        </p:grpSpPr>
        <p:grpSp>
          <p:nvGrpSpPr>
            <p:cNvPr id="30" name="Group 30"/>
            <p:cNvGrpSpPr/>
            <p:nvPr/>
          </p:nvGrpSpPr>
          <p:grpSpPr>
            <a:xfrm>
              <a:off x="746760" y="1238250"/>
              <a:ext cx="3253740" cy="4286250"/>
              <a:chOff x="746760" y="1238250"/>
              <a:chExt cx="3253740" cy="4286250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746760" y="12992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成员分工</a:t>
                </a:r>
                <a:endParaRPr lang="zh-CN" sz="1200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" name="Rectangle 8"/>
              <p:cNvSpPr/>
              <p:nvPr/>
            </p:nvSpPr>
            <p:spPr>
              <a:xfrm>
                <a:off x="762000" y="1571625"/>
                <a:ext cx="3238500" cy="1905000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762000" y="1238250"/>
                <a:ext cx="3238500" cy="438150"/>
              </a:xfrm>
              <a:prstGeom prst="roundRect">
                <a:avLst>
                  <a:gd name="adj" fmla="val 26087"/>
                </a:avLst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762000" y="1457325"/>
                <a:ext cx="3238500" cy="219075"/>
              </a:xfrm>
              <a:prstGeom prst="rect">
                <a:avLst/>
              </a:prstGeom>
              <a:solidFill>
                <a:srgbClr val="00897B"/>
              </a:solidFill>
              <a:ln>
                <a:noFill/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985838" y="1874044"/>
                <a:ext cx="200025" cy="233362"/>
                <a:chOff x="985838" y="1874044"/>
                <a:chExt cx="200025" cy="233362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1035844" y="1874044"/>
                  <a:ext cx="100012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00012">
                      <a:moveTo>
                        <a:pt x="50006" y="100012"/>
                      </a:moveTo>
                      <a:cubicBezTo>
                        <a:pt x="77624" y="100012"/>
                        <a:pt x="100012" y="77624"/>
                        <a:pt x="100012" y="50006"/>
                      </a:cubicBezTo>
                      <a:cubicBezTo>
                        <a:pt x="100012" y="22389"/>
                        <a:pt x="77624" y="0"/>
                        <a:pt x="50006" y="0"/>
                      </a:cubicBezTo>
                      <a:cubicBezTo>
                        <a:pt x="22389" y="0"/>
                        <a:pt x="0" y="22389"/>
                        <a:pt x="0" y="50006"/>
                      </a:cubicBezTo>
                      <a:cubicBezTo>
                        <a:pt x="0" y="77624"/>
                        <a:pt x="22389" y="100012"/>
                        <a:pt x="50006" y="100012"/>
                      </a:cubicBez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985838" y="2007394"/>
                  <a:ext cx="20002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00012">
                      <a:moveTo>
                        <a:pt x="200025" y="50006"/>
                      </a:moveTo>
                      <a:cubicBezTo>
                        <a:pt x="200025" y="22388"/>
                        <a:pt x="177637" y="0"/>
                        <a:pt x="150019" y="0"/>
                      </a:cubicBezTo>
                      <a:lnTo>
                        <a:pt x="50006" y="0"/>
                      </a:lnTo>
                      <a:cubicBezTo>
                        <a:pt x="22389" y="0"/>
                        <a:pt x="0" y="22388"/>
                        <a:pt x="0" y="50006"/>
                      </a:cubicBezTo>
                      <a:lnTo>
                        <a:pt x="0" y="100012"/>
                      </a:lnTo>
                      <a:lnTo>
                        <a:pt x="200025" y="100012"/>
                      </a:lnTo>
                      <a:lnTo>
                        <a:pt x="200025" y="50006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268730" y="1902142"/>
                <a:ext cx="139526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戴晨威（Lead）</a:t>
                </a:r>
                <a:endParaRPr lang="zh-CN" sz="135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40118" y="2228374"/>
                <a:ext cx="163696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后端开发（Spring Boot）</a:t>
                </a:r>
                <a:endParaRPr lang="zh-CN" sz="97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40118" y="2466499"/>
                <a:ext cx="117540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数据库设计与实现</a:t>
                </a:r>
                <a:endParaRPr lang="zh-CN" sz="97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40118" y="2704624"/>
                <a:ext cx="13444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本地部署（Docker）</a:t>
                </a:r>
                <a:endParaRPr lang="zh-CN" sz="97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40118" y="2942749"/>
                <a:ext cx="104539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测试策略与执行</a:t>
                </a:r>
                <a:endParaRPr lang="zh-CN" sz="97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762000" y="3619500"/>
                <a:ext cx="3238500" cy="1905000"/>
              </a:xfrm>
              <a:prstGeom prst="roundRect">
                <a:avLst>
                  <a:gd name="adj" fmla="val 600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762000" y="1238250"/>
                <a:ext cx="3238500" cy="438150"/>
              </a:xfrm>
              <a:prstGeom prst="roundRect">
                <a:avLst>
                  <a:gd name="adj" fmla="val 26087"/>
                </a:avLst>
              </a:prstGeom>
              <a:solidFill>
                <a:srgbClr val="4DB6AC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762000" y="1457325"/>
                <a:ext cx="3238500" cy="219075"/>
              </a:xfrm>
              <a:prstGeom prst="rect">
                <a:avLst/>
              </a:prstGeom>
              <a:solidFill>
                <a:srgbClr val="4DB6AC"/>
              </a:solidFill>
              <a:ln>
                <a:noFill/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985838" y="3807619"/>
                <a:ext cx="200025" cy="233362"/>
                <a:chOff x="985838" y="3807619"/>
                <a:chExt cx="200025" cy="233362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1035844" y="3807619"/>
                  <a:ext cx="100012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00012">
                      <a:moveTo>
                        <a:pt x="50006" y="100012"/>
                      </a:moveTo>
                      <a:cubicBezTo>
                        <a:pt x="77624" y="100012"/>
                        <a:pt x="100012" y="77624"/>
                        <a:pt x="100012" y="50006"/>
                      </a:cubicBezTo>
                      <a:cubicBezTo>
                        <a:pt x="100012" y="22389"/>
                        <a:pt x="77624" y="0"/>
                        <a:pt x="50006" y="0"/>
                      </a:cubicBezTo>
                      <a:cubicBezTo>
                        <a:pt x="22389" y="0"/>
                        <a:pt x="0" y="22389"/>
                        <a:pt x="0" y="50006"/>
                      </a:cubicBezTo>
                      <a:cubicBezTo>
                        <a:pt x="0" y="77624"/>
                        <a:pt x="22389" y="100012"/>
                        <a:pt x="50006" y="100012"/>
                      </a:cubicBez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985838" y="3940969"/>
                  <a:ext cx="20002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00012">
                      <a:moveTo>
                        <a:pt x="200025" y="50006"/>
                      </a:moveTo>
                      <a:cubicBezTo>
                        <a:pt x="200025" y="22388"/>
                        <a:pt x="177637" y="0"/>
                        <a:pt x="150019" y="0"/>
                      </a:cubicBezTo>
                      <a:lnTo>
                        <a:pt x="50006" y="0"/>
                      </a:lnTo>
                      <a:cubicBezTo>
                        <a:pt x="22389" y="0"/>
                        <a:pt x="0" y="22388"/>
                        <a:pt x="0" y="50006"/>
                      </a:cubicBezTo>
                      <a:lnTo>
                        <a:pt x="0" y="100012"/>
                      </a:lnTo>
                      <a:lnTo>
                        <a:pt x="200025" y="100012"/>
                      </a:lnTo>
                      <a:lnTo>
                        <a:pt x="200025" y="50006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</p:grpSp>
          <p:sp>
            <p:nvSpPr>
              <p:cNvPr id="25" name="TextBox 25"/>
              <p:cNvSpPr txBox="1"/>
              <p:nvPr/>
            </p:nvSpPr>
            <p:spPr>
              <a:xfrm>
                <a:off x="1268730" y="3835718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黄裔</a:t>
                </a:r>
                <a:endParaRPr lang="zh-CN" sz="135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40118" y="4161949"/>
                <a:ext cx="120141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前端开发（Vue3）</a:t>
                </a:r>
                <a:endParaRPr lang="zh-CN" sz="97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40118" y="4400074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UI 设计与实现</a:t>
                </a:r>
                <a:endParaRPr lang="zh-CN" sz="97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40118" y="4638199"/>
                <a:ext cx="9153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需求文档撰写</a:t>
                </a:r>
                <a:endParaRPr lang="zh-CN" sz="97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40118" y="4876324"/>
                <a:ext cx="9153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汇报材料准备</a:t>
                </a:r>
                <a:endParaRPr lang="zh-CN" sz="975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4366260" y="1299210"/>
              <a:ext cx="7063740" cy="3129915"/>
              <a:chOff x="4366260" y="1299210"/>
              <a:chExt cx="7063740" cy="3129915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4366260" y="12992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配置管理</a:t>
                </a:r>
                <a:endParaRPr lang="zh-CN" sz="1200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4381500" y="1571625"/>
                <a:ext cx="7048500" cy="2857500"/>
              </a:xfrm>
              <a:prstGeom prst="roundRect">
                <a:avLst>
                  <a:gd name="adj" fmla="val 3333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pic>
            <p:nvPicPr>
              <p:cNvPr id="33" name="Image 33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5847278" y="1714500"/>
                <a:ext cx="4116943" cy="2571750"/>
              </a:xfrm>
              <a:prstGeom prst="rect">
                <a:avLst/>
              </a:prstGeom>
            </p:spPr>
          </p:pic>
        </p:grpSp>
        <p:grpSp>
          <p:nvGrpSpPr>
            <p:cNvPr id="40" name="Group 40"/>
            <p:cNvGrpSpPr/>
            <p:nvPr/>
          </p:nvGrpSpPr>
          <p:grpSpPr>
            <a:xfrm>
              <a:off x="4381500" y="4333875"/>
              <a:ext cx="7048500" cy="1143000"/>
              <a:chOff x="4381500" y="4333875"/>
              <a:chExt cx="7048500" cy="11430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4381500" y="4333875"/>
                <a:ext cx="7048500" cy="11430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4586288" y="4557712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200025" y="0"/>
                    </a:moveTo>
                    <a:lnTo>
                      <a:pt x="0" y="0"/>
                    </a:lnTo>
                    <a:lnTo>
                      <a:pt x="0" y="200025"/>
                    </a:lnTo>
                    <a:lnTo>
                      <a:pt x="200025" y="200025"/>
                    </a:lnTo>
                    <a:lnTo>
                      <a:pt x="200025" y="0"/>
                    </a:lnTo>
                    <a:close/>
                    <a:moveTo>
                      <a:pt x="71438" y="57150"/>
                    </a:moveTo>
                    <a:lnTo>
                      <a:pt x="91643" y="77356"/>
                    </a:lnTo>
                    <a:lnTo>
                      <a:pt x="68986" y="100012"/>
                    </a:lnTo>
                    <a:lnTo>
                      <a:pt x="91643" y="122669"/>
                    </a:lnTo>
                    <a:lnTo>
                      <a:pt x="71438" y="142875"/>
                    </a:lnTo>
                    <a:lnTo>
                      <a:pt x="28575" y="100012"/>
                    </a:lnTo>
                    <a:lnTo>
                      <a:pt x="71438" y="57150"/>
                    </a:lnTo>
                    <a:close/>
                    <a:moveTo>
                      <a:pt x="128588" y="57150"/>
                    </a:moveTo>
                    <a:lnTo>
                      <a:pt x="108382" y="77356"/>
                    </a:lnTo>
                    <a:lnTo>
                      <a:pt x="131039" y="100012"/>
                    </a:lnTo>
                    <a:lnTo>
                      <a:pt x="108382" y="122669"/>
                    </a:lnTo>
                    <a:lnTo>
                      <a:pt x="128588" y="142875"/>
                    </a:lnTo>
                    <a:lnTo>
                      <a:pt x="171450" y="100012"/>
                    </a:lnTo>
                    <a:lnTo>
                      <a:pt x="128588" y="57150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4891088" y="4574381"/>
                <a:ext cx="92643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Git 管理规范</a:t>
                </a:r>
                <a:endParaRPr lang="zh-CN" sz="1125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560570" y="4855845"/>
                <a:ext cx="257317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按功能创建分支，Merge Request 合入主分支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560570" y="5074920"/>
                <a:ext cx="272319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D1D1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feat / fix / docs / test / chore 提交信息规范</a:t>
                </a:r>
                <a:endParaRPr lang="zh-CN" sz="900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45" name="Group 45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42" name="Line 42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房屋租赁系统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19 / 21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97B">
                  <a:alpha val="6000"/>
                </a:srgbClr>
              </a:gs>
              <a:gs pos="100000">
                <a:srgbClr val="00897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62000" y="533400"/>
            <a:ext cx="10668000" cy="476250"/>
            <a:chOff x="762000" y="533400"/>
            <a:chExt cx="10668000" cy="476250"/>
          </a:xfrm>
        </p:grpSpPr>
        <p:sp>
          <p:nvSpPr>
            <p:cNvPr id="4" name="Rectangle 4"/>
            <p:cNvSpPr/>
            <p:nvPr/>
          </p:nvSpPr>
          <p:spPr>
            <a:xfrm>
              <a:off x="762000" y="533400"/>
              <a:ext cx="38100" cy="3238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25830" y="554355"/>
              <a:ext cx="269967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D1D1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系统亮点与后续扩展</a:t>
              </a:r>
              <a:endParaRPr lang="zh-CN" sz="2100" b="1" dirty="0">
                <a:solidFill>
                  <a:srgbClr val="1D1D1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10001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E5E7EB"/>
              </a:solidFill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746760" y="1238250"/>
            <a:ext cx="10683240" cy="5048250"/>
            <a:chOff x="746760" y="1238250"/>
            <a:chExt cx="10683240" cy="5048250"/>
          </a:xfrm>
        </p:grpSpPr>
        <p:grpSp>
          <p:nvGrpSpPr>
            <p:cNvPr id="19" name="Group 19"/>
            <p:cNvGrpSpPr/>
            <p:nvPr/>
          </p:nvGrpSpPr>
          <p:grpSpPr>
            <a:xfrm>
              <a:off x="762000" y="1238250"/>
              <a:ext cx="5143500" cy="2619375"/>
              <a:chOff x="762000" y="1238250"/>
              <a:chExt cx="5143500" cy="2619375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62000" y="1571625"/>
                <a:ext cx="5143500" cy="2286000"/>
              </a:xfrm>
              <a:prstGeom prst="roundRect">
                <a:avLst>
                  <a:gd name="adj" fmla="val 5000"/>
                </a:avLst>
              </a:prstGeom>
              <a:solidFill>
                <a:srgbClr val="FFFFFF"/>
              </a:solidFill>
              <a:ln w="9525">
                <a:solidFill>
                  <a:srgbClr val="E5E7EB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762000" y="1238250"/>
                <a:ext cx="5143500" cy="438150"/>
              </a:xfrm>
              <a:prstGeom prst="roundRect">
                <a:avLst>
                  <a:gd name="adj" fmla="val 26087"/>
                </a:avLst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762000" y="1457325"/>
                <a:ext cx="5143500" cy="219075"/>
              </a:xfrm>
              <a:prstGeom prst="rect">
                <a:avLst/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977265" y="1772602"/>
                <a:ext cx="118076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双方法需求分析</a:t>
                </a:r>
                <a:endParaRPr lang="zh-CN" sz="105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79170" y="2017395"/>
                <a:ext cx="207511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结构化 DFD + 面向对象用例图同时覆盖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77265" y="2286952"/>
                <a:ext cx="147480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前后端分离完整实现</a:t>
                </a:r>
                <a:endParaRPr lang="zh-CN" sz="105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79170" y="2531745"/>
                <a:ext cx="26271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管理端 Element Plus + 租客端 Vant H5 双端覆盖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77265" y="2801302"/>
                <a:ext cx="147480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• 完整测试与管理闭环</a:t>
                </a:r>
                <a:endParaRPr lang="zh-CN" sz="105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79170" y="3046095"/>
                <a:ext cx="227314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白盒 + 黑盒 + Git 分支管理 + Docker 部署</a:t>
                </a:r>
                <a:endParaRPr lang="zh-CN" sz="9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5334000" y="1733550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314103" y="112362"/>
                    </a:moveTo>
                    <a:cubicBezTo>
                      <a:pt x="331634" y="126092"/>
                      <a:pt x="342900" y="147456"/>
                      <a:pt x="342900" y="171450"/>
                    </a:cubicBezTo>
                    <a:cubicBezTo>
                      <a:pt x="342900" y="195445"/>
                      <a:pt x="331634" y="216809"/>
                      <a:pt x="314101" y="230540"/>
                    </a:cubicBezTo>
                    <a:cubicBezTo>
                      <a:pt x="316788" y="252644"/>
                      <a:pt x="309649" y="275717"/>
                      <a:pt x="292682" y="292684"/>
                    </a:cubicBezTo>
                    <a:cubicBezTo>
                      <a:pt x="275715" y="309652"/>
                      <a:pt x="252642" y="316790"/>
                      <a:pt x="230538" y="314103"/>
                    </a:cubicBezTo>
                    <a:cubicBezTo>
                      <a:pt x="216807" y="331634"/>
                      <a:pt x="195444" y="342900"/>
                      <a:pt x="171450" y="342900"/>
                    </a:cubicBezTo>
                    <a:cubicBezTo>
                      <a:pt x="147455" y="342900"/>
                      <a:pt x="126092" y="331634"/>
                      <a:pt x="112361" y="314101"/>
                    </a:cubicBezTo>
                    <a:cubicBezTo>
                      <a:pt x="90256" y="316790"/>
                      <a:pt x="67183" y="309649"/>
                      <a:pt x="50216" y="292682"/>
                    </a:cubicBezTo>
                    <a:cubicBezTo>
                      <a:pt x="33249" y="275717"/>
                      <a:pt x="26110" y="252644"/>
                      <a:pt x="28798" y="230538"/>
                    </a:cubicBezTo>
                    <a:cubicBezTo>
                      <a:pt x="11266" y="216807"/>
                      <a:pt x="0" y="195444"/>
                      <a:pt x="0" y="171450"/>
                    </a:cubicBezTo>
                    <a:cubicBezTo>
                      <a:pt x="0" y="147455"/>
                      <a:pt x="11267" y="126092"/>
                      <a:pt x="28798" y="112361"/>
                    </a:cubicBezTo>
                    <a:cubicBezTo>
                      <a:pt x="26111" y="90256"/>
                      <a:pt x="33250" y="67183"/>
                      <a:pt x="50217" y="50216"/>
                    </a:cubicBezTo>
                    <a:cubicBezTo>
                      <a:pt x="67184" y="33249"/>
                      <a:pt x="90257" y="26110"/>
                      <a:pt x="112362" y="28798"/>
                    </a:cubicBezTo>
                    <a:cubicBezTo>
                      <a:pt x="126092" y="11266"/>
                      <a:pt x="147456" y="0"/>
                      <a:pt x="171450" y="0"/>
                    </a:cubicBezTo>
                    <a:cubicBezTo>
                      <a:pt x="195445" y="0"/>
                      <a:pt x="216809" y="11267"/>
                      <a:pt x="230540" y="28799"/>
                    </a:cubicBezTo>
                    <a:cubicBezTo>
                      <a:pt x="252644" y="26111"/>
                      <a:pt x="275717" y="33251"/>
                      <a:pt x="292684" y="50218"/>
                    </a:cubicBezTo>
                    <a:cubicBezTo>
                      <a:pt x="309652" y="67184"/>
                      <a:pt x="316790" y="90257"/>
                      <a:pt x="314103" y="112362"/>
                    </a:cubicBezTo>
                    <a:close/>
                    <a:moveTo>
                      <a:pt x="261613" y="133026"/>
                    </a:moveTo>
                    <a:lnTo>
                      <a:pt x="231305" y="102718"/>
                    </a:lnTo>
                    <a:lnTo>
                      <a:pt x="150019" y="184004"/>
                    </a:lnTo>
                    <a:lnTo>
                      <a:pt x="111595" y="145580"/>
                    </a:lnTo>
                    <a:lnTo>
                      <a:pt x="81286" y="175889"/>
                    </a:lnTo>
                    <a:lnTo>
                      <a:pt x="150019" y="244621"/>
                    </a:lnTo>
                    <a:lnTo>
                      <a:pt x="261613" y="133026"/>
                    </a:lnTo>
                    <a:close/>
                  </a:path>
                </a:pathLst>
              </a:custGeom>
              <a:solidFill>
                <a:srgbClr val="4DB6AC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977265" y="131984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tx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项目亮点</a:t>
                </a:r>
                <a:endParaRPr lang="zh-CN" sz="1350" b="1" dirty="0">
                  <a:solidFill>
                    <a:schemeClr val="tx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269355" y="1283018"/>
              <a:ext cx="5160645" cy="2574607"/>
              <a:chOff x="6269355" y="1283018"/>
              <a:chExt cx="5160645" cy="2574607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6269355" y="128301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后续扩展方向</a:t>
                </a:r>
                <a:endParaRPr lang="zh-CN" sz="1350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6286500" y="1571625"/>
                <a:ext cx="5143500" cy="2286000"/>
              </a:xfrm>
              <a:prstGeom prst="roundRect">
                <a:avLst>
                  <a:gd name="adj" fmla="val 5000"/>
                </a:avLst>
              </a:prstGeom>
              <a:solidFill>
                <a:srgbClr val="F0F7F4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6477000" y="1762125"/>
                <a:ext cx="2190750" cy="857250"/>
              </a:xfrm>
              <a:prstGeom prst="roundRect">
                <a:avLst>
                  <a:gd name="adj" fmla="val 8889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6619875" y="1938338"/>
                <a:ext cx="266700" cy="200024"/>
                <a:chOff x="6619875" y="1938338"/>
                <a:chExt cx="266700" cy="200024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6619875" y="1938338"/>
                  <a:ext cx="266700" cy="50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50006">
                      <a:moveTo>
                        <a:pt x="266700" y="0"/>
                      </a:moveTo>
                      <a:lnTo>
                        <a:pt x="0" y="0"/>
                      </a:lnTo>
                      <a:lnTo>
                        <a:pt x="0" y="50006"/>
                      </a:lnTo>
                      <a:lnTo>
                        <a:pt x="266700" y="50006"/>
                      </a:lnTo>
                      <a:lnTo>
                        <a:pt x="266700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6619875" y="2021681"/>
                  <a:ext cx="266700" cy="116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116681">
                      <a:moveTo>
                        <a:pt x="266700" y="0"/>
                      </a:moveTo>
                      <a:lnTo>
                        <a:pt x="0" y="0"/>
                      </a:lnTo>
                      <a:lnTo>
                        <a:pt x="0" y="116681"/>
                      </a:lnTo>
                      <a:lnTo>
                        <a:pt x="266700" y="116681"/>
                      </a:lnTo>
                      <a:lnTo>
                        <a:pt x="266700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6939915" y="19631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在线支付</a:t>
                </a:r>
                <a:endParaRPr lang="zh-CN" sz="105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609398" y="2244566"/>
                <a:ext cx="85155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微信/支付宝对接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609398" y="2406491"/>
                <a:ext cx="46101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自动对账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8858250" y="1762125"/>
                <a:ext cx="2381250" cy="857250"/>
              </a:xfrm>
              <a:prstGeom prst="roundRect">
                <a:avLst>
                  <a:gd name="adj" fmla="val 8889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9034462" y="1905000"/>
                <a:ext cx="200026" cy="266700"/>
                <a:chOff x="9034462" y="1905000"/>
                <a:chExt cx="200026" cy="26670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9034462" y="1905000"/>
                  <a:ext cx="200025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66700">
                      <a:moveTo>
                        <a:pt x="83344" y="0"/>
                      </a:moveTo>
                      <a:lnTo>
                        <a:pt x="0" y="0"/>
                      </a:lnTo>
                      <a:lnTo>
                        <a:pt x="0" y="266700"/>
                      </a:lnTo>
                      <a:lnTo>
                        <a:pt x="200025" y="266700"/>
                      </a:lnTo>
                      <a:lnTo>
                        <a:pt x="200025" y="116681"/>
                      </a:lnTo>
                      <a:lnTo>
                        <a:pt x="83344" y="116681"/>
                      </a:lnTo>
                      <a:lnTo>
                        <a:pt x="83344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9151144" y="1905000"/>
                  <a:ext cx="83344" cy="83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344" h="83344">
                      <a:moveTo>
                        <a:pt x="0" y="0"/>
                      </a:moveTo>
                      <a:lnTo>
                        <a:pt x="0" y="83344"/>
                      </a:lnTo>
                      <a:lnTo>
                        <a:pt x="83344" y="8334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897B"/>
                </a:solidFill>
                <a:ln>
                  <a:noFill/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9321165" y="19631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电子合同</a:t>
                </a:r>
                <a:endParaRPr lang="zh-CN" sz="105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990648" y="2244566"/>
                <a:ext cx="102758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在线签署 + 法律效力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990648" y="2406491"/>
                <a:ext cx="46101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合同模板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6477000" y="2762250"/>
                <a:ext cx="2190750" cy="857250"/>
              </a:xfrm>
              <a:prstGeom prst="roundRect">
                <a:avLst>
                  <a:gd name="adj" fmla="val 8889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653212" y="2905125"/>
                <a:ext cx="2000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66700">
                    <a:moveTo>
                      <a:pt x="200025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66675" y="266700"/>
                    </a:lnTo>
                    <a:lnTo>
                      <a:pt x="66675" y="200025"/>
                    </a:lnTo>
                    <a:lnTo>
                      <a:pt x="133350" y="200025"/>
                    </a:lnTo>
                    <a:lnTo>
                      <a:pt x="133350" y="266700"/>
                    </a:lnTo>
                    <a:lnTo>
                      <a:pt x="200025" y="266700"/>
                    </a:lnTo>
                    <a:lnTo>
                      <a:pt x="200025" y="0"/>
                    </a:lnTo>
                    <a:close/>
                    <a:moveTo>
                      <a:pt x="50006" y="50006"/>
                    </a:moveTo>
                    <a:lnTo>
                      <a:pt x="83344" y="50006"/>
                    </a:lnTo>
                    <a:lnTo>
                      <a:pt x="83344" y="83344"/>
                    </a:lnTo>
                    <a:lnTo>
                      <a:pt x="50006" y="83344"/>
                    </a:lnTo>
                    <a:lnTo>
                      <a:pt x="50006" y="50006"/>
                    </a:lnTo>
                    <a:close/>
                    <a:moveTo>
                      <a:pt x="83344" y="116681"/>
                    </a:moveTo>
                    <a:lnTo>
                      <a:pt x="50006" y="116681"/>
                    </a:lnTo>
                    <a:lnTo>
                      <a:pt x="50006" y="150019"/>
                    </a:lnTo>
                    <a:lnTo>
                      <a:pt x="83344" y="150019"/>
                    </a:lnTo>
                    <a:lnTo>
                      <a:pt x="83344" y="116681"/>
                    </a:lnTo>
                    <a:close/>
                    <a:moveTo>
                      <a:pt x="116681" y="50006"/>
                    </a:moveTo>
                    <a:lnTo>
                      <a:pt x="150019" y="50006"/>
                    </a:lnTo>
                    <a:lnTo>
                      <a:pt x="150019" y="83344"/>
                    </a:lnTo>
                    <a:lnTo>
                      <a:pt x="116681" y="83344"/>
                    </a:lnTo>
                    <a:lnTo>
                      <a:pt x="116681" y="50006"/>
                    </a:lnTo>
                    <a:close/>
                    <a:moveTo>
                      <a:pt x="150019" y="116681"/>
                    </a:moveTo>
                    <a:lnTo>
                      <a:pt x="116681" y="116681"/>
                    </a:lnTo>
                    <a:lnTo>
                      <a:pt x="116681" y="150019"/>
                    </a:lnTo>
                    <a:lnTo>
                      <a:pt x="150019" y="150019"/>
                    </a:lnTo>
                    <a:lnTo>
                      <a:pt x="150019" y="116681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939915" y="2963228"/>
                <a:ext cx="7617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多商户入驻</a:t>
                </a:r>
                <a:endParaRPr lang="zh-CN" sz="105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609398" y="3244691"/>
                <a:ext cx="79105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品牌方独立后台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609398" y="3406616"/>
                <a:ext cx="46101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数据隔离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8858250" y="2762250"/>
                <a:ext cx="2381250" cy="857250"/>
              </a:xfrm>
              <a:prstGeom prst="roundRect">
                <a:avLst>
                  <a:gd name="adj" fmla="val 8889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002500" y="2905125"/>
                <a:ext cx="263949" cy="251030"/>
              </a:xfrm>
              <a:custGeom>
                <a:avLst/>
                <a:gdLst/>
                <a:ahLst/>
                <a:cxnLst/>
                <a:rect l="l" t="t" r="r" b="b"/>
                <a:pathLst>
                  <a:path w="263949" h="251030">
                    <a:moveTo>
                      <a:pt x="148643" y="0"/>
                    </a:moveTo>
                    <a:lnTo>
                      <a:pt x="115306" y="0"/>
                    </a:lnTo>
                    <a:lnTo>
                      <a:pt x="90518" y="76290"/>
                    </a:lnTo>
                    <a:lnTo>
                      <a:pt x="10302" y="76290"/>
                    </a:lnTo>
                    <a:lnTo>
                      <a:pt x="0" y="107996"/>
                    </a:lnTo>
                    <a:lnTo>
                      <a:pt x="64896" y="155145"/>
                    </a:lnTo>
                    <a:lnTo>
                      <a:pt x="40109" y="231434"/>
                    </a:lnTo>
                    <a:lnTo>
                      <a:pt x="67079" y="251030"/>
                    </a:lnTo>
                    <a:lnTo>
                      <a:pt x="131975" y="203880"/>
                    </a:lnTo>
                    <a:lnTo>
                      <a:pt x="196871" y="251030"/>
                    </a:lnTo>
                    <a:lnTo>
                      <a:pt x="223841" y="231434"/>
                    </a:lnTo>
                    <a:lnTo>
                      <a:pt x="199053" y="155145"/>
                    </a:lnTo>
                    <a:lnTo>
                      <a:pt x="263949" y="107995"/>
                    </a:lnTo>
                    <a:lnTo>
                      <a:pt x="253646" y="76290"/>
                    </a:lnTo>
                    <a:lnTo>
                      <a:pt x="173431" y="76290"/>
                    </a:lnTo>
                    <a:lnTo>
                      <a:pt x="148643" y="0"/>
                    </a:lnTo>
                    <a:close/>
                  </a:path>
                </a:pathLst>
              </a:cu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9321165" y="296322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0695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智能推荐</a:t>
                </a:r>
                <a:endParaRPr lang="zh-CN" sz="1050" b="1" dirty="0">
                  <a:solidFill>
                    <a:srgbClr val="00695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990648" y="3244691"/>
                <a:ext cx="79105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个性化房源推荐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990648" y="3406616"/>
                <a:ext cx="46101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6B728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用户画像</a:t>
                </a:r>
                <a:endParaRPr lang="zh-CN" sz="825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746760" y="3947160"/>
              <a:ext cx="10683240" cy="2339340"/>
              <a:chOff x="746760" y="3947160"/>
              <a:chExt cx="10683240" cy="2339340"/>
            </a:xfrm>
          </p:grpSpPr>
          <p:sp>
            <p:nvSpPr>
              <p:cNvPr id="47" name="TextBox 47"/>
              <p:cNvSpPr txBox="1"/>
              <p:nvPr/>
            </p:nvSpPr>
            <p:spPr>
              <a:xfrm>
                <a:off x="746760" y="3947160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0897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总结</a:t>
                </a:r>
                <a:endParaRPr lang="zh-CN" sz="1200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762000" y="4191000"/>
                <a:ext cx="10668000" cy="2095500"/>
              </a:xfrm>
              <a:prstGeom prst="roundRect">
                <a:avLst>
                  <a:gd name="adj" fmla="val 5455"/>
                </a:avLst>
              </a:prstGeom>
              <a:solidFill>
                <a:srgbClr val="00897B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4686967" y="4472940"/>
                <a:ext cx="281806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完成软件工程全流程实践</a:t>
                </a:r>
                <a:endPara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988546" y="4910614"/>
                <a:ext cx="421490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dirty="0">
                    <a:solidFill>
                      <a:srgbClr val="B2DF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需求分析 → 系统设计 → 编码实现 → 测试管理 → 部署交付</a:t>
                </a:r>
                <a:endParaRPr lang="zh-CN" sz="1275" dirty="0">
                  <a:solidFill>
                    <a:srgbClr val="B2DF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4232731" y="5355431"/>
                <a:ext cx="372653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B2DF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技术栈：Spring Boot + Vue3 + MySQL + Redis + MinIO</a:t>
                </a:r>
                <a:endParaRPr lang="zh-CN" sz="1125" dirty="0">
                  <a:solidFill>
                    <a:srgbClr val="B2DF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4383655" y="5800249"/>
                <a:ext cx="342469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80CBC4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增量迭代模型 · 前后端分离 · 完整测试覆盖 · Git 团队协作</a:t>
                </a:r>
                <a:endParaRPr lang="zh-CN" sz="975" dirty="0">
                  <a:solidFill>
                    <a:srgbClr val="80CBC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8" name="Group 58"/>
          <p:cNvGrpSpPr/>
          <p:nvPr/>
        </p:nvGrpSpPr>
        <p:grpSpPr>
          <a:xfrm>
            <a:off x="750570" y="6477000"/>
            <a:ext cx="10690860" cy="257175"/>
            <a:chOff x="750570" y="6477000"/>
            <a:chExt cx="10690860" cy="257175"/>
          </a:xfrm>
        </p:grpSpPr>
        <p:sp>
          <p:nvSpPr>
            <p:cNvPr id="55" name="Line 55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5E7EB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50570" y="655129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房屋租赁系统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016520" y="65512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20 / 21</a:t>
              </a:r>
              <a:endPara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97B">
                  <a:alpha val="12000"/>
                </a:srgbClr>
              </a:gs>
              <a:gs pos="100000">
                <a:srgbClr val="00897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1333500" y="190500"/>
            <a:ext cx="10096500" cy="5905500"/>
            <a:chOff x="1333500" y="190500"/>
            <a:chExt cx="10096500" cy="5905500"/>
          </a:xfrm>
        </p:grpSpPr>
        <p:sp>
          <p:nvSpPr>
            <p:cNvPr id="4" name="Ellipse 4"/>
            <p:cNvSpPr/>
            <p:nvPr/>
          </p:nvSpPr>
          <p:spPr>
            <a:xfrm>
              <a:off x="9144000" y="571500"/>
              <a:ext cx="1905000" cy="1905000"/>
            </a:xfrm>
            <a:prstGeom prst="ellipse">
              <a:avLst/>
            </a:prstGeom>
            <a:noFill/>
            <a:ln w="9525">
              <a:solidFill>
                <a:srgbClr val="00897B">
                  <a:alpha val="12000"/>
                </a:srgb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8763000" y="190500"/>
              <a:ext cx="2667000" cy="2667000"/>
            </a:xfrm>
            <a:prstGeom prst="ellipse">
              <a:avLst/>
            </a:prstGeom>
            <a:noFill/>
            <a:ln w="4762">
              <a:solidFill>
                <a:srgbClr val="00897B">
                  <a:alpha val="6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333500" y="4572000"/>
              <a:ext cx="1524000" cy="1524000"/>
            </a:xfrm>
            <a:prstGeom prst="ellipse">
              <a:avLst/>
            </a:prstGeom>
            <a:noFill/>
            <a:ln w="9525">
              <a:solidFill>
                <a:srgbClr val="00897B">
                  <a:alpha val="10000"/>
                </a:srgbClr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4778692" y="2276475"/>
            <a:ext cx="2634615" cy="2538413"/>
            <a:chOff x="4778692" y="2276475"/>
            <a:chExt cx="2634615" cy="2538413"/>
          </a:xfrm>
        </p:grpSpPr>
        <p:sp>
          <p:nvSpPr>
            <p:cNvPr id="8" name="TextBox 8"/>
            <p:cNvSpPr txBox="1"/>
            <p:nvPr/>
          </p:nvSpPr>
          <p:spPr>
            <a:xfrm>
              <a:off x="4778692" y="2276475"/>
              <a:ext cx="2634615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0" b="1" dirty="0">
                  <a:solidFill>
                    <a:srgbClr val="00897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感谢聆听</a:t>
              </a:r>
              <a:endParaRPr lang="zh-CN" sz="4500" b="1" dirty="0">
                <a:solidFill>
                  <a:srgbClr val="00897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09260" y="3202305"/>
              <a:ext cx="11734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4DB6A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欢迎提问</a:t>
              </a:r>
              <a:endParaRPr lang="zh-CN" sz="2100" dirty="0">
                <a:solidFill>
                  <a:srgbClr val="4DB6A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Line 10"/>
            <p:cNvSpPr/>
            <p:nvPr/>
          </p:nvSpPr>
          <p:spPr>
            <a:xfrm>
              <a:off x="5143500" y="39052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rgbClr val="00897B">
                  <a:alpha val="40000"/>
                </a:srgbClr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948618" y="4251960"/>
              <a:ext cx="22947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728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房屋租赁系统 · 软件工程大作业</a:t>
              </a:r>
              <a:endParaRPr lang="zh-CN" sz="1200" dirty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40010" y="4601528"/>
              <a:ext cx="25119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CA3A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戴晨威 2023211871 · 黄裔 2023212243</a:t>
              </a:r>
              <a:endParaRPr lang="zh-CN" sz="105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016520" y="647509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21 / 21</a:t>
            </a:r>
            <a:endParaRPr lang="zh-CN" sz="900" dirty="0">
              <a:solidFill>
                <a:srgbClr val="9CA3A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376.2806299212598,&quot;left&quot;:45,&quot;top&quot;:102.69889763779527,&quot;width&quot;:870}"/>
</p:tagLst>
</file>

<file path=ppt/tags/tag2.xml><?xml version="1.0" encoding="utf-8"?>
<p:tagLst xmlns:p="http://schemas.openxmlformats.org/presentationml/2006/main">
  <p:tag name="KSO_WM_DIAGRAM_VIRTUALLY_FRAME" val="{&quot;height&quot;:376.2806299212598,&quot;left&quot;:45,&quot;top&quot;:102.69889763779527,&quot;width&quot;:870}"/>
</p:tagLst>
</file>

<file path=ppt/tags/tag3.xml><?xml version="1.0" encoding="utf-8"?>
<p:tagLst xmlns:p="http://schemas.openxmlformats.org/presentationml/2006/main">
  <p:tag name="KSO_WM_DIAGRAM_VIRTUALLY_FRAME" val="{&quot;height&quot;:376.2806299212598,&quot;left&quot;:45,&quot;top&quot;:102.69889763779527,&quot;width&quot;:870}"/>
</p:tagLst>
</file>

<file path=ppt/tags/tag4.xml><?xml version="1.0" encoding="utf-8"?>
<p:tagLst xmlns:p="http://schemas.openxmlformats.org/presentationml/2006/main">
  <p:tag name="KSO_WM_DIAGRAM_VIRTUALLY_FRAME" val="{&quot;height&quot;:376.2806299212598,&quot;left&quot;:45,&quot;top&quot;:102.69889763779527,&quot;width&quot;:870}"/>
</p:tagLst>
</file>

<file path=ppt/tags/tag5.xml><?xml version="1.0" encoding="utf-8"?>
<p:tagLst xmlns:p="http://schemas.openxmlformats.org/presentationml/2006/main">
  <p:tag name="KSO_WM_DIAGRAM_VIRTUALLY_FRAME" val="{&quot;height&quot;:376.2806299212598,&quot;left&quot;:45,&quot;top&quot;:102.69889763779527,&quot;width&quot;:870}"/>
</p:tagLst>
</file>

<file path=ppt/tags/tag6.xml><?xml version="1.0" encoding="utf-8"?>
<p:tagLst xmlns:p="http://schemas.openxmlformats.org/presentationml/2006/main">
  <p:tag name="KSO_WM_DIAGRAM_VIRTUALLY_FRAME" val="{&quot;height&quot;:376.2806299212598,&quot;left&quot;:45,&quot;top&quot;:102.69889763779527,&quot;width&quot;:870}"/>
</p:tagLst>
</file>

<file path=ppt/tags/tag7.xml><?xml version="1.0" encoding="utf-8"?>
<p:tagLst xmlns:p="http://schemas.openxmlformats.org/presentationml/2006/main">
  <p:tag name="KSO_WM_DIAGRAM_VIRTUALLY_FRAME" val="{&quot;height&quot;:376.2806299212598,&quot;left&quot;:45,&quot;top&quot;:102.69889763779527,&quot;width&quot;:870}"/>
</p:tagLst>
</file>

<file path=ppt/tags/tag8.xml><?xml version="1.0" encoding="utf-8"?>
<p:tagLst xmlns:p="http://schemas.openxmlformats.org/presentationml/2006/main">
  <p:tag name="KSO_WM_DIAGRAM_VIRTUALLY_FRAME" val="{&quot;height&quot;:376.2806299212598,&quot;left&quot;:45,&quot;top&quot;:102.69889763779527,&quot;width&quot;:870}"/>
</p:tagLst>
</file>

<file path=ppt/tags/tag9.xml><?xml version="1.0" encoding="utf-8"?>
<p:tagLst xmlns:p="http://schemas.openxmlformats.org/presentationml/2006/main">
  <p:tag name="KSO_WM_DIAGRAM_VIRTUALLY_FRAME" val="{&quot;height&quot;:376.2806299212598,&quot;left&quot;:45,&quot;top&quot;:102.69889763779527,&quot;width&quot;:87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4141</Words>
  <Application>WPS 演示</Application>
  <PresentationFormat>On-screen Show (16:9)</PresentationFormat>
  <Paragraphs>790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。。。</cp:lastModifiedBy>
  <cp:revision>7</cp:revision>
  <dcterms:created xsi:type="dcterms:W3CDTF">2026-06-10T08:42:00Z</dcterms:created>
  <dcterms:modified xsi:type="dcterms:W3CDTF">2026-06-10T16:06:26Z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AD82126B22904A8B8B6710A68959FAD7_12</vt:lpwstr>
  </property>
</Properties>
</file>