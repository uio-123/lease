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png" ContentType="image/png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notesSlides/_rels/notesSlide1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1.xml"/>
</Relationships>
</file>

<file path=ppt/notesSlides/_rels/notesSlide2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2.xml"/>
</Relationships>
</file>

<file path=ppt/notesSlides/_rels/notesSlide3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3.xml"/>
</Relationships>
</file>

<file path=ppt/notesSlides/_rels/notesSlide4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4.xml"/>
</Relationships>
</file>

<file path=ppt/notesSlides/_rels/notesSlide5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5.xml"/>
</Relationships>
</file>

<file path=ppt/notesSlides/_rels/notesSlide6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6.xml"/>
</Relationships>
</file>

<file path=ppt/notesSlides/_rels/notesSlide7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7.xml"/>
</Relationships>
</file>

<file path=ppt/notesSlides/_rels/notesSlide8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8.xml"/>
</Relationships>
</file>

<file path=ppt/notesSlides/_rels/notesSlide9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9.xml"/>
</Relationships>
</file>

<file path=ppt/notesSlides/_rels/notesSlide10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10.xml"/>
</Relationships>
</file>

<file path=ppt/notesSlides/_rels/notesSlide11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11.xml"/>
</Relationships>
</file>

<file path=ppt/notesSlides/_rels/notesSlide12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12.xml"/>
</Relationships>
</file>

<file path=ppt/notesSlides/_rels/notesSlide13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13.xml"/>
</Relationships>
</file>

<file path=ppt/notesSlides/_rels/notesSlide14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14.xml"/>
</Relationships>
</file>

<file path=ppt/notesSlides/_rels/notesSlide15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15.xml"/>
</Relationships>
</file>

<file path=ppt/notesSlides/_rels/notesSlide16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16.xml"/>
</Relationships>
</file>

<file path=ppt/notesSlides/_rels/notesSlide17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17.xml"/>
</Relationships>
</file>

<file path=ppt/notesSlides/_rels/notesSlide18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18.xml"/>
</Relationships>
</file>

<file path=ppt/notesSlides/_rels/notesSlide19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19.xml"/>
</Relationships>
</file>

<file path=ppt/notesSlides/_rels/notesSlide20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20.xml"/>
</Relationships>
</file>

<file path=ppt/notesSlides/_rels/notesSlide21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21.xml"/>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各位老师好，我们是软件工程课程项目小组成员戴晨威和黄裔。本次汇报的项目是房屋租赁系统——一个基于 Spring Boot、Vue3、MySQL、Redis 与 MinIO 的租赁业务平台。接下来我们将从项目背景、需求分析、系统设计、编码实现、测试和项目管理等方面进行汇报。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本次汇报分为五个部分。首先是项目概述与可行性分析，然后是需求分析——包括结构化方法和面向对象方法，接着是系统设计环节，涵盖架构、数据库和 UI 设计，随后是编码实现与测试，最后是项目管理和总结展望。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随着住房租赁市场的规范化和线上化趋势，青年群体流动增强，租赁企业需要数字化系统来提升房源周转和客户响应效率。本项目选用 Spring Boot 3、Vue3、MySQL、Redis 和 MinIO 技术栈，采用增量迭代模型，核心业务模块包括房源管理、预约管理、租约管理和后台管理。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我们从三个维度分析了项目的可行性。技术方面，Spring Boot 和 Vue3 均为成熟技术栈，Docker Compose 可实现一键部署。经济方面，技术栈完全开源，课程项目不产生许可证成本。操作方面，租客端以 H5 页面承载，管理端使用菜单系统，角色分工清晰。风险方面，我们针对接口不一致、数据库理解偏差等问题提前制定了应对措施。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系统定义了三种用户角色。租客可以找房筛选、查看详情、预约看房和查看租约。运营管理员可以维护公寓和房源、处理预约和租约。系统管理员负责用户、岗位和角色权限配置。右侧展示的是系统的顶层数据流图，展示了系统与租客、管理员、短信服务和对象存储之间的交互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结构化分析通过数据流图逐层分解系统功能。一层的 DFD 将系统拆分为认证管理、房源查询、预约管理、租约管理和后台运营五个子过程。二层的 DFD 进一步展开房源查询子过程，展示了筛选条件、列表展示和详情查看的完整数据流。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面向对象分析使用用例图来展示系统功能。系统包含租客和管理员两类参与者。租客的用例包括浏览房源、搜索筛选、查看详情和预约看房。管理员的用例包括房源维护、预约处理、租约管理和用户管理。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功能需求方面，系统涵盖认证、房源、预约、租约和后台管理五大模块，每个模块都有明确的业务功能。非功能需求方面，我们关注接口响应时间在两秒以内、JWT 安全认证、数据备份机制和响应式前端适配。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系统采用前后端分离架构。后端基于 Spring Boot 多模块工程，分为 model、common 和 web 三层，web 层进一步拆分为管理接口和租客端接口。前端管理端使用 Element Plus，租客端使用 Vant H5。基础设施层由 MySQL、Redis 和 MinIO 构成，通过 Docker Compose 统一部署。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功能结构图清晰地展示了系统的两大模块划分。管理后台包括公寓管理、房间管理、预约处理、用户管理和系统配置。租客端包括找房筛选、房源详情、预约看房和个人中心。基础设施层提供 MySQL 持久化、Redis 缓存、MinIO 图片存储和 JWT 认证支持。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数据库以公寓、房间和租约作为核心链路。核心表包括 apartment、room、lease、user、appointment 和 role 等。这里展示的是 ER 图和核心表结构，完整的数据表清单可以参考报告附录。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租客端的 UI 设计采用 Vant 移动端组件库，覆盖了首页搜索、房源详情、预约看房、个人中心和浏览历史等完整用户旅程。每个页面都经过了精心的交互设计，确保移动端用户体验流畅。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管理后台采用 Element Plus 组件库，提供了公寓与房间管理、预约处理、用户与权限管理等核心功能。后台界面采用表单、表格和菜单相结合的管理模式，适合运营人员的日常操作需求。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系统的网络架构分为前端、后端和基础设施三层。前端通过 Nginx 承载，后端 Spring Boot 提供服务，底层由 MySQL、Redis 和 MinIO 支撑。数据量方面，每公寓约需要一点五兆的图片存储，日均预约操作在两百次以上，接口响应时间控制在两秒以内。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后端采用多模块工程结构。model 模块包含实体和枚举，common 模块包含工具和异常处理，web 模块分为管理端和租客端两个接口。我们使用 MyBatis-Plus 简化 CRUD 开发，JWT 实现登录认证，MinIO 进行图片存储，Docker Compose 完成一键部署。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管理后台使用 Vue3 和 Element Plus，实现了数据表格展示、表单提交验证、图片上传和分页筛选等典型管理功能。租客端使用 Vue3 和 Vant，针对移动端优化了首页展示、图片轮播、上拉加载和预约交互等体验。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测试分为白盒测试和黑盒测试两个层面。白盒测试方面，我们使用 JUnit 和 Mockito 覆盖核心 Service 层方法，验证分支覆盖和边界值。黑盒测试方面，通过等价类划分和边界值分析，覆盖前端页面、接口和完整业务流程的测试。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项目采用增量迭代模型，共十四周的开发周期，覆盖了从需求分析到设计、编码、测试和答辩准备的完整过程。图表展示的是项目的甘特图，可以看到各阶段的时序安排和交付节点。作为课程项目，技术栈开源，部署成本可控。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小组两名成员各有侧重。戴晨威主要负责后端开发、数据库设计与实现、本地部署和测试策略。黄裔主要负责前端开发、UI 设计、需求文档撰写和汇报材料准备。两人共同参与需求分析、系统设计和联调测试。配置管理方面，我们使用 Git 进行分支管理，遵循 feat、fix、docs 等提交信息规范。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项目的亮点在于同时运用了结构化 DFD 和面向对象用例图进行需求分析，前后端分离实现了管理端和租客端的完整覆盖，并建立了白盒加黑盒的测试闭环。后续扩展方向包括接入在线支付、电子合同签署、多商户入驻和智能推荐等功能。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以上是本次房屋租赁系统项目的完整汇报。感谢各位老师的聆听，欢迎提问。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.xml"/>
</Relationships>
</file>

<file path=ppt/slides/_rels/slide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2.xml"/>
</Relationships>
</file>

<file path=ppt/slides/_rels/slide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3.xml"/>
</Relationships>
</file>

<file path=ppt/slides/_rels/slide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4.xml"/>
</Relationships>
</file>

<file path=ppt/slides/_rels/slide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883107eb0090299b.png"/>
  <Relationship Id="rId3" Type="http://schemas.openxmlformats.org/officeDocument/2006/relationships/notesSlide" Target="../notesSlides/notesSlide5.xml"/>
</Relationships>
</file>

<file path=ppt/slides/_rels/slide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7551a6267c5764b6.png"/>
  <Relationship Id="rId3" Type="http://schemas.openxmlformats.org/officeDocument/2006/relationships/image" Target="../media/image_eafdf7e08b8f5fd8.png"/>
  <Relationship Id="rId4" Type="http://schemas.openxmlformats.org/officeDocument/2006/relationships/notesSlide" Target="../notesSlides/notesSlide6.xml"/>
</Relationships>
</file>

<file path=ppt/slides/_rels/slide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e5ee74935c378a61.png"/>
  <Relationship Id="rId3" Type="http://schemas.openxmlformats.org/officeDocument/2006/relationships/image" Target="../media/image_f8004f0223e2a6dd.png"/>
  <Relationship Id="rId4" Type="http://schemas.openxmlformats.org/officeDocument/2006/relationships/notesSlide" Target="../notesSlides/notesSlide7.xml"/>
</Relationships>
</file>

<file path=ppt/slides/_rels/slide8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8.xml"/>
</Relationships>
</file>

<file path=ppt/slides/_rels/slide9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edc1e2c43b4f8cdb.png"/>
  <Relationship Id="rId3" Type="http://schemas.openxmlformats.org/officeDocument/2006/relationships/image" Target="../media/image_3a4b4878e9a0c466.png"/>
  <Relationship Id="rId4" Type="http://schemas.openxmlformats.org/officeDocument/2006/relationships/notesSlide" Target="../notesSlides/notesSlide9.xml"/>
</Relationships>
</file>

<file path=ppt/slides/_rels/slide10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53b4efb06a5b3335.png"/>
  <Relationship Id="rId3" Type="http://schemas.openxmlformats.org/officeDocument/2006/relationships/notesSlide" Target="../notesSlides/notesSlide10.xml"/>
</Relationships>
</file>

<file path=ppt/slides/_rels/slide1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2e1350a28ef77393.png"/>
  <Relationship Id="rId3" Type="http://schemas.openxmlformats.org/officeDocument/2006/relationships/image" Target="../media/image_12831469ea8f1e1c.png"/>
  <Relationship Id="rId4" Type="http://schemas.openxmlformats.org/officeDocument/2006/relationships/image" Target="../media/image_6dfd2682d27e6fdb.png"/>
  <Relationship Id="rId5" Type="http://schemas.openxmlformats.org/officeDocument/2006/relationships/image" Target="../media/image_bcb07cde7bbd4081.png"/>
  <Relationship Id="rId6" Type="http://schemas.openxmlformats.org/officeDocument/2006/relationships/notesSlide" Target="../notesSlides/notesSlide11.xml"/>
</Relationships>
</file>

<file path=ppt/slides/_rels/slide1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93c921011fff1b6c.png"/>
  <Relationship Id="rId3" Type="http://schemas.openxmlformats.org/officeDocument/2006/relationships/image" Target="../media/image_7ecb57df393a3e24.png"/>
  <Relationship Id="rId4" Type="http://schemas.openxmlformats.org/officeDocument/2006/relationships/image" Target="../media/image_83febe3554559f07.png"/>
  <Relationship Id="rId5" Type="http://schemas.openxmlformats.org/officeDocument/2006/relationships/image" Target="../media/image_982f97bfb8472c1e.png"/>
  <Relationship Id="rId6" Type="http://schemas.openxmlformats.org/officeDocument/2006/relationships/image" Target="../media/image_882198671ccaae99.png"/>
  <Relationship Id="rId7" Type="http://schemas.openxmlformats.org/officeDocument/2006/relationships/image" Target="../media/image_518236df3990269d.png"/>
  <Relationship Id="rId8" Type="http://schemas.openxmlformats.org/officeDocument/2006/relationships/notesSlide" Target="../notesSlides/notesSlide12.xml"/>
</Relationships>
</file>

<file path=ppt/slides/_rels/slide1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de030d1c9a603826.png"/>
  <Relationship Id="rId3" Type="http://schemas.openxmlformats.org/officeDocument/2006/relationships/notesSlide" Target="../notesSlides/notesSlide13.xml"/>
</Relationships>
</file>

<file path=ppt/slides/_rels/slide1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5ecac141069632e8.png"/>
  <Relationship Id="rId3" Type="http://schemas.openxmlformats.org/officeDocument/2006/relationships/notesSlide" Target="../notesSlides/notesSlide14.xml"/>
</Relationships>
</file>

<file path=ppt/slides/_rels/slide1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4ae51e237514e9b8.png"/>
  <Relationship Id="rId3" Type="http://schemas.openxmlformats.org/officeDocument/2006/relationships/notesSlide" Target="../notesSlides/notesSlide15.xml"/>
</Relationships>
</file>

<file path=ppt/slides/_rels/slide1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6.xml"/>
</Relationships>
</file>

<file path=ppt/slides/_rels/slide1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7.xml"/>
</Relationships>
</file>

<file path=ppt/slides/_rels/slide18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dedd7d6282a67e9a.png"/>
  <Relationship Id="rId3" Type="http://schemas.openxmlformats.org/officeDocument/2006/relationships/notesSlide" Target="../notesSlides/notesSlide18.xml"/>
</Relationships>
</file>

<file path=ppt/slides/_rels/slide19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a7f4314a489ba098.png"/>
  <Relationship Id="rId3" Type="http://schemas.openxmlformats.org/officeDocument/2006/relationships/notesSlide" Target="../notesSlides/notesSlide19.xml"/>
</Relationships>
</file>

<file path=ppt/slides/_rels/slide20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20.xml"/>
</Relationships>
</file>

<file path=ppt/slides/_rels/slide2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21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695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4DB6AC">
                  <a:alpha val="25000"/>
                </a:srgbClr>
              </a:gs>
              <a:gs pos="100000">
                <a:srgbClr val="4DB6AC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0695C">
                  <a:alpha val="20000"/>
                </a:srgbClr>
              </a:gs>
              <a:gs pos="100000">
                <a:srgbClr val="00695C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grpSp>
        <p:nvGrpSpPr>
          <p:cNvPr id="9" name="Group 9"/>
          <p:cNvGrpSpPr/>
          <p:nvPr/>
        </p:nvGrpSpPr>
        <p:grpSpPr>
          <a:xfrm>
            <a:off x="571500" y="-1524000"/>
            <a:ext cx="12192000" cy="7515225"/>
            <a:chOff x="571500" y="-1524000"/>
            <a:chExt cx="12192000" cy="7515225"/>
          </a:xfrm>
        </p:grpSpPr>
        <p:sp>
          <p:nvSpPr>
            <p:cNvPr id="5" name="Ellipse 5"/>
            <p:cNvSpPr/>
            <p:nvPr/>
          </p:nvSpPr>
          <p:spPr>
            <a:xfrm>
              <a:off x="8763000" y="-952500"/>
              <a:ext cx="3429000" cy="3429000"/>
            </a:xfrm>
            <a:prstGeom prst="ellipse">
              <a:avLst/>
            </a:prstGeom>
            <a:noFill/>
            <a:ln w="9525">
              <a:solidFill>
                <a:srgbClr val="4DB6AC">
                  <a:alpha val="15000"/>
                </a:srgbClr>
              </a:solidFill>
            </a:ln>
          </p:spPr>
        </p:sp>
        <p:sp>
          <p:nvSpPr>
            <p:cNvPr id="6" name="Ellipse 6"/>
            <p:cNvSpPr/>
            <p:nvPr/>
          </p:nvSpPr>
          <p:spPr>
            <a:xfrm>
              <a:off x="8191500" y="-1524000"/>
              <a:ext cx="4572000" cy="4572000"/>
            </a:xfrm>
            <a:prstGeom prst="ellipse">
              <a:avLst/>
            </a:prstGeom>
            <a:noFill/>
            <a:ln w="4762">
              <a:solidFill>
                <a:srgbClr val="4DB6AC">
                  <a:alpha val="8000"/>
                </a:srgbClr>
              </a:solidFill>
            </a:ln>
          </p:spPr>
        </p:sp>
        <p:sp>
          <p:nvSpPr>
            <p:cNvPr id="7" name="Line 7"/>
            <p:cNvSpPr/>
            <p:nvPr/>
          </p:nvSpPr>
          <p:spPr>
            <a:xfrm>
              <a:off x="571500" y="5905500"/>
              <a:ext cx="3238500" cy="9525"/>
            </a:xfrm>
            <a:custGeom>
              <a:avLst/>
              <a:gdLst/>
              <a:ahLst/>
              <a:cxnLst/>
              <a:rect l="l" t="t" r="r" b="b"/>
              <a:pathLst>
                <a:path w="3238500" h="9525">
                  <a:moveTo>
                    <a:pt x="0" y="0"/>
                  </a:moveTo>
                  <a:lnTo>
                    <a:pt x="3238500" y="0"/>
                  </a:lnTo>
                </a:path>
              </a:pathLst>
            </a:custGeom>
            <a:noFill/>
            <a:ln w="19050">
              <a:solidFill>
                <a:srgbClr val="4DB6AC">
                  <a:alpha val="30000"/>
                </a:srgbClr>
              </a:solidFill>
            </a:ln>
          </p:spPr>
        </p:sp>
        <p:sp>
          <p:nvSpPr>
            <p:cNvPr id="8" name="Line 8"/>
            <p:cNvSpPr/>
            <p:nvPr/>
          </p:nvSpPr>
          <p:spPr>
            <a:xfrm>
              <a:off x="571500" y="5981700"/>
              <a:ext cx="2286000" cy="9525"/>
            </a:xfrm>
            <a:custGeom>
              <a:avLst/>
              <a:gdLst/>
              <a:ahLst/>
              <a:cxnLst/>
              <a:rect l="l" t="t" r="r" b="b"/>
              <a:pathLst>
                <a:path w="2286000" h="9525">
                  <a:moveTo>
                    <a:pt x="0" y="0"/>
                  </a:moveTo>
                  <a:lnTo>
                    <a:pt x="2286000" y="0"/>
                  </a:lnTo>
                </a:path>
              </a:pathLst>
            </a:custGeom>
            <a:noFill/>
            <a:ln w="9525">
              <a:solidFill>
                <a:srgbClr val="4DB6AC">
                  <a:alpha val="15000"/>
                </a:srgbClr>
              </a:solidFill>
            </a:ln>
          </p:spPr>
        </p:sp>
      </p:grpSp>
      <p:grpSp>
        <p:nvGrpSpPr>
          <p:cNvPr id="17" name="Group 17"/>
          <p:cNvGrpSpPr/>
          <p:nvPr/>
        </p:nvGrpSpPr>
        <p:grpSpPr>
          <a:xfrm>
            <a:off x="2442686" y="1905000"/>
            <a:ext cx="7306628" cy="3386138"/>
            <a:chOff x="2442686" y="1905000"/>
            <a:chExt cx="7306628" cy="3386138"/>
          </a:xfrm>
        </p:grpSpPr>
        <p:sp>
          <p:nvSpPr>
            <p:cNvPr id="10" name="Rectangle 10"/>
            <p:cNvSpPr/>
            <p:nvPr/>
          </p:nvSpPr>
          <p:spPr>
            <a:xfrm>
              <a:off x="4667250" y="1905000"/>
              <a:ext cx="2857500" cy="342900"/>
            </a:xfrm>
            <a:prstGeom prst="roundRect">
              <a:avLst>
                <a:gd name="adj" fmla="val 50000"/>
              </a:avLst>
            </a:prstGeom>
            <a:solidFill>
              <a:srgbClr val="4DB6AC">
                <a:alpha val="20000"/>
              </a:srgbClr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5324666" y="2004060"/>
              <a:ext cx="1542669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B2DFDB"/>
                  </a:solidFill>
                  <a:latin typeface="Arial"/>
                  <a:ea typeface="Microsoft YaHei"/>
                  <a:cs typeface="Arial"/>
                </a:rPr>
                <a:t>软件工程大作业汇报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3759137" y="2369820"/>
              <a:ext cx="4673727" cy="1097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54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房屋租赁系统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2442686" y="3329940"/>
              <a:ext cx="7306628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rgbClr val="B2DFDB"/>
                  </a:solidFill>
                  <a:latin typeface="Arial"/>
                  <a:ea typeface="Microsoft YaHei"/>
                  <a:cs typeface="Arial"/>
                </a:rPr>
                <a:t>基于 Spring Boot、Vue3、MySQL、Redis 与 MinIO 的租赁业务平台</a:t>
              </a:r>
            </a:p>
          </p:txBody>
        </p:sp>
        <p:sp>
          <p:nvSpPr>
            <p:cNvPr id="14" name="Line 14"/>
            <p:cNvSpPr/>
            <p:nvPr/>
          </p:nvSpPr>
          <p:spPr>
            <a:xfrm>
              <a:off x="5143500" y="4000500"/>
              <a:ext cx="1905000" cy="9525"/>
            </a:xfrm>
            <a:custGeom>
              <a:avLst/>
              <a:gdLst/>
              <a:ahLst/>
              <a:cxnLst/>
              <a:rect l="l" t="t" r="r" b="b"/>
              <a:pathLst>
                <a:path w="1905000" h="9525">
                  <a:moveTo>
                    <a:pt x="0" y="0"/>
                  </a:moveTo>
                  <a:lnTo>
                    <a:pt x="1905000" y="0"/>
                  </a:lnTo>
                </a:path>
              </a:pathLst>
            </a:custGeom>
            <a:noFill/>
            <a:ln w="19050">
              <a:solidFill>
                <a:srgbClr val="4DB6AC">
                  <a:alpha val="60000"/>
                </a:srgbClr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5075230" y="4712018"/>
              <a:ext cx="2041541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80CBC4"/>
                  </a:solidFill>
                  <a:latin typeface="Arial"/>
                  <a:ea typeface="Microsoft YaHei"/>
                  <a:cs typeface="Arial"/>
                </a:rPr>
                <a:t>小组成员：戴晨威 · 黄裔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5928646" y="5077778"/>
              <a:ext cx="33470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80CBC4"/>
                  </a:solidFill>
                  <a:latin typeface="Arial"/>
                  <a:ea typeface="Microsoft YaHei"/>
                  <a:cs typeface="Arial"/>
                </a:rPr>
                <a:t>2026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762000" y="533400"/>
            <a:ext cx="2284145" cy="690562"/>
            <a:chOff x="762000" y="533400"/>
            <a:chExt cx="2284145" cy="690562"/>
          </a:xfrm>
        </p:grpSpPr>
        <p:sp>
          <p:nvSpPr>
            <p:cNvPr id="3" name="Rectangle 3"/>
            <p:cNvSpPr/>
            <p:nvPr/>
          </p:nvSpPr>
          <p:spPr>
            <a:xfrm>
              <a:off x="762000" y="533400"/>
              <a:ext cx="38100" cy="647700"/>
            </a:xfrm>
            <a:prstGeom prst="roundRect">
              <a:avLst>
                <a:gd name="adj" fmla="val 50000"/>
              </a:avLst>
            </a:prstGeom>
            <a:solidFill>
              <a:srgbClr val="00897B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916305" y="549592"/>
              <a:ext cx="166859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D1D1F"/>
                  </a:solidFill>
                  <a:latin typeface="Arial"/>
                  <a:ea typeface="Microsoft YaHei"/>
                  <a:cs typeface="Arial"/>
                </a:rPr>
                <a:t>汇报目录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939165" y="1010602"/>
              <a:ext cx="210698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房屋租赁系统 · 软件工程大作业</a:t>
              </a:r>
            </a:p>
          </p:txBody>
        </p:sp>
      </p:grpSp>
      <p:sp>
        <p:nvSpPr>
          <p:cNvPr id="7" name="Line 7"/>
          <p:cNvSpPr/>
          <p:nvPr/>
        </p:nvSpPr>
        <p:spPr>
          <a:xfrm>
            <a:off x="762000" y="1476375"/>
            <a:ext cx="10668000" cy="9525"/>
          </a:xfrm>
          <a:custGeom>
            <a:avLst/>
            <a:gdLst/>
            <a:ahLst/>
            <a:cxnLst/>
            <a:rect l="l" t="t" r="r" b="b"/>
            <a:pathLst>
              <a:path w="10668000" h="9525">
                <a:moveTo>
                  <a:pt x="0" y="0"/>
                </a:moveTo>
                <a:lnTo>
                  <a:pt x="10668000" y="0"/>
                </a:lnTo>
              </a:path>
            </a:pathLst>
          </a:custGeom>
          <a:noFill/>
          <a:ln w="19050">
            <a:solidFill>
              <a:srgbClr val="E5E7EB"/>
            </a:solidFill>
          </a:ln>
        </p:spPr>
      </p:sp>
      <p:sp>
        <p:nvSpPr>
          <p:cNvPr id="8" name="Line 8"/>
          <p:cNvSpPr/>
          <p:nvPr/>
        </p:nvSpPr>
        <p:spPr>
          <a:xfrm>
            <a:off x="1238250" y="2047875"/>
            <a:ext cx="9525" cy="3762375"/>
          </a:xfrm>
          <a:custGeom>
            <a:avLst/>
            <a:gdLst/>
            <a:ahLst/>
            <a:cxnLst/>
            <a:rect l="l" t="t" r="r" b="b"/>
            <a:pathLst>
              <a:path w="9525" h="3762375">
                <a:moveTo>
                  <a:pt x="0" y="0"/>
                </a:moveTo>
                <a:lnTo>
                  <a:pt x="0" y="3762375"/>
                </a:lnTo>
              </a:path>
            </a:pathLst>
          </a:custGeom>
          <a:noFill/>
          <a:ln w="28575" cap="rnd">
            <a:gradFill>
              <a:gsLst>
                <a:gs pos="0">
                  <a:srgbClr val="00897B"/>
                </a:gs>
                <a:gs pos="100000">
                  <a:srgbClr val="4DB6AC"/>
                </a:gs>
              </a:gsLst>
              <a:lin ang="5400000" scaled="1"/>
            </a:gradFill>
          </a:ln>
        </p:spPr>
      </p:sp>
      <p:grpSp>
        <p:nvGrpSpPr>
          <p:cNvPr id="13" name="Group 13"/>
          <p:cNvGrpSpPr/>
          <p:nvPr/>
        </p:nvGrpSpPr>
        <p:grpSpPr>
          <a:xfrm>
            <a:off x="1009650" y="2012632"/>
            <a:ext cx="3627787" cy="563880"/>
            <a:chOff x="1009650" y="2012632"/>
            <a:chExt cx="3627787" cy="563880"/>
          </a:xfrm>
        </p:grpSpPr>
        <p:sp>
          <p:nvSpPr>
            <p:cNvPr id="9" name="Ellipse 9"/>
            <p:cNvSpPr/>
            <p:nvPr/>
          </p:nvSpPr>
          <p:spPr>
            <a:xfrm>
              <a:off x="1009650" y="2019300"/>
              <a:ext cx="457200" cy="457200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rgbClr val="00897B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137327" y="2202656"/>
              <a:ext cx="20184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00897B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788795" y="2012632"/>
              <a:ext cx="2352199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D1D1F"/>
                  </a:solidFill>
                  <a:latin typeface="Arial"/>
                  <a:ea typeface="Microsoft YaHei"/>
                  <a:cs typeface="Arial"/>
                </a:rPr>
                <a:t>项目概述与可行性分析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796415" y="2363152"/>
              <a:ext cx="284102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背景、生命周期模型、技术/经济/操作可行性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009650" y="2869882"/>
            <a:ext cx="5048964" cy="563880"/>
            <a:chOff x="1009650" y="2869882"/>
            <a:chExt cx="5048964" cy="563880"/>
          </a:xfrm>
        </p:grpSpPr>
        <p:sp>
          <p:nvSpPr>
            <p:cNvPr id="14" name="Ellipse 14"/>
            <p:cNvSpPr/>
            <p:nvPr/>
          </p:nvSpPr>
          <p:spPr>
            <a:xfrm>
              <a:off x="1009650" y="2876550"/>
              <a:ext cx="457200" cy="457200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rgbClr val="00897B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137327" y="3059906"/>
              <a:ext cx="20184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00897B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788795" y="2869882"/>
              <a:ext cx="96602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D1D1F"/>
                  </a:solidFill>
                  <a:latin typeface="Arial"/>
                  <a:ea typeface="Microsoft YaHei"/>
                  <a:cs typeface="Arial"/>
                </a:rPr>
                <a:t>需求分析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796415" y="3220402"/>
              <a:ext cx="426219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用户角色、结构化 DFD 分析、面向对象用例分析、功能与非功能需求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1009650" y="3727132"/>
            <a:ext cx="4292870" cy="563880"/>
            <a:chOff x="1009650" y="3727132"/>
            <a:chExt cx="4292870" cy="563880"/>
          </a:xfrm>
        </p:grpSpPr>
        <p:sp>
          <p:nvSpPr>
            <p:cNvPr id="19" name="Ellipse 19"/>
            <p:cNvSpPr/>
            <p:nvPr/>
          </p:nvSpPr>
          <p:spPr>
            <a:xfrm>
              <a:off x="1009650" y="3733800"/>
              <a:ext cx="457200" cy="457200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rgbClr val="00897B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137327" y="3917156"/>
              <a:ext cx="20184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00897B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788795" y="3727132"/>
              <a:ext cx="96602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D1D1F"/>
                  </a:solidFill>
                  <a:latin typeface="Arial"/>
                  <a:ea typeface="Microsoft YaHei"/>
                  <a:cs typeface="Arial"/>
                </a:rPr>
                <a:t>系统设计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796415" y="4077652"/>
              <a:ext cx="350610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架构设计、功能结构、数据库 ER 图、UI 设计、网络设计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1009650" y="4584382"/>
            <a:ext cx="3270742" cy="563880"/>
            <a:chOff x="1009650" y="4584382"/>
            <a:chExt cx="3270742" cy="563880"/>
          </a:xfrm>
        </p:grpSpPr>
        <p:sp>
          <p:nvSpPr>
            <p:cNvPr id="24" name="Ellipse 24"/>
            <p:cNvSpPr/>
            <p:nvPr/>
          </p:nvSpPr>
          <p:spPr>
            <a:xfrm>
              <a:off x="1009650" y="4591050"/>
              <a:ext cx="457200" cy="457200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rgbClr val="00897B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1137327" y="4774406"/>
              <a:ext cx="20184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00897B"/>
                  </a:solidFill>
                  <a:latin typeface="Arial"/>
                  <a:ea typeface="Microsoft YaHei"/>
                  <a:cs typeface="Arial"/>
                </a:rPr>
                <a:t>04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788795" y="4584382"/>
              <a:ext cx="1659112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D1D1F"/>
                  </a:solidFill>
                  <a:latin typeface="Arial"/>
                  <a:ea typeface="Microsoft YaHei"/>
                  <a:cs typeface="Arial"/>
                </a:rPr>
                <a:t>编码实现与测试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796415" y="4934902"/>
              <a:ext cx="248397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前后端实现、本地部署、白盒/黑盒测试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1009650" y="5441632"/>
            <a:ext cx="3753803" cy="563880"/>
            <a:chOff x="1009650" y="5441632"/>
            <a:chExt cx="3753803" cy="563880"/>
          </a:xfrm>
        </p:grpSpPr>
        <p:sp>
          <p:nvSpPr>
            <p:cNvPr id="29" name="Ellipse 29"/>
            <p:cNvSpPr/>
            <p:nvPr/>
          </p:nvSpPr>
          <p:spPr>
            <a:xfrm>
              <a:off x="1009650" y="5448300"/>
              <a:ext cx="457200" cy="457200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rgbClr val="00897B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1137327" y="5631656"/>
              <a:ext cx="20184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00897B"/>
                  </a:solidFill>
                  <a:latin typeface="Arial"/>
                  <a:ea typeface="Microsoft YaHei"/>
                  <a:cs typeface="Arial"/>
                </a:rPr>
                <a:t>05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788795" y="5441632"/>
              <a:ext cx="1659112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D1D1F"/>
                  </a:solidFill>
                  <a:latin typeface="Arial"/>
                  <a:ea typeface="Microsoft YaHei"/>
                  <a:cs typeface="Arial"/>
                </a:rPr>
                <a:t>项目管理与总结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796415" y="5792152"/>
              <a:ext cx="296703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甘特图、成员分工、配置管理、亮点与后续扩展</a:t>
              </a:r>
            </a:p>
          </p:txBody>
        </p:sp>
      </p:grpSp>
      <p:sp>
        <p:nvSpPr>
          <p:cNvPr id="34" name="TextBox 34"/>
          <p:cNvSpPr txBox="1"/>
          <p:nvPr/>
        </p:nvSpPr>
        <p:spPr>
          <a:xfrm>
            <a:off x="11016520" y="6475095"/>
            <a:ext cx="42491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02 / 21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0897B">
                  <a:alpha val="6000"/>
                </a:srgbClr>
              </a:gs>
              <a:gs pos="100000">
                <a:srgbClr val="00897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762000" y="533400"/>
            <a:ext cx="10668000" cy="476250"/>
            <a:chOff x="762000" y="533400"/>
            <a:chExt cx="10668000" cy="476250"/>
          </a:xfrm>
        </p:grpSpPr>
        <p:sp>
          <p:nvSpPr>
            <p:cNvPr id="4" name="Rectangle 4"/>
            <p:cNvSpPr/>
            <p:nvPr/>
          </p:nvSpPr>
          <p:spPr>
            <a:xfrm>
              <a:off x="762000" y="533400"/>
              <a:ext cx="38100" cy="323850"/>
            </a:xfrm>
            <a:prstGeom prst="roundRect">
              <a:avLst>
                <a:gd name="adj" fmla="val 50000"/>
              </a:avLst>
            </a:prstGeom>
            <a:solidFill>
              <a:srgbClr val="00897B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925830" y="554355"/>
              <a:ext cx="1229487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1D1D1F"/>
                  </a:solidFill>
                  <a:latin typeface="Arial"/>
                  <a:ea typeface="Microsoft YaHei"/>
                  <a:cs typeface="Arial"/>
                </a:rPr>
                <a:t>项目概述</a:t>
              </a:r>
            </a:p>
          </p:txBody>
        </p:sp>
        <p:sp>
          <p:nvSpPr>
            <p:cNvPr id="6" name="Line 6"/>
            <p:cNvSpPr/>
            <p:nvPr/>
          </p:nvSpPr>
          <p:spPr>
            <a:xfrm>
              <a:off x="762000" y="1000125"/>
              <a:ext cx="10668000" cy="9525"/>
            </a:xfrm>
            <a:custGeom>
              <a:avLst/>
              <a:gdLst/>
              <a:ahLst/>
              <a:cxnLst/>
              <a:rect l="l" t="t" r="r" b="b"/>
              <a:pathLst>
                <a:path w="10668000" h="9525">
                  <a:moveTo>
                    <a:pt x="0" y="0"/>
                  </a:moveTo>
                  <a:lnTo>
                    <a:pt x="10668000" y="0"/>
                  </a:lnTo>
                </a:path>
              </a:pathLst>
            </a:custGeom>
            <a:noFill/>
            <a:ln w="14288">
              <a:solidFill>
                <a:srgbClr val="E5E7EB"/>
              </a:solidFill>
            </a:ln>
          </p:spPr>
        </p:sp>
      </p:grpSp>
      <p:grpSp>
        <p:nvGrpSpPr>
          <p:cNvPr id="56" name="Group 56"/>
          <p:cNvGrpSpPr/>
          <p:nvPr/>
        </p:nvGrpSpPr>
        <p:grpSpPr>
          <a:xfrm>
            <a:off x="762000" y="1333500"/>
            <a:ext cx="10572750" cy="4000500"/>
            <a:chOff x="762000" y="1333500"/>
            <a:chExt cx="10572750" cy="4000500"/>
          </a:xfrm>
        </p:grpSpPr>
        <p:grpSp>
          <p:nvGrpSpPr>
            <p:cNvPr id="20" name="Group 20"/>
            <p:cNvGrpSpPr/>
            <p:nvPr/>
          </p:nvGrpSpPr>
          <p:grpSpPr>
            <a:xfrm>
              <a:off x="762000" y="1333500"/>
              <a:ext cx="2295525" cy="4000500"/>
              <a:chOff x="762000" y="1333500"/>
              <a:chExt cx="2295525" cy="4000500"/>
            </a:xfrm>
          </p:grpSpPr>
          <p:sp>
            <p:nvSpPr>
              <p:cNvPr id="8" name="Rectangle 8"/>
              <p:cNvSpPr/>
              <p:nvPr/>
            </p:nvSpPr>
            <p:spPr>
              <a:xfrm>
                <a:off x="3048000" y="1333500"/>
                <a:ext cx="9525" cy="4000500"/>
              </a:xfrm>
              <a:prstGeom prst="rect">
                <a:avLst/>
              </a:prstGeom>
              <a:solidFill>
                <a:srgbClr val="E5E7EB"/>
              </a:solidFill>
              <a:ln>
                <a:noFill/>
              </a:ln>
            </p:spPr>
          </p:sp>
          <p:sp>
            <p:nvSpPr>
              <p:cNvPr id="9" name="Rectangle 9"/>
              <p:cNvSpPr/>
              <p:nvPr/>
            </p:nvSpPr>
            <p:spPr>
              <a:xfrm>
                <a:off x="762000" y="1333500"/>
                <a:ext cx="1905000" cy="3810000"/>
              </a:xfrm>
              <a:prstGeom prst="roundRect">
                <a:avLst>
                  <a:gd name="adj" fmla="val 6000"/>
                </a:avLst>
              </a:prstGeom>
              <a:solidFill>
                <a:srgbClr val="F0F7F4"/>
              </a:solidFill>
              <a:ln>
                <a:noFill/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1543050" y="1714500"/>
                <a:ext cx="342900" cy="457200"/>
              </a:xfrm>
              <a:custGeom>
                <a:avLst/>
                <a:gdLst/>
                <a:ahLst/>
                <a:cxnLst/>
                <a:rect l="l" t="t" r="r" b="b"/>
                <a:pathLst>
                  <a:path w="342900" h="457200">
                    <a:moveTo>
                      <a:pt x="342900" y="0"/>
                    </a:moveTo>
                    <a:lnTo>
                      <a:pt x="0" y="0"/>
                    </a:lnTo>
                    <a:lnTo>
                      <a:pt x="0" y="457200"/>
                    </a:lnTo>
                    <a:lnTo>
                      <a:pt x="114300" y="457200"/>
                    </a:lnTo>
                    <a:lnTo>
                      <a:pt x="114300" y="342900"/>
                    </a:lnTo>
                    <a:lnTo>
                      <a:pt x="228600" y="342900"/>
                    </a:lnTo>
                    <a:lnTo>
                      <a:pt x="228600" y="457200"/>
                    </a:lnTo>
                    <a:lnTo>
                      <a:pt x="342900" y="457200"/>
                    </a:lnTo>
                    <a:lnTo>
                      <a:pt x="342900" y="0"/>
                    </a:lnTo>
                    <a:close/>
                    <a:moveTo>
                      <a:pt x="85725" y="85725"/>
                    </a:moveTo>
                    <a:lnTo>
                      <a:pt x="142875" y="85725"/>
                    </a:lnTo>
                    <a:lnTo>
                      <a:pt x="142875" y="142875"/>
                    </a:lnTo>
                    <a:lnTo>
                      <a:pt x="85725" y="142875"/>
                    </a:lnTo>
                    <a:lnTo>
                      <a:pt x="85725" y="85725"/>
                    </a:lnTo>
                    <a:close/>
                    <a:moveTo>
                      <a:pt x="142875" y="200025"/>
                    </a:moveTo>
                    <a:lnTo>
                      <a:pt x="85725" y="200025"/>
                    </a:lnTo>
                    <a:lnTo>
                      <a:pt x="85725" y="257175"/>
                    </a:lnTo>
                    <a:lnTo>
                      <a:pt x="142875" y="257175"/>
                    </a:lnTo>
                    <a:lnTo>
                      <a:pt x="142875" y="200025"/>
                    </a:lnTo>
                    <a:close/>
                    <a:moveTo>
                      <a:pt x="200025" y="85725"/>
                    </a:moveTo>
                    <a:lnTo>
                      <a:pt x="257175" y="85725"/>
                    </a:lnTo>
                    <a:lnTo>
                      <a:pt x="257175" y="142875"/>
                    </a:lnTo>
                    <a:lnTo>
                      <a:pt x="200025" y="142875"/>
                    </a:lnTo>
                    <a:lnTo>
                      <a:pt x="200025" y="85725"/>
                    </a:lnTo>
                    <a:close/>
                    <a:moveTo>
                      <a:pt x="257175" y="200025"/>
                    </a:moveTo>
                    <a:lnTo>
                      <a:pt x="200025" y="200025"/>
                    </a:lnTo>
                    <a:lnTo>
                      <a:pt x="200025" y="257175"/>
                    </a:lnTo>
                    <a:lnTo>
                      <a:pt x="257175" y="257175"/>
                    </a:lnTo>
                    <a:lnTo>
                      <a:pt x="257175" y="200025"/>
                    </a:lnTo>
                    <a:close/>
                  </a:path>
                </a:pathLst>
              </a:custGeom>
              <a:solidFill>
                <a:srgbClr val="00897B"/>
              </a:solidFill>
              <a:ln>
                <a:noFill/>
              </a:ln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1363218" y="2346960"/>
                <a:ext cx="702564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00695C"/>
                    </a:solidFill>
                    <a:latin typeface="Arial"/>
                    <a:ea typeface="Microsoft YaHei"/>
                    <a:cs typeface="Arial"/>
                  </a:rPr>
                  <a:t>市场背景</a:t>
                </a: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1117044" y="2656999"/>
                <a:ext cx="1194911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住房租赁市场规范化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1117044" y="2866549"/>
                <a:ext cx="1194911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线上化降低沟通成本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1182052" y="3076099"/>
                <a:ext cx="1064895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青年群体流动增强</a:t>
                </a:r>
              </a:p>
            </p:txBody>
          </p:sp>
          <p:sp>
            <p:nvSpPr>
              <p:cNvPr id="15" name="Line 15"/>
              <p:cNvSpPr/>
              <p:nvPr/>
            </p:nvSpPr>
            <p:spPr>
              <a:xfrm>
                <a:off x="1047750" y="3524250"/>
                <a:ext cx="13335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333500" h="9525">
                    <a:moveTo>
                      <a:pt x="0" y="0"/>
                    </a:moveTo>
                    <a:lnTo>
                      <a:pt x="1333500" y="0"/>
                    </a:lnTo>
                  </a:path>
                </a:pathLst>
              </a:custGeom>
              <a:noFill/>
              <a:ln w="9525">
                <a:solidFill>
                  <a:srgbClr val="E5E7EB"/>
                </a:solidFill>
              </a:ln>
            </p:spPr>
          </p:sp>
          <p:sp>
            <p:nvSpPr>
              <p:cNvPr id="16" name="Freeform 16"/>
              <p:cNvSpPr/>
              <p:nvPr/>
            </p:nvSpPr>
            <p:spPr>
              <a:xfrm>
                <a:off x="1494270" y="3895725"/>
                <a:ext cx="448830" cy="277380"/>
              </a:xfrm>
              <a:custGeom>
                <a:avLst/>
                <a:gdLst/>
                <a:ahLst/>
                <a:cxnLst/>
                <a:rect l="l" t="t" r="r" b="b"/>
                <a:pathLst>
                  <a:path w="448830" h="277380">
                    <a:moveTo>
                      <a:pt x="277380" y="0"/>
                    </a:moveTo>
                    <a:lnTo>
                      <a:pt x="248805" y="28575"/>
                    </a:lnTo>
                    <a:lnTo>
                      <a:pt x="314325" y="94094"/>
                    </a:lnTo>
                    <a:lnTo>
                      <a:pt x="234518" y="173901"/>
                    </a:lnTo>
                    <a:lnTo>
                      <a:pt x="148793" y="88176"/>
                    </a:lnTo>
                    <a:lnTo>
                      <a:pt x="0" y="236970"/>
                    </a:lnTo>
                    <a:lnTo>
                      <a:pt x="40411" y="277380"/>
                    </a:lnTo>
                    <a:lnTo>
                      <a:pt x="148793" y="168999"/>
                    </a:lnTo>
                    <a:lnTo>
                      <a:pt x="234518" y="254723"/>
                    </a:lnTo>
                    <a:lnTo>
                      <a:pt x="354736" y="134506"/>
                    </a:lnTo>
                    <a:lnTo>
                      <a:pt x="420255" y="200025"/>
                    </a:lnTo>
                    <a:lnTo>
                      <a:pt x="448830" y="171450"/>
                    </a:lnTo>
                    <a:lnTo>
                      <a:pt x="448830" y="0"/>
                    </a:lnTo>
                    <a:lnTo>
                      <a:pt x="277380" y="0"/>
                    </a:lnTo>
                    <a:close/>
                  </a:path>
                </a:pathLst>
              </a:custGeom>
              <a:solidFill>
                <a:srgbClr val="00897B"/>
              </a:solidFill>
              <a:ln>
                <a:noFill/>
              </a:ln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1363218" y="4442460"/>
                <a:ext cx="702564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00695C"/>
                    </a:solidFill>
                    <a:latin typeface="Arial"/>
                    <a:ea typeface="Microsoft YaHei"/>
                    <a:cs typeface="Arial"/>
                  </a:rPr>
                  <a:t>项目目标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1117044" y="4752499"/>
                <a:ext cx="1194911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为租客提供线上服务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1117044" y="4962049"/>
                <a:ext cx="1194911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为运营提供管理能力</a:t>
                </a:r>
              </a:p>
            </p:txBody>
          </p:sp>
        </p:grpSp>
        <p:grpSp>
          <p:nvGrpSpPr>
            <p:cNvPr id="28" name="Group 28"/>
            <p:cNvGrpSpPr/>
            <p:nvPr/>
          </p:nvGrpSpPr>
          <p:grpSpPr>
            <a:xfrm>
              <a:off x="4572000" y="1333500"/>
              <a:ext cx="3143250" cy="1809750"/>
              <a:chOff x="4572000" y="1333500"/>
              <a:chExt cx="3143250" cy="1809750"/>
            </a:xfrm>
          </p:grpSpPr>
          <p:sp>
            <p:nvSpPr>
              <p:cNvPr id="21" name="Rectangle 21"/>
              <p:cNvSpPr/>
              <p:nvPr/>
            </p:nvSpPr>
            <p:spPr>
              <a:xfrm>
                <a:off x="4572000" y="1333500"/>
                <a:ext cx="3143250" cy="1809750"/>
              </a:xfrm>
              <a:prstGeom prst="roundRect">
                <a:avLst>
                  <a:gd name="adj" fmla="val 6316"/>
                </a:avLst>
              </a:prstGeom>
              <a:solidFill>
                <a:srgbClr val="FFFFFF"/>
              </a:solidFill>
              <a:ln w="9525">
                <a:solidFill>
                  <a:srgbClr val="E5E7EB"/>
                </a:solidFill>
              </a:ln>
            </p:spPr>
          </p:sp>
          <p:sp>
            <p:nvSpPr>
              <p:cNvPr id="22" name="TextBox 22"/>
              <p:cNvSpPr txBox="1"/>
              <p:nvPr/>
            </p:nvSpPr>
            <p:spPr>
              <a:xfrm>
                <a:off x="4745355" y="1473518"/>
                <a:ext cx="601361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00897B"/>
                    </a:solidFill>
                    <a:latin typeface="Arial"/>
                    <a:ea typeface="Microsoft YaHei"/>
                    <a:cs typeface="Arial"/>
                  </a:rPr>
                  <a:t>技术栈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4749165" y="1839278"/>
                <a:ext cx="2925032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1D1D1F"/>
                    </a:solidFill>
                    <a:latin typeface="Arial"/>
                    <a:ea typeface="Microsoft YaHei"/>
                    <a:cs typeface="Arial"/>
                  </a:rPr>
                  <a:t>• 后端：Spring Boot 3 + MyBatis-Plus + JWT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4749165" y="2077402"/>
                <a:ext cx="2785015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1D1D1F"/>
                    </a:solidFill>
                    <a:latin typeface="Arial"/>
                    <a:ea typeface="Microsoft YaHei"/>
                    <a:cs typeface="Arial"/>
                  </a:rPr>
                  <a:t>• 前端：Vue3 + Vite + Element Plus + Vant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4749165" y="2315528"/>
                <a:ext cx="1657874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1D1D1F"/>
                    </a:solidFill>
                    <a:latin typeface="Arial"/>
                    <a:ea typeface="Microsoft YaHei"/>
                    <a:cs typeface="Arial"/>
                  </a:rPr>
                  <a:t>• 数据库：MySQL + Redis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4749165" y="2553652"/>
                <a:ext cx="1538859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1D1D1F"/>
                    </a:solidFill>
                    <a:latin typeface="Arial"/>
                    <a:ea typeface="Microsoft YaHei"/>
                    <a:cs typeface="Arial"/>
                  </a:rPr>
                  <a:t>• 存储：MinIO 对象存储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4749165" y="2791778"/>
                <a:ext cx="1636871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1D1D1F"/>
                    </a:solidFill>
                    <a:latin typeface="Arial"/>
                    <a:ea typeface="Microsoft YaHei"/>
                    <a:cs typeface="Arial"/>
                  </a:rPr>
                  <a:t>• 部署：Docker Compose</a:t>
                </a:r>
              </a:p>
            </p:txBody>
          </p:sp>
        </p:grpSp>
        <p:grpSp>
          <p:nvGrpSpPr>
            <p:cNvPr id="36" name="Group 36"/>
            <p:cNvGrpSpPr/>
            <p:nvPr/>
          </p:nvGrpSpPr>
          <p:grpSpPr>
            <a:xfrm>
              <a:off x="8191500" y="1333500"/>
              <a:ext cx="3143250" cy="1809750"/>
              <a:chOff x="8191500" y="1333500"/>
              <a:chExt cx="3143250" cy="1809750"/>
            </a:xfrm>
          </p:grpSpPr>
          <p:sp>
            <p:nvSpPr>
              <p:cNvPr id="29" name="Rectangle 29"/>
              <p:cNvSpPr/>
              <p:nvPr/>
            </p:nvSpPr>
            <p:spPr>
              <a:xfrm>
                <a:off x="8191500" y="1333500"/>
                <a:ext cx="3143250" cy="1809750"/>
              </a:xfrm>
              <a:prstGeom prst="roundRect">
                <a:avLst>
                  <a:gd name="adj" fmla="val 6316"/>
                </a:avLst>
              </a:prstGeom>
              <a:solidFill>
                <a:srgbClr val="FFFFFF"/>
              </a:solidFill>
              <a:ln w="9525">
                <a:solidFill>
                  <a:srgbClr val="E5E7EB"/>
                </a:solidFill>
              </a:ln>
            </p:spPr>
          </p:sp>
          <p:sp>
            <p:nvSpPr>
              <p:cNvPr id="30" name="TextBox 30"/>
              <p:cNvSpPr txBox="1"/>
              <p:nvPr/>
            </p:nvSpPr>
            <p:spPr>
              <a:xfrm>
                <a:off x="8364855" y="1473518"/>
                <a:ext cx="1168432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00897B"/>
                    </a:solidFill>
                    <a:latin typeface="Arial"/>
                    <a:ea typeface="Microsoft YaHei"/>
                    <a:cs typeface="Arial"/>
                  </a:rPr>
                  <a:t>生命周期模型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8368665" y="1839278"/>
                <a:ext cx="1405842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1D1D1F"/>
                    </a:solidFill>
                    <a:latin typeface="Arial"/>
                    <a:ea typeface="Microsoft YaHei"/>
                    <a:cs typeface="Arial"/>
                  </a:rPr>
                  <a:t>• 选择：增量迭代模型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8369618" y="2085499"/>
                <a:ext cx="1454944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核心业务拆分为独立增量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8368665" y="2315528"/>
                <a:ext cx="1685877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1D1D1F"/>
                    </a:solidFill>
                    <a:latin typeface="Arial"/>
                    <a:ea typeface="Microsoft YaHei"/>
                    <a:cs typeface="Arial"/>
                  </a:rPr>
                  <a:t>• 各增量可形成可运行版本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8369618" y="2561749"/>
                <a:ext cx="1584960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适合前后端联调频繁的场景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8369618" y="2799874"/>
                <a:ext cx="1064895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需求细节逐步明确</a:t>
                </a:r>
              </a:p>
            </p:txBody>
          </p:sp>
        </p:grpSp>
        <p:grpSp>
          <p:nvGrpSpPr>
            <p:cNvPr id="55" name="Group 55"/>
            <p:cNvGrpSpPr/>
            <p:nvPr/>
          </p:nvGrpSpPr>
          <p:grpSpPr>
            <a:xfrm>
              <a:off x="4572000" y="3381375"/>
              <a:ext cx="6762750" cy="1809750"/>
              <a:chOff x="4572000" y="3381375"/>
              <a:chExt cx="6762750" cy="1809750"/>
            </a:xfrm>
          </p:grpSpPr>
          <p:sp>
            <p:nvSpPr>
              <p:cNvPr id="37" name="Rectangle 37"/>
              <p:cNvSpPr/>
              <p:nvPr/>
            </p:nvSpPr>
            <p:spPr>
              <a:xfrm>
                <a:off x="4572000" y="3381375"/>
                <a:ext cx="6762750" cy="1809750"/>
              </a:xfrm>
              <a:prstGeom prst="roundRect">
                <a:avLst>
                  <a:gd name="adj" fmla="val 6316"/>
                </a:avLst>
              </a:prstGeom>
              <a:solidFill>
                <a:srgbClr val="F0F7F4"/>
              </a:solidFill>
              <a:ln>
                <a:noFill/>
              </a:ln>
            </p:spPr>
          </p:sp>
          <p:sp>
            <p:nvSpPr>
              <p:cNvPr id="38" name="TextBox 38"/>
              <p:cNvSpPr txBox="1"/>
              <p:nvPr/>
            </p:nvSpPr>
            <p:spPr>
              <a:xfrm>
                <a:off x="4785360" y="3537585"/>
                <a:ext cx="1038606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00695C"/>
                    </a:solidFill>
                    <a:latin typeface="Arial"/>
                    <a:ea typeface="Microsoft YaHei"/>
                    <a:cs typeface="Arial"/>
                  </a:rPr>
                  <a:t>核心业务模块</a:t>
                </a:r>
              </a:p>
            </p:txBody>
          </p:sp>
          <p:sp>
            <p:nvSpPr>
              <p:cNvPr id="39" name="Rectangle 39"/>
              <p:cNvSpPr/>
              <p:nvPr/>
            </p:nvSpPr>
            <p:spPr>
              <a:xfrm>
                <a:off x="4800600" y="3857625"/>
                <a:ext cx="1476375" cy="1047750"/>
              </a:xfrm>
              <a:prstGeom prst="roundRect">
                <a:avLst>
                  <a:gd name="adj" fmla="val 7273"/>
                </a:avLst>
              </a:pr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40" name="TextBox 40"/>
              <p:cNvSpPr txBox="1"/>
              <p:nvPr/>
            </p:nvSpPr>
            <p:spPr>
              <a:xfrm>
                <a:off x="5248608" y="4057174"/>
                <a:ext cx="570833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b="1" dirty="0">
                    <a:solidFill>
                      <a:srgbClr val="00897B"/>
                    </a:solidFill>
                    <a:latin typeface="Arial"/>
                    <a:ea typeface="Microsoft YaHei"/>
                    <a:cs typeface="Arial"/>
                  </a:rPr>
                  <a:t>房源管理</a:t>
                </a:r>
              </a:p>
            </p:txBody>
          </p:sp>
          <p:sp>
            <p:nvSpPr>
              <p:cNvPr id="41" name="TextBox 41"/>
              <p:cNvSpPr txBox="1"/>
              <p:nvPr/>
            </p:nvSpPr>
            <p:spPr>
              <a:xfrm>
                <a:off x="5132999" y="4321016"/>
                <a:ext cx="802053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5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公寓/房间/属性</a:t>
                </a:r>
              </a:p>
            </p:txBody>
          </p:sp>
          <p:sp>
            <p:nvSpPr>
              <p:cNvPr id="42" name="TextBox 42"/>
              <p:cNvSpPr txBox="1"/>
              <p:nvPr/>
            </p:nvSpPr>
            <p:spPr>
              <a:xfrm>
                <a:off x="5138499" y="4492466"/>
                <a:ext cx="791051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5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图片标签全维护</a:t>
                </a:r>
              </a:p>
            </p:txBody>
          </p:sp>
          <p:sp>
            <p:nvSpPr>
              <p:cNvPr id="43" name="Rectangle 43"/>
              <p:cNvSpPr/>
              <p:nvPr/>
            </p:nvSpPr>
            <p:spPr>
              <a:xfrm>
                <a:off x="6429375" y="3857625"/>
                <a:ext cx="1476375" cy="1047750"/>
              </a:xfrm>
              <a:prstGeom prst="roundRect">
                <a:avLst>
                  <a:gd name="adj" fmla="val 7273"/>
                </a:avLst>
              </a:pr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44" name="TextBox 44"/>
              <p:cNvSpPr txBox="1"/>
              <p:nvPr/>
            </p:nvSpPr>
            <p:spPr>
              <a:xfrm>
                <a:off x="6877383" y="4057174"/>
                <a:ext cx="570833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b="1" dirty="0">
                    <a:solidFill>
                      <a:srgbClr val="00897B"/>
                    </a:solidFill>
                    <a:latin typeface="Arial"/>
                    <a:ea typeface="Microsoft YaHei"/>
                    <a:cs typeface="Arial"/>
                  </a:rPr>
                  <a:t>预约管理</a:t>
                </a:r>
              </a:p>
            </p:txBody>
          </p:sp>
          <p:sp>
            <p:nvSpPr>
              <p:cNvPr id="45" name="TextBox 45"/>
              <p:cNvSpPr txBox="1"/>
              <p:nvPr/>
            </p:nvSpPr>
            <p:spPr>
              <a:xfrm>
                <a:off x="6682014" y="4321016"/>
                <a:ext cx="961573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5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看房预约/状态流转</a:t>
                </a:r>
              </a:p>
            </p:txBody>
          </p:sp>
          <p:sp>
            <p:nvSpPr>
              <p:cNvPr id="46" name="TextBox 46"/>
              <p:cNvSpPr txBox="1"/>
              <p:nvPr/>
            </p:nvSpPr>
            <p:spPr>
              <a:xfrm>
                <a:off x="6767274" y="4492466"/>
                <a:ext cx="791051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5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租客与运营交互</a:t>
                </a:r>
              </a:p>
            </p:txBody>
          </p:sp>
          <p:sp>
            <p:nvSpPr>
              <p:cNvPr id="47" name="Rectangle 47"/>
              <p:cNvSpPr/>
              <p:nvPr/>
            </p:nvSpPr>
            <p:spPr>
              <a:xfrm>
                <a:off x="8058150" y="3857625"/>
                <a:ext cx="1476375" cy="1047750"/>
              </a:xfrm>
              <a:prstGeom prst="roundRect">
                <a:avLst>
                  <a:gd name="adj" fmla="val 7273"/>
                </a:avLst>
              </a:pr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48" name="TextBox 48"/>
              <p:cNvSpPr txBox="1"/>
              <p:nvPr/>
            </p:nvSpPr>
            <p:spPr>
              <a:xfrm>
                <a:off x="8506158" y="4057174"/>
                <a:ext cx="570833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b="1" dirty="0">
                    <a:solidFill>
                      <a:srgbClr val="00897B"/>
                    </a:solidFill>
                    <a:latin typeface="Arial"/>
                    <a:ea typeface="Microsoft YaHei"/>
                    <a:cs typeface="Arial"/>
                  </a:rPr>
                  <a:t>租约管理</a:t>
                </a:r>
              </a:p>
            </p:txBody>
          </p:sp>
          <p:sp>
            <p:nvSpPr>
              <p:cNvPr id="49" name="TextBox 49"/>
              <p:cNvSpPr txBox="1"/>
              <p:nvPr/>
            </p:nvSpPr>
            <p:spPr>
              <a:xfrm>
                <a:off x="8390549" y="4321016"/>
                <a:ext cx="802053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5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合同/租期/支付</a:t>
                </a:r>
              </a:p>
            </p:txBody>
          </p:sp>
          <p:sp>
            <p:nvSpPr>
              <p:cNvPr id="50" name="TextBox 50"/>
              <p:cNvSpPr txBox="1"/>
              <p:nvPr/>
            </p:nvSpPr>
            <p:spPr>
              <a:xfrm>
                <a:off x="8451056" y="4492466"/>
                <a:ext cx="681038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5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退租状态管理</a:t>
                </a:r>
              </a:p>
            </p:txBody>
          </p:sp>
          <p:sp>
            <p:nvSpPr>
              <p:cNvPr id="51" name="Rectangle 51"/>
              <p:cNvSpPr/>
              <p:nvPr/>
            </p:nvSpPr>
            <p:spPr>
              <a:xfrm>
                <a:off x="9686925" y="3857625"/>
                <a:ext cx="1476375" cy="1047750"/>
              </a:xfrm>
              <a:prstGeom prst="roundRect">
                <a:avLst>
                  <a:gd name="adj" fmla="val 7273"/>
                </a:avLst>
              </a:pr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52" name="TextBox 52"/>
              <p:cNvSpPr txBox="1"/>
              <p:nvPr/>
            </p:nvSpPr>
            <p:spPr>
              <a:xfrm>
                <a:off x="10134933" y="4057174"/>
                <a:ext cx="570833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b="1" dirty="0">
                    <a:solidFill>
                      <a:srgbClr val="00897B"/>
                    </a:solidFill>
                    <a:latin typeface="Arial"/>
                    <a:ea typeface="Microsoft YaHei"/>
                    <a:cs typeface="Arial"/>
                  </a:rPr>
                  <a:t>后台管理</a:t>
                </a:r>
              </a:p>
            </p:txBody>
          </p:sp>
          <p:sp>
            <p:nvSpPr>
              <p:cNvPr id="53" name="TextBox 53"/>
              <p:cNvSpPr txBox="1"/>
              <p:nvPr/>
            </p:nvSpPr>
            <p:spPr>
              <a:xfrm>
                <a:off x="10019324" y="4321016"/>
                <a:ext cx="802053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5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用户/权限/角色</a:t>
                </a:r>
              </a:p>
            </p:txBody>
          </p:sp>
          <p:sp>
            <p:nvSpPr>
              <p:cNvPr id="54" name="TextBox 54"/>
              <p:cNvSpPr txBox="1"/>
              <p:nvPr/>
            </p:nvSpPr>
            <p:spPr>
              <a:xfrm>
                <a:off x="10079831" y="4492466"/>
                <a:ext cx="681038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5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系统配置维护</a:t>
                </a:r>
              </a:p>
            </p:txBody>
          </p:sp>
        </p:grpSp>
      </p:grpSp>
      <p:grpSp>
        <p:nvGrpSpPr>
          <p:cNvPr id="60" name="Group 60"/>
          <p:cNvGrpSpPr/>
          <p:nvPr/>
        </p:nvGrpSpPr>
        <p:grpSpPr>
          <a:xfrm>
            <a:off x="750570" y="6477000"/>
            <a:ext cx="10690860" cy="257175"/>
            <a:chOff x="750570" y="6477000"/>
            <a:chExt cx="10690860" cy="257175"/>
          </a:xfrm>
        </p:grpSpPr>
        <p:sp>
          <p:nvSpPr>
            <p:cNvPr id="57" name="Line 57"/>
            <p:cNvSpPr/>
            <p:nvPr/>
          </p:nvSpPr>
          <p:spPr>
            <a:xfrm>
              <a:off x="762000" y="6477000"/>
              <a:ext cx="10668000" cy="9525"/>
            </a:xfrm>
            <a:custGeom>
              <a:avLst/>
              <a:gdLst/>
              <a:ahLst/>
              <a:cxnLst/>
              <a:rect l="l" t="t" r="r" b="b"/>
              <a:pathLst>
                <a:path w="10668000" h="9525">
                  <a:moveTo>
                    <a:pt x="0" y="0"/>
                  </a:moveTo>
                  <a:lnTo>
                    <a:pt x="10668000" y="0"/>
                  </a:lnTo>
                </a:path>
              </a:pathLst>
            </a:custGeom>
            <a:noFill/>
            <a:ln w="9525">
              <a:solidFill>
                <a:srgbClr val="E5E7EB"/>
              </a:solidFill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750570" y="6551295"/>
              <a:ext cx="74295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CA3AF"/>
                  </a:solidFill>
                  <a:latin typeface="Arial"/>
                  <a:ea typeface="Microsoft YaHei"/>
                  <a:cs typeface="Arial"/>
                </a:rPr>
                <a:t>房屋租赁系统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11016520" y="6551295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9CA3AF"/>
                  </a:solidFill>
                  <a:latin typeface="Arial"/>
                  <a:ea typeface="Microsoft YaHei"/>
                  <a:cs typeface="Arial"/>
                </a:rPr>
                <a:t>03 / 21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0897B">
                  <a:alpha val="5000"/>
                </a:srgbClr>
              </a:gs>
              <a:gs pos="100000">
                <a:srgbClr val="00897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762000" y="533400"/>
            <a:ext cx="10668000" cy="476250"/>
            <a:chOff x="762000" y="533400"/>
            <a:chExt cx="10668000" cy="476250"/>
          </a:xfrm>
        </p:grpSpPr>
        <p:sp>
          <p:nvSpPr>
            <p:cNvPr id="4" name="Rectangle 4"/>
            <p:cNvSpPr/>
            <p:nvPr/>
          </p:nvSpPr>
          <p:spPr>
            <a:xfrm>
              <a:off x="762000" y="533400"/>
              <a:ext cx="38100" cy="323850"/>
            </a:xfrm>
            <a:prstGeom prst="roundRect">
              <a:avLst>
                <a:gd name="adj" fmla="val 50000"/>
              </a:avLst>
            </a:prstGeom>
            <a:solidFill>
              <a:srgbClr val="00897B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925830" y="554355"/>
              <a:ext cx="1523524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1D1D1F"/>
                  </a:solidFill>
                  <a:latin typeface="Arial"/>
                  <a:ea typeface="Microsoft YaHei"/>
                  <a:cs typeface="Arial"/>
                </a:rPr>
                <a:t>可行性分析</a:t>
              </a:r>
            </a:p>
          </p:txBody>
        </p:sp>
        <p:sp>
          <p:nvSpPr>
            <p:cNvPr id="6" name="Line 6"/>
            <p:cNvSpPr/>
            <p:nvPr/>
          </p:nvSpPr>
          <p:spPr>
            <a:xfrm>
              <a:off x="762000" y="1000125"/>
              <a:ext cx="10668000" cy="9525"/>
            </a:xfrm>
            <a:custGeom>
              <a:avLst/>
              <a:gdLst/>
              <a:ahLst/>
              <a:cxnLst/>
              <a:rect l="l" t="t" r="r" b="b"/>
              <a:pathLst>
                <a:path w="10668000" h="9525">
                  <a:moveTo>
                    <a:pt x="0" y="0"/>
                  </a:moveTo>
                  <a:lnTo>
                    <a:pt x="10668000" y="0"/>
                  </a:lnTo>
                </a:path>
              </a:pathLst>
            </a:custGeom>
            <a:noFill/>
            <a:ln w="14288">
              <a:solidFill>
                <a:srgbClr val="E5E7EB"/>
              </a:solidFill>
            </a:ln>
          </p:spPr>
        </p:sp>
      </p:grpSp>
      <p:grpSp>
        <p:nvGrpSpPr>
          <p:cNvPr id="61" name="Group 61"/>
          <p:cNvGrpSpPr/>
          <p:nvPr/>
        </p:nvGrpSpPr>
        <p:grpSpPr>
          <a:xfrm>
            <a:off x="762000" y="1333500"/>
            <a:ext cx="10668000" cy="3333750"/>
            <a:chOff x="762000" y="1333500"/>
            <a:chExt cx="10668000" cy="3333750"/>
          </a:xfrm>
        </p:grpSpPr>
        <p:grpSp>
          <p:nvGrpSpPr>
            <p:cNvPr id="21" name="Group 21"/>
            <p:cNvGrpSpPr/>
            <p:nvPr/>
          </p:nvGrpSpPr>
          <p:grpSpPr>
            <a:xfrm>
              <a:off x="762000" y="1333500"/>
              <a:ext cx="3429000" cy="3333750"/>
              <a:chOff x="762000" y="1333500"/>
              <a:chExt cx="3429000" cy="3333750"/>
            </a:xfrm>
          </p:grpSpPr>
          <p:sp>
            <p:nvSpPr>
              <p:cNvPr id="8" name="Rectangle 8"/>
              <p:cNvSpPr/>
              <p:nvPr/>
            </p:nvSpPr>
            <p:spPr>
              <a:xfrm>
                <a:off x="762000" y="1333500"/>
                <a:ext cx="3429000" cy="3333750"/>
              </a:xfrm>
              <a:prstGeom prst="roundRect">
                <a:avLst>
                  <a:gd name="adj" fmla="val 3429"/>
                </a:avLst>
              </a:prstGeom>
              <a:solidFill>
                <a:srgbClr val="FFFFFF"/>
              </a:solidFill>
              <a:ln w="9525">
                <a:solidFill>
                  <a:srgbClr val="E5E7EB"/>
                </a:solidFill>
              </a:ln>
            </p:spPr>
          </p:sp>
          <p:sp>
            <p:nvSpPr>
              <p:cNvPr id="9" name="Rectangle 9"/>
              <p:cNvSpPr/>
              <p:nvPr/>
            </p:nvSpPr>
            <p:spPr>
              <a:xfrm>
                <a:off x="762000" y="1333500"/>
                <a:ext cx="3429000" cy="762000"/>
              </a:xfrm>
              <a:prstGeom prst="roundRect">
                <a:avLst>
                  <a:gd name="adj" fmla="val 15000"/>
                </a:avLst>
              </a:prstGeom>
              <a:solidFill>
                <a:srgbClr val="00897B"/>
              </a:solidFill>
              <a:ln>
                <a:noFill/>
              </a:ln>
            </p:spPr>
          </p:sp>
          <p:sp>
            <p:nvSpPr>
              <p:cNvPr id="10" name="Rectangle 10"/>
              <p:cNvSpPr/>
              <p:nvPr/>
            </p:nvSpPr>
            <p:spPr>
              <a:xfrm>
                <a:off x="762000" y="1714500"/>
                <a:ext cx="3429000" cy="381000"/>
              </a:xfrm>
              <a:prstGeom prst="rect">
                <a:avLst/>
              </a:prstGeom>
              <a:solidFill>
                <a:srgbClr val="00897B"/>
              </a:solidFill>
              <a:ln>
                <a:noFill/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2276475" y="1504950"/>
                <a:ext cx="400050" cy="457200"/>
              </a:xfrm>
              <a:custGeom>
                <a:avLst/>
                <a:gdLst/>
                <a:ahLst/>
                <a:cxnLst/>
                <a:rect l="l" t="t" r="r" b="b"/>
                <a:pathLst>
                  <a:path w="400050" h="457200">
                    <a:moveTo>
                      <a:pt x="200025" y="457200"/>
                    </a:moveTo>
                    <a:lnTo>
                      <a:pt x="95729" y="382702"/>
                    </a:lnTo>
                    <a:cubicBezTo>
                      <a:pt x="35654" y="339791"/>
                      <a:pt x="0" y="270510"/>
                      <a:pt x="0" y="196683"/>
                    </a:cubicBezTo>
                    <a:lnTo>
                      <a:pt x="0" y="85725"/>
                    </a:lnTo>
                    <a:lnTo>
                      <a:pt x="200025" y="0"/>
                    </a:lnTo>
                    <a:lnTo>
                      <a:pt x="400050" y="85725"/>
                    </a:lnTo>
                    <a:lnTo>
                      <a:pt x="400050" y="196683"/>
                    </a:lnTo>
                    <a:cubicBezTo>
                      <a:pt x="400050" y="270510"/>
                      <a:pt x="364397" y="339791"/>
                      <a:pt x="304321" y="382702"/>
                    </a:cubicBezTo>
                    <a:lnTo>
                      <a:pt x="200025" y="457200"/>
                    </a:lnTo>
                    <a:close/>
                    <a:moveTo>
                      <a:pt x="320243" y="163081"/>
                    </a:moveTo>
                    <a:lnTo>
                      <a:pt x="279832" y="122669"/>
                    </a:lnTo>
                    <a:lnTo>
                      <a:pt x="171450" y="231051"/>
                    </a:lnTo>
                    <a:lnTo>
                      <a:pt x="120218" y="179819"/>
                    </a:lnTo>
                    <a:lnTo>
                      <a:pt x="79807" y="220231"/>
                    </a:lnTo>
                    <a:lnTo>
                      <a:pt x="171450" y="311873"/>
                    </a:lnTo>
                    <a:lnTo>
                      <a:pt x="320243" y="16308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1932384" y="2124075"/>
                <a:ext cx="1088231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b="1" dirty="0">
                    <a:solidFill>
                      <a:srgbClr val="00897B"/>
                    </a:solidFill>
                    <a:latin typeface="Arial"/>
                    <a:ea typeface="Microsoft YaHei"/>
                    <a:cs typeface="Arial"/>
                  </a:rPr>
                  <a:t>技术可行性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1035368" y="2561749"/>
                <a:ext cx="2566583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1D1D1F"/>
                    </a:solidFill>
                    <a:latin typeface="Arial"/>
                    <a:ea typeface="Microsoft YaHei"/>
                    <a:cs typeface="Arial"/>
                  </a:rPr>
                  <a:t>后端：Spring Boot 3、MyBatis-Plus、JWT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1035368" y="2799874"/>
                <a:ext cx="2417064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1D1D1F"/>
                    </a:solidFill>
                    <a:latin typeface="Arial"/>
                    <a:ea typeface="Microsoft YaHei"/>
                    <a:cs typeface="Arial"/>
                  </a:rPr>
                  <a:t>前端：Vue3、Vite、Element Plus、Vant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1035368" y="3037999"/>
                <a:ext cx="1409438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1D1D1F"/>
                    </a:solidFill>
                    <a:latin typeface="Arial"/>
                    <a:ea typeface="Microsoft YaHei"/>
                    <a:cs typeface="Arial"/>
                  </a:rPr>
                  <a:t>数据库：MySQL、Redis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1035368" y="3276124"/>
                <a:ext cx="1318427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1D1D1F"/>
                    </a:solidFill>
                    <a:latin typeface="Arial"/>
                    <a:ea typeface="Microsoft YaHei"/>
                    <a:cs typeface="Arial"/>
                  </a:rPr>
                  <a:t>存储：MinIO 对象存储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1036320" y="3569970"/>
                <a:ext cx="1463040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均为成熟技术栈，社区活跃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1036320" y="3760470"/>
                <a:ext cx="1457039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Docker Compose 统一部署</a:t>
                </a:r>
              </a:p>
            </p:txBody>
          </p:sp>
          <p:sp>
            <p:nvSpPr>
              <p:cNvPr id="19" name="Rectangle 19"/>
              <p:cNvSpPr/>
              <p:nvPr/>
            </p:nvSpPr>
            <p:spPr>
              <a:xfrm>
                <a:off x="1047750" y="4191000"/>
                <a:ext cx="2857500" cy="285750"/>
              </a:xfrm>
              <a:prstGeom prst="roundRect">
                <a:avLst>
                  <a:gd name="adj" fmla="val 50000"/>
                </a:avLst>
              </a:prstGeom>
              <a:solidFill>
                <a:srgbClr val="E8F5E9"/>
              </a:solidFill>
              <a:ln>
                <a:noFill/>
              </a:ln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2327600" y="4276249"/>
                <a:ext cx="297799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b="1" dirty="0">
                    <a:solidFill>
                      <a:srgbClr val="2E7D32"/>
                    </a:solidFill>
                    <a:latin typeface="Arial"/>
                    <a:ea typeface="Microsoft YaHei"/>
                    <a:cs typeface="Arial"/>
                  </a:rPr>
                  <a:t>可行</a:t>
                </a:r>
              </a:p>
            </p:txBody>
          </p:sp>
        </p:grpSp>
        <p:grpSp>
          <p:nvGrpSpPr>
            <p:cNvPr id="36" name="Group 36"/>
            <p:cNvGrpSpPr/>
            <p:nvPr/>
          </p:nvGrpSpPr>
          <p:grpSpPr>
            <a:xfrm>
              <a:off x="4381500" y="1333500"/>
              <a:ext cx="3429000" cy="3333750"/>
              <a:chOff x="4381500" y="1333500"/>
              <a:chExt cx="3429000" cy="3333750"/>
            </a:xfrm>
          </p:grpSpPr>
          <p:sp>
            <p:nvSpPr>
              <p:cNvPr id="22" name="Rectangle 22"/>
              <p:cNvSpPr/>
              <p:nvPr/>
            </p:nvSpPr>
            <p:spPr>
              <a:xfrm>
                <a:off x="4381500" y="1333500"/>
                <a:ext cx="3429000" cy="3333750"/>
              </a:xfrm>
              <a:prstGeom prst="roundRect">
                <a:avLst>
                  <a:gd name="adj" fmla="val 3429"/>
                </a:avLst>
              </a:prstGeom>
              <a:solidFill>
                <a:srgbClr val="FFFFFF"/>
              </a:solidFill>
              <a:ln w="9525">
                <a:solidFill>
                  <a:srgbClr val="E5E7EB"/>
                </a:solidFill>
              </a:ln>
            </p:spPr>
          </p:sp>
          <p:sp>
            <p:nvSpPr>
              <p:cNvPr id="23" name="Rectangle 23"/>
              <p:cNvSpPr/>
              <p:nvPr/>
            </p:nvSpPr>
            <p:spPr>
              <a:xfrm>
                <a:off x="4381500" y="1333500"/>
                <a:ext cx="3429000" cy="762000"/>
              </a:xfrm>
              <a:prstGeom prst="roundRect">
                <a:avLst>
                  <a:gd name="adj" fmla="val 15000"/>
                </a:avLst>
              </a:prstGeom>
              <a:solidFill>
                <a:srgbClr val="00897B"/>
              </a:solidFill>
              <a:ln>
                <a:noFill/>
              </a:ln>
            </p:spPr>
          </p:sp>
          <p:sp>
            <p:nvSpPr>
              <p:cNvPr id="24" name="Rectangle 24"/>
              <p:cNvSpPr/>
              <p:nvPr/>
            </p:nvSpPr>
            <p:spPr>
              <a:xfrm>
                <a:off x="4381500" y="1714500"/>
                <a:ext cx="3429000" cy="381000"/>
              </a:xfrm>
              <a:prstGeom prst="rect">
                <a:avLst/>
              </a:prstGeom>
              <a:solidFill>
                <a:srgbClr val="00897B"/>
              </a:solidFill>
              <a:ln>
                <a:noFill/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5924550" y="1504950"/>
                <a:ext cx="342900" cy="457200"/>
              </a:xfrm>
              <a:custGeom>
                <a:avLst/>
                <a:gdLst/>
                <a:ahLst/>
                <a:cxnLst/>
                <a:rect l="l" t="t" r="r" b="b"/>
                <a:pathLst>
                  <a:path w="342900" h="457200">
                    <a:moveTo>
                      <a:pt x="120474" y="428625"/>
                    </a:moveTo>
                    <a:lnTo>
                      <a:pt x="117299" y="457200"/>
                    </a:lnTo>
                    <a:lnTo>
                      <a:pt x="174801" y="457200"/>
                    </a:lnTo>
                    <a:lnTo>
                      <a:pt x="177976" y="428625"/>
                    </a:lnTo>
                    <a:lnTo>
                      <a:pt x="228686" y="428625"/>
                    </a:lnTo>
                    <a:cubicBezTo>
                      <a:pt x="291765" y="428625"/>
                      <a:pt x="342900" y="377490"/>
                      <a:pt x="342900" y="314411"/>
                    </a:cubicBezTo>
                    <a:cubicBezTo>
                      <a:pt x="342900" y="260879"/>
                      <a:pt x="305721" y="214530"/>
                      <a:pt x="253463" y="202917"/>
                    </a:cubicBezTo>
                    <a:lnTo>
                      <a:pt x="204269" y="191985"/>
                    </a:lnTo>
                    <a:lnTo>
                      <a:pt x="212901" y="114300"/>
                    </a:lnTo>
                    <a:lnTo>
                      <a:pt x="314325" y="114300"/>
                    </a:lnTo>
                    <a:lnTo>
                      <a:pt x="314325" y="28575"/>
                    </a:lnTo>
                    <a:lnTo>
                      <a:pt x="222426" y="28575"/>
                    </a:lnTo>
                    <a:lnTo>
                      <a:pt x="225601" y="0"/>
                    </a:lnTo>
                    <a:lnTo>
                      <a:pt x="168099" y="0"/>
                    </a:lnTo>
                    <a:lnTo>
                      <a:pt x="164924" y="28575"/>
                    </a:lnTo>
                    <a:lnTo>
                      <a:pt x="114214" y="28575"/>
                    </a:lnTo>
                    <a:cubicBezTo>
                      <a:pt x="51135" y="28575"/>
                      <a:pt x="0" y="79710"/>
                      <a:pt x="0" y="142789"/>
                    </a:cubicBezTo>
                    <a:cubicBezTo>
                      <a:pt x="0" y="196321"/>
                      <a:pt x="37180" y="242670"/>
                      <a:pt x="89437" y="254283"/>
                    </a:cubicBezTo>
                    <a:lnTo>
                      <a:pt x="138631" y="265215"/>
                    </a:lnTo>
                    <a:lnTo>
                      <a:pt x="129999" y="342900"/>
                    </a:lnTo>
                    <a:lnTo>
                      <a:pt x="28575" y="342900"/>
                    </a:lnTo>
                    <a:lnTo>
                      <a:pt x="28575" y="428625"/>
                    </a:lnTo>
                    <a:lnTo>
                      <a:pt x="120474" y="428625"/>
                    </a:lnTo>
                    <a:close/>
                    <a:moveTo>
                      <a:pt x="187501" y="342900"/>
                    </a:moveTo>
                    <a:lnTo>
                      <a:pt x="228686" y="342900"/>
                    </a:lnTo>
                    <a:cubicBezTo>
                      <a:pt x="244419" y="342900"/>
                      <a:pt x="257175" y="330144"/>
                      <a:pt x="257175" y="314411"/>
                    </a:cubicBezTo>
                    <a:cubicBezTo>
                      <a:pt x="257175" y="301058"/>
                      <a:pt x="247900" y="289496"/>
                      <a:pt x="234866" y="286602"/>
                    </a:cubicBezTo>
                    <a:lnTo>
                      <a:pt x="194747" y="277685"/>
                    </a:lnTo>
                    <a:lnTo>
                      <a:pt x="187501" y="342900"/>
                    </a:lnTo>
                    <a:close/>
                    <a:moveTo>
                      <a:pt x="148153" y="179515"/>
                    </a:moveTo>
                    <a:lnTo>
                      <a:pt x="155399" y="114300"/>
                    </a:lnTo>
                    <a:lnTo>
                      <a:pt x="114214" y="114300"/>
                    </a:lnTo>
                    <a:cubicBezTo>
                      <a:pt x="98480" y="114300"/>
                      <a:pt x="85725" y="127055"/>
                      <a:pt x="85725" y="142789"/>
                    </a:cubicBezTo>
                    <a:cubicBezTo>
                      <a:pt x="85725" y="156142"/>
                      <a:pt x="94999" y="167703"/>
                      <a:pt x="108034" y="170599"/>
                    </a:cubicBezTo>
                    <a:lnTo>
                      <a:pt x="148153" y="179515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26" name="TextBox 26"/>
              <p:cNvSpPr txBox="1"/>
              <p:nvPr/>
            </p:nvSpPr>
            <p:spPr>
              <a:xfrm>
                <a:off x="5236845" y="2124075"/>
                <a:ext cx="1718310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b="1" dirty="0">
                    <a:solidFill>
                      <a:srgbClr val="00897B"/>
                    </a:solidFill>
                    <a:latin typeface="Arial"/>
                    <a:ea typeface="Microsoft YaHei"/>
                    <a:cs typeface="Arial"/>
                  </a:rPr>
                  <a:t>经济与进度可行性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4654868" y="2561749"/>
                <a:ext cx="1695474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1D1D1F"/>
                    </a:solidFill>
                    <a:latin typeface="Arial"/>
                    <a:ea typeface="Microsoft YaHei"/>
                    <a:cs typeface="Arial"/>
                  </a:rPr>
                  <a:t>• 开源技术栈，零许可证成本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4654868" y="2799874"/>
                <a:ext cx="915376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1D1D1F"/>
                    </a:solidFill>
                    <a:latin typeface="Arial"/>
                    <a:ea typeface="Microsoft YaHei"/>
                    <a:cs typeface="Arial"/>
                  </a:rPr>
                  <a:t>• 两人分工推进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4654868" y="3037999"/>
                <a:ext cx="1097399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1D1D1F"/>
                    </a:solidFill>
                    <a:latin typeface="Arial"/>
                    <a:ea typeface="Microsoft YaHei"/>
                    <a:cs typeface="Arial"/>
                  </a:rPr>
                  <a:t>• 14 周完成全流程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4655820" y="3331845"/>
                <a:ext cx="1781080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戴晨威：后端/数据库/部署/测试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4655820" y="3522345"/>
                <a:ext cx="1403032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黄裔：前端/UI/需求/汇报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4655820" y="3808095"/>
                <a:ext cx="1943100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两人共同参与需求分析、系统设计、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4655820" y="3998595"/>
                <a:ext cx="1102995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联调测试和答辩准备</a:t>
                </a:r>
              </a:p>
            </p:txBody>
          </p:sp>
          <p:sp>
            <p:nvSpPr>
              <p:cNvPr id="34" name="Rectangle 34"/>
              <p:cNvSpPr/>
              <p:nvPr/>
            </p:nvSpPr>
            <p:spPr>
              <a:xfrm>
                <a:off x="4667250" y="4191000"/>
                <a:ext cx="2857500" cy="285750"/>
              </a:xfrm>
              <a:prstGeom prst="roundRect">
                <a:avLst>
                  <a:gd name="adj" fmla="val 50000"/>
                </a:avLst>
              </a:prstGeom>
              <a:solidFill>
                <a:srgbClr val="E8F5E9"/>
              </a:solidFill>
              <a:ln>
                <a:noFill/>
              </a:ln>
            </p:spPr>
          </p:sp>
          <p:sp>
            <p:nvSpPr>
              <p:cNvPr id="35" name="TextBox 35"/>
              <p:cNvSpPr txBox="1"/>
              <p:nvPr/>
            </p:nvSpPr>
            <p:spPr>
              <a:xfrm>
                <a:off x="5947100" y="4276249"/>
                <a:ext cx="297799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b="1" dirty="0">
                    <a:solidFill>
                      <a:srgbClr val="2E7D32"/>
                    </a:solidFill>
                    <a:latin typeface="Arial"/>
                    <a:ea typeface="Microsoft YaHei"/>
                    <a:cs typeface="Arial"/>
                  </a:rPr>
                  <a:t>可行</a:t>
                </a:r>
              </a:p>
            </p:txBody>
          </p:sp>
        </p:grpSp>
        <p:grpSp>
          <p:nvGrpSpPr>
            <p:cNvPr id="60" name="Group 60"/>
            <p:cNvGrpSpPr/>
            <p:nvPr/>
          </p:nvGrpSpPr>
          <p:grpSpPr>
            <a:xfrm>
              <a:off x="8001000" y="1333500"/>
              <a:ext cx="3429000" cy="3333750"/>
              <a:chOff x="8001000" y="1333500"/>
              <a:chExt cx="3429000" cy="3333750"/>
            </a:xfrm>
          </p:grpSpPr>
          <p:sp>
            <p:nvSpPr>
              <p:cNvPr id="37" name="Rectangle 37"/>
              <p:cNvSpPr/>
              <p:nvPr/>
            </p:nvSpPr>
            <p:spPr>
              <a:xfrm>
                <a:off x="8001000" y="1333500"/>
                <a:ext cx="3429000" cy="3333750"/>
              </a:xfrm>
              <a:prstGeom prst="roundRect">
                <a:avLst>
                  <a:gd name="adj" fmla="val 3429"/>
                </a:avLst>
              </a:prstGeom>
              <a:solidFill>
                <a:srgbClr val="FFFFFF"/>
              </a:solidFill>
              <a:ln w="9525">
                <a:solidFill>
                  <a:srgbClr val="E5E7EB"/>
                </a:solidFill>
              </a:ln>
            </p:spPr>
          </p:sp>
          <p:sp>
            <p:nvSpPr>
              <p:cNvPr id="38" name="Rectangle 38"/>
              <p:cNvSpPr/>
              <p:nvPr/>
            </p:nvSpPr>
            <p:spPr>
              <a:xfrm>
                <a:off x="8001000" y="1333500"/>
                <a:ext cx="3429000" cy="762000"/>
              </a:xfrm>
              <a:prstGeom prst="roundRect">
                <a:avLst>
                  <a:gd name="adj" fmla="val 15000"/>
                </a:avLst>
              </a:prstGeom>
              <a:solidFill>
                <a:srgbClr val="00897B"/>
              </a:solidFill>
              <a:ln>
                <a:noFill/>
              </a:ln>
            </p:spPr>
          </p:sp>
          <p:sp>
            <p:nvSpPr>
              <p:cNvPr id="39" name="Rectangle 39"/>
              <p:cNvSpPr/>
              <p:nvPr/>
            </p:nvSpPr>
            <p:spPr>
              <a:xfrm>
                <a:off x="8001000" y="1714500"/>
                <a:ext cx="3429000" cy="381000"/>
              </a:xfrm>
              <a:prstGeom prst="rect">
                <a:avLst/>
              </a:prstGeom>
              <a:solidFill>
                <a:srgbClr val="00897B"/>
              </a:solidFill>
              <a:ln>
                <a:noFill/>
              </a:ln>
            </p:spPr>
          </p:sp>
          <p:grpSp>
            <p:nvGrpSpPr>
              <p:cNvPr id="48" name="Group 48"/>
              <p:cNvGrpSpPr/>
              <p:nvPr/>
            </p:nvGrpSpPr>
            <p:grpSpPr>
              <a:xfrm>
                <a:off x="9515475" y="1533525"/>
                <a:ext cx="400050" cy="400050"/>
                <a:chOff x="9515475" y="1533525"/>
                <a:chExt cx="400050" cy="400050"/>
              </a:xfrm>
            </p:grpSpPr>
            <p:sp>
              <p:nvSpPr>
                <p:cNvPr id="40" name="Freeform 40"/>
                <p:cNvSpPr/>
                <p:nvPr/>
              </p:nvSpPr>
              <p:spPr>
                <a:xfrm>
                  <a:off x="9515475" y="1533525"/>
                  <a:ext cx="57150" cy="57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150" h="57150">
                      <a:moveTo>
                        <a:pt x="57150" y="0"/>
                      </a:moveTo>
                      <a:lnTo>
                        <a:pt x="0" y="0"/>
                      </a:lnTo>
                      <a:lnTo>
                        <a:pt x="0" y="57150"/>
                      </a:lnTo>
                      <a:lnTo>
                        <a:pt x="57150" y="57150"/>
                      </a:lnTo>
                      <a:lnTo>
                        <a:pt x="57150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</p:sp>
            <p:sp>
              <p:nvSpPr>
                <p:cNvPr id="41" name="Freeform 41"/>
                <p:cNvSpPr/>
                <p:nvPr/>
              </p:nvSpPr>
              <p:spPr>
                <a:xfrm>
                  <a:off x="9515475" y="1647825"/>
                  <a:ext cx="57150" cy="57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150" h="57150">
                      <a:moveTo>
                        <a:pt x="57150" y="0"/>
                      </a:moveTo>
                      <a:lnTo>
                        <a:pt x="0" y="0"/>
                      </a:lnTo>
                      <a:lnTo>
                        <a:pt x="0" y="57150"/>
                      </a:lnTo>
                      <a:lnTo>
                        <a:pt x="57150" y="57150"/>
                      </a:lnTo>
                      <a:lnTo>
                        <a:pt x="57150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</p:sp>
            <p:sp>
              <p:nvSpPr>
                <p:cNvPr id="42" name="Freeform 42"/>
                <p:cNvSpPr/>
                <p:nvPr/>
              </p:nvSpPr>
              <p:spPr>
                <a:xfrm>
                  <a:off x="9515475" y="1762125"/>
                  <a:ext cx="57150" cy="57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150" h="57150">
                      <a:moveTo>
                        <a:pt x="0" y="0"/>
                      </a:moveTo>
                      <a:lnTo>
                        <a:pt x="57150" y="0"/>
                      </a:lnTo>
                      <a:lnTo>
                        <a:pt x="57150" y="57150"/>
                      </a:lnTo>
                      <a:lnTo>
                        <a:pt x="0" y="5715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</p:sp>
            <p:sp>
              <p:nvSpPr>
                <p:cNvPr id="43" name="Freeform 43"/>
                <p:cNvSpPr/>
                <p:nvPr/>
              </p:nvSpPr>
              <p:spPr>
                <a:xfrm>
                  <a:off x="9515475" y="1876425"/>
                  <a:ext cx="57150" cy="57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150" h="57150">
                      <a:moveTo>
                        <a:pt x="57150" y="0"/>
                      </a:moveTo>
                      <a:lnTo>
                        <a:pt x="0" y="0"/>
                      </a:lnTo>
                      <a:lnTo>
                        <a:pt x="0" y="57150"/>
                      </a:lnTo>
                      <a:lnTo>
                        <a:pt x="57150" y="57150"/>
                      </a:lnTo>
                      <a:lnTo>
                        <a:pt x="57150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</p:sp>
            <p:sp>
              <p:nvSpPr>
                <p:cNvPr id="44" name="Freeform 44"/>
                <p:cNvSpPr/>
                <p:nvPr/>
              </p:nvSpPr>
              <p:spPr>
                <a:xfrm>
                  <a:off x="9629775" y="1533525"/>
                  <a:ext cx="285750" cy="57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5750" h="57150">
                      <a:moveTo>
                        <a:pt x="285750" y="0"/>
                      </a:moveTo>
                      <a:lnTo>
                        <a:pt x="0" y="0"/>
                      </a:lnTo>
                      <a:lnTo>
                        <a:pt x="0" y="57150"/>
                      </a:lnTo>
                      <a:lnTo>
                        <a:pt x="285750" y="57150"/>
                      </a:lnTo>
                      <a:lnTo>
                        <a:pt x="285750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</p:sp>
            <p:sp>
              <p:nvSpPr>
                <p:cNvPr id="45" name="Freeform 45"/>
                <p:cNvSpPr/>
                <p:nvPr/>
              </p:nvSpPr>
              <p:spPr>
                <a:xfrm>
                  <a:off x="9629775" y="1647825"/>
                  <a:ext cx="285750" cy="57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5750" h="57150">
                      <a:moveTo>
                        <a:pt x="285750" y="0"/>
                      </a:moveTo>
                      <a:lnTo>
                        <a:pt x="0" y="0"/>
                      </a:lnTo>
                      <a:lnTo>
                        <a:pt x="0" y="57150"/>
                      </a:lnTo>
                      <a:lnTo>
                        <a:pt x="285750" y="57150"/>
                      </a:lnTo>
                      <a:lnTo>
                        <a:pt x="285750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</p:sp>
            <p:sp>
              <p:nvSpPr>
                <p:cNvPr id="46" name="Freeform 46"/>
                <p:cNvSpPr/>
                <p:nvPr/>
              </p:nvSpPr>
              <p:spPr>
                <a:xfrm>
                  <a:off x="9629775" y="1762125"/>
                  <a:ext cx="285750" cy="57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5750" h="57150">
                      <a:moveTo>
                        <a:pt x="0" y="0"/>
                      </a:moveTo>
                      <a:lnTo>
                        <a:pt x="285750" y="0"/>
                      </a:lnTo>
                      <a:lnTo>
                        <a:pt x="285750" y="57150"/>
                      </a:lnTo>
                      <a:lnTo>
                        <a:pt x="0" y="5715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</p:sp>
            <p:sp>
              <p:nvSpPr>
                <p:cNvPr id="47" name="Freeform 47"/>
                <p:cNvSpPr/>
                <p:nvPr/>
              </p:nvSpPr>
              <p:spPr>
                <a:xfrm>
                  <a:off x="9629775" y="1876425"/>
                  <a:ext cx="285750" cy="57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5750" h="57150">
                      <a:moveTo>
                        <a:pt x="285750" y="0"/>
                      </a:moveTo>
                      <a:lnTo>
                        <a:pt x="0" y="0"/>
                      </a:lnTo>
                      <a:lnTo>
                        <a:pt x="0" y="57150"/>
                      </a:lnTo>
                      <a:lnTo>
                        <a:pt x="285750" y="57150"/>
                      </a:lnTo>
                      <a:lnTo>
                        <a:pt x="285750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</p:sp>
          </p:grpSp>
          <p:sp>
            <p:nvSpPr>
              <p:cNvPr id="49" name="TextBox 49"/>
              <p:cNvSpPr txBox="1"/>
              <p:nvPr/>
            </p:nvSpPr>
            <p:spPr>
              <a:xfrm>
                <a:off x="8961358" y="2124075"/>
                <a:ext cx="1508284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b="1" dirty="0">
                    <a:solidFill>
                      <a:srgbClr val="00897B"/>
                    </a:solidFill>
                    <a:latin typeface="Arial"/>
                    <a:ea typeface="Microsoft YaHei"/>
                    <a:cs typeface="Arial"/>
                  </a:rPr>
                  <a:t>风险分析与应对</a:t>
                </a:r>
              </a:p>
            </p:txBody>
          </p:sp>
          <p:sp>
            <p:nvSpPr>
              <p:cNvPr id="50" name="TextBox 50"/>
              <p:cNvSpPr txBox="1"/>
              <p:nvPr/>
            </p:nvSpPr>
            <p:spPr>
              <a:xfrm>
                <a:off x="8275320" y="2569845"/>
                <a:ext cx="652939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b="1" dirty="0">
                    <a:solidFill>
                      <a:srgbClr val="D32F2F"/>
                    </a:solidFill>
                    <a:latin typeface="Arial"/>
                    <a:ea typeface="Microsoft YaHei"/>
                    <a:cs typeface="Arial"/>
                  </a:rPr>
                  <a:t>接口不一致</a:t>
                </a:r>
              </a:p>
            </p:txBody>
          </p:sp>
          <p:sp>
            <p:nvSpPr>
              <p:cNvPr id="51" name="TextBox 51"/>
              <p:cNvSpPr txBox="1"/>
              <p:nvPr/>
            </p:nvSpPr>
            <p:spPr>
              <a:xfrm>
                <a:off x="8276272" y="2768441"/>
                <a:ext cx="1891189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825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对策：提前定义接口文档，统一错误码</a:t>
                </a:r>
              </a:p>
            </p:txBody>
          </p:sp>
          <p:sp>
            <p:nvSpPr>
              <p:cNvPr id="52" name="TextBox 52"/>
              <p:cNvSpPr txBox="1"/>
              <p:nvPr/>
            </p:nvSpPr>
            <p:spPr>
              <a:xfrm>
                <a:off x="8275320" y="3046095"/>
                <a:ext cx="904970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b="1" dirty="0">
                    <a:solidFill>
                      <a:srgbClr val="D32F2F"/>
                    </a:solidFill>
                    <a:latin typeface="Arial"/>
                    <a:ea typeface="Microsoft YaHei"/>
                    <a:cs typeface="Arial"/>
                  </a:rPr>
                  <a:t>数据库字段偏差</a:t>
                </a:r>
              </a:p>
            </p:txBody>
          </p:sp>
          <p:sp>
            <p:nvSpPr>
              <p:cNvPr id="53" name="TextBox 53"/>
              <p:cNvSpPr txBox="1"/>
              <p:nvPr/>
            </p:nvSpPr>
            <p:spPr>
              <a:xfrm>
                <a:off x="8276272" y="3244691"/>
                <a:ext cx="1891189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825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对策：以表结构和枚举为准，编写测试</a:t>
                </a:r>
              </a:p>
            </p:txBody>
          </p:sp>
          <p:sp>
            <p:nvSpPr>
              <p:cNvPr id="54" name="TextBox 54"/>
              <p:cNvSpPr txBox="1"/>
              <p:nvPr/>
            </p:nvSpPr>
            <p:spPr>
              <a:xfrm>
                <a:off x="8275320" y="3522345"/>
                <a:ext cx="778955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b="1" dirty="0">
                    <a:solidFill>
                      <a:srgbClr val="D32F2F"/>
                    </a:solidFill>
                    <a:latin typeface="Arial"/>
                    <a:ea typeface="Microsoft YaHei"/>
                    <a:cs typeface="Arial"/>
                  </a:rPr>
                  <a:t>图片上传失败</a:t>
                </a:r>
              </a:p>
            </p:txBody>
          </p:sp>
          <p:sp>
            <p:nvSpPr>
              <p:cNvPr id="55" name="TextBox 55"/>
              <p:cNvSpPr txBox="1"/>
              <p:nvPr/>
            </p:nvSpPr>
            <p:spPr>
              <a:xfrm>
                <a:off x="8276272" y="3720941"/>
                <a:ext cx="1841683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825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对策：MinIO 统一存储，验证 bucket</a:t>
                </a:r>
              </a:p>
            </p:txBody>
          </p:sp>
          <p:sp>
            <p:nvSpPr>
              <p:cNvPr id="56" name="TextBox 56"/>
              <p:cNvSpPr txBox="1"/>
              <p:nvPr/>
            </p:nvSpPr>
            <p:spPr>
              <a:xfrm>
                <a:off x="8275320" y="3998595"/>
                <a:ext cx="778955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b="1" dirty="0">
                    <a:solidFill>
                      <a:srgbClr val="D32F2F"/>
                    </a:solidFill>
                    <a:latin typeface="Arial"/>
                    <a:ea typeface="Microsoft YaHei"/>
                    <a:cs typeface="Arial"/>
                  </a:rPr>
                  <a:t>成员职责不清</a:t>
                </a:r>
              </a:p>
            </p:txBody>
          </p:sp>
          <p:sp>
            <p:nvSpPr>
              <p:cNvPr id="57" name="TextBox 57"/>
              <p:cNvSpPr txBox="1"/>
              <p:nvPr/>
            </p:nvSpPr>
            <p:spPr>
              <a:xfrm>
                <a:off x="8276272" y="4197191"/>
                <a:ext cx="1781175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825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对策：甘特图明确负责人和验收标准</a:t>
                </a:r>
              </a:p>
            </p:txBody>
          </p:sp>
          <p:sp>
            <p:nvSpPr>
              <p:cNvPr id="58" name="Rectangle 58"/>
              <p:cNvSpPr/>
              <p:nvPr/>
            </p:nvSpPr>
            <p:spPr>
              <a:xfrm>
                <a:off x="8286750" y="4191000"/>
                <a:ext cx="2857500" cy="285750"/>
              </a:xfrm>
              <a:prstGeom prst="roundRect">
                <a:avLst>
                  <a:gd name="adj" fmla="val 50000"/>
                </a:avLst>
              </a:prstGeom>
              <a:solidFill>
                <a:srgbClr val="FFF3E0"/>
              </a:solidFill>
              <a:ln>
                <a:noFill/>
              </a:ln>
            </p:spPr>
          </p:sp>
          <p:sp>
            <p:nvSpPr>
              <p:cNvPr id="59" name="TextBox 59"/>
              <p:cNvSpPr txBox="1"/>
              <p:nvPr/>
            </p:nvSpPr>
            <p:spPr>
              <a:xfrm>
                <a:off x="9566600" y="4276249"/>
                <a:ext cx="297799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b="1" dirty="0">
                    <a:solidFill>
                      <a:srgbClr val="E65100"/>
                    </a:solidFill>
                    <a:latin typeface="Arial"/>
                    <a:ea typeface="Microsoft YaHei"/>
                    <a:cs typeface="Arial"/>
                  </a:rPr>
                  <a:t>可控</a:t>
                </a:r>
              </a:p>
            </p:txBody>
          </p:sp>
        </p:grpSp>
      </p:grpSp>
      <p:grpSp>
        <p:nvGrpSpPr>
          <p:cNvPr id="65" name="Group 65"/>
          <p:cNvGrpSpPr/>
          <p:nvPr/>
        </p:nvGrpSpPr>
        <p:grpSpPr>
          <a:xfrm>
            <a:off x="750570" y="6477000"/>
            <a:ext cx="10690860" cy="257175"/>
            <a:chOff x="750570" y="6477000"/>
            <a:chExt cx="10690860" cy="257175"/>
          </a:xfrm>
        </p:grpSpPr>
        <p:sp>
          <p:nvSpPr>
            <p:cNvPr id="62" name="Line 62"/>
            <p:cNvSpPr/>
            <p:nvPr/>
          </p:nvSpPr>
          <p:spPr>
            <a:xfrm>
              <a:off x="762000" y="6477000"/>
              <a:ext cx="10668000" cy="9525"/>
            </a:xfrm>
            <a:custGeom>
              <a:avLst/>
              <a:gdLst/>
              <a:ahLst/>
              <a:cxnLst/>
              <a:rect l="l" t="t" r="r" b="b"/>
              <a:pathLst>
                <a:path w="10668000" h="9525">
                  <a:moveTo>
                    <a:pt x="0" y="0"/>
                  </a:moveTo>
                  <a:lnTo>
                    <a:pt x="10668000" y="0"/>
                  </a:lnTo>
                </a:path>
              </a:pathLst>
            </a:custGeom>
            <a:noFill/>
            <a:ln w="9525">
              <a:solidFill>
                <a:srgbClr val="E5E7EB"/>
              </a:solidFill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750570" y="6551295"/>
              <a:ext cx="74295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CA3AF"/>
                  </a:solidFill>
                  <a:latin typeface="Arial"/>
                  <a:ea typeface="Microsoft YaHei"/>
                  <a:cs typeface="Arial"/>
                </a:rPr>
                <a:t>房屋租赁系统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11016520" y="6551295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9CA3AF"/>
                  </a:solidFill>
                  <a:latin typeface="Arial"/>
                  <a:ea typeface="Microsoft YaHei"/>
                  <a:cs typeface="Arial"/>
                </a:rPr>
                <a:t>04 / 21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4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762000" y="533400"/>
            <a:ext cx="10668000" cy="476250"/>
            <a:chOff x="762000" y="533400"/>
            <a:chExt cx="10668000" cy="476250"/>
          </a:xfrm>
        </p:grpSpPr>
        <p:sp>
          <p:nvSpPr>
            <p:cNvPr id="3" name="Rectangle 3"/>
            <p:cNvSpPr/>
            <p:nvPr/>
          </p:nvSpPr>
          <p:spPr>
            <a:xfrm>
              <a:off x="762000" y="533400"/>
              <a:ext cx="38100" cy="323850"/>
            </a:xfrm>
            <a:prstGeom prst="roundRect">
              <a:avLst>
                <a:gd name="adj" fmla="val 50000"/>
              </a:avLst>
            </a:prstGeom>
            <a:solidFill>
              <a:srgbClr val="00897B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925830" y="554355"/>
              <a:ext cx="1817561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1D1D1F"/>
                  </a:solidFill>
                  <a:latin typeface="Arial"/>
                  <a:ea typeface="Microsoft YaHei"/>
                  <a:cs typeface="Arial"/>
                </a:rPr>
                <a:t>需求分析总览</a:t>
              </a:r>
            </a:p>
          </p:txBody>
        </p:sp>
        <p:sp>
          <p:nvSpPr>
            <p:cNvPr id="5" name="Line 5"/>
            <p:cNvSpPr/>
            <p:nvPr/>
          </p:nvSpPr>
          <p:spPr>
            <a:xfrm>
              <a:off x="762000" y="1000125"/>
              <a:ext cx="10668000" cy="9525"/>
            </a:xfrm>
            <a:custGeom>
              <a:avLst/>
              <a:gdLst/>
              <a:ahLst/>
              <a:cxnLst/>
              <a:rect l="l" t="t" r="r" b="b"/>
              <a:pathLst>
                <a:path w="10668000" h="9525">
                  <a:moveTo>
                    <a:pt x="0" y="0"/>
                  </a:moveTo>
                  <a:lnTo>
                    <a:pt x="10668000" y="0"/>
                  </a:lnTo>
                </a:path>
              </a:pathLst>
            </a:custGeom>
            <a:noFill/>
            <a:ln w="14288">
              <a:solidFill>
                <a:srgbClr val="E5E7EB"/>
              </a:solidFill>
            </a:ln>
          </p:spPr>
        </p:sp>
      </p:grpSp>
      <p:grpSp>
        <p:nvGrpSpPr>
          <p:cNvPr id="37" name="Group 37"/>
          <p:cNvGrpSpPr/>
          <p:nvPr/>
        </p:nvGrpSpPr>
        <p:grpSpPr>
          <a:xfrm>
            <a:off x="746760" y="1299210"/>
            <a:ext cx="10683240" cy="4082415"/>
            <a:chOff x="746760" y="1299210"/>
            <a:chExt cx="10683240" cy="4082415"/>
          </a:xfrm>
        </p:grpSpPr>
        <p:grpSp>
          <p:nvGrpSpPr>
            <p:cNvPr id="31" name="Group 31"/>
            <p:cNvGrpSpPr/>
            <p:nvPr/>
          </p:nvGrpSpPr>
          <p:grpSpPr>
            <a:xfrm>
              <a:off x="746760" y="1299210"/>
              <a:ext cx="3253740" cy="3415665"/>
              <a:chOff x="746760" y="1299210"/>
              <a:chExt cx="3253740" cy="3415665"/>
            </a:xfrm>
          </p:grpSpPr>
          <p:sp>
            <p:nvSpPr>
              <p:cNvPr id="7" name="TextBox 7"/>
              <p:cNvSpPr txBox="1"/>
              <p:nvPr/>
            </p:nvSpPr>
            <p:spPr>
              <a:xfrm>
                <a:off x="746760" y="1299210"/>
                <a:ext cx="702564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00897B"/>
                    </a:solidFill>
                    <a:latin typeface="Arial"/>
                    <a:ea typeface="Microsoft YaHei"/>
                    <a:cs typeface="Arial"/>
                  </a:rPr>
                  <a:t>用户角色</a:t>
                </a:r>
              </a:p>
            </p:txBody>
          </p:sp>
          <p:sp>
            <p:nvSpPr>
              <p:cNvPr id="8" name="Rectangle 8"/>
              <p:cNvSpPr/>
              <p:nvPr/>
            </p:nvSpPr>
            <p:spPr>
              <a:xfrm>
                <a:off x="762000" y="1571625"/>
                <a:ext cx="3238500" cy="1047750"/>
              </a:xfrm>
              <a:prstGeom prst="roundRect">
                <a:avLst>
                  <a:gd name="adj" fmla="val 7273"/>
                </a:avLst>
              </a:prstGeom>
              <a:solidFill>
                <a:srgbClr val="F0F7F4"/>
              </a:solidFill>
              <a:ln>
                <a:noFill/>
              </a:ln>
            </p:spPr>
          </p:sp>
          <p:grpSp>
            <p:nvGrpSpPr>
              <p:cNvPr id="13" name="Group 13"/>
              <p:cNvGrpSpPr/>
              <p:nvPr/>
            </p:nvGrpSpPr>
            <p:grpSpPr>
              <a:xfrm>
                <a:off x="952500" y="1733550"/>
                <a:ext cx="304800" cy="266700"/>
                <a:chOff x="952500" y="1733550"/>
                <a:chExt cx="304800" cy="266700"/>
              </a:xfrm>
            </p:grpSpPr>
            <p:sp>
              <p:nvSpPr>
                <p:cNvPr id="9" name="Freeform 9"/>
                <p:cNvSpPr/>
                <p:nvPr/>
              </p:nvSpPr>
              <p:spPr>
                <a:xfrm>
                  <a:off x="1009650" y="1733550"/>
                  <a:ext cx="95250" cy="95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0" h="95250">
                      <a:moveTo>
                        <a:pt x="95250" y="47625"/>
                      </a:moveTo>
                      <a:cubicBezTo>
                        <a:pt x="95250" y="73928"/>
                        <a:pt x="73928" y="95250"/>
                        <a:pt x="47625" y="95250"/>
                      </a:cubicBezTo>
                      <a:cubicBezTo>
                        <a:pt x="21322" y="95250"/>
                        <a:pt x="0" y="73928"/>
                        <a:pt x="0" y="47625"/>
                      </a:cubicBezTo>
                      <a:cubicBezTo>
                        <a:pt x="0" y="21322"/>
                        <a:pt x="21322" y="0"/>
                        <a:pt x="47625" y="0"/>
                      </a:cubicBezTo>
                      <a:cubicBezTo>
                        <a:pt x="73928" y="0"/>
                        <a:pt x="95250" y="21322"/>
                        <a:pt x="95250" y="47625"/>
                      </a:cubicBezTo>
                      <a:close/>
                    </a:path>
                  </a:pathLst>
                </a:custGeom>
                <a:solidFill>
                  <a:srgbClr val="00897B"/>
                </a:solidFill>
                <a:ln>
                  <a:noFill/>
                </a:ln>
              </p:spPr>
            </p:sp>
            <p:sp>
              <p:nvSpPr>
                <p:cNvPr id="10" name="Freeform 10"/>
                <p:cNvSpPr/>
                <p:nvPr/>
              </p:nvSpPr>
              <p:spPr>
                <a:xfrm>
                  <a:off x="952500" y="1866900"/>
                  <a:ext cx="152400" cy="133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2400" h="133350">
                      <a:moveTo>
                        <a:pt x="57150" y="0"/>
                      </a:moveTo>
                      <a:cubicBezTo>
                        <a:pt x="25587" y="0"/>
                        <a:pt x="0" y="25587"/>
                        <a:pt x="0" y="57150"/>
                      </a:cubicBezTo>
                      <a:lnTo>
                        <a:pt x="0" y="133350"/>
                      </a:lnTo>
                      <a:lnTo>
                        <a:pt x="152400" y="133350"/>
                      </a:lnTo>
                      <a:lnTo>
                        <a:pt x="152400" y="0"/>
                      </a:lnTo>
                      <a:lnTo>
                        <a:pt x="57150" y="0"/>
                      </a:lnTo>
                      <a:close/>
                    </a:path>
                  </a:pathLst>
                </a:custGeom>
                <a:solidFill>
                  <a:srgbClr val="00897B"/>
                </a:solidFill>
                <a:ln>
                  <a:noFill/>
                </a:ln>
              </p:spPr>
            </p:sp>
            <p:sp>
              <p:nvSpPr>
                <p:cNvPr id="11" name="Freeform 11"/>
                <p:cNvSpPr/>
                <p:nvPr/>
              </p:nvSpPr>
              <p:spPr>
                <a:xfrm>
                  <a:off x="1143000" y="1866900"/>
                  <a:ext cx="114300" cy="133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4300" h="133350">
                      <a:moveTo>
                        <a:pt x="57150" y="0"/>
                      </a:moveTo>
                      <a:lnTo>
                        <a:pt x="0" y="0"/>
                      </a:lnTo>
                      <a:lnTo>
                        <a:pt x="0" y="133350"/>
                      </a:lnTo>
                      <a:lnTo>
                        <a:pt x="114300" y="133350"/>
                      </a:lnTo>
                      <a:lnTo>
                        <a:pt x="114300" y="57150"/>
                      </a:lnTo>
                      <a:cubicBezTo>
                        <a:pt x="114300" y="25587"/>
                        <a:pt x="88714" y="0"/>
                        <a:pt x="57150" y="0"/>
                      </a:cubicBezTo>
                      <a:close/>
                    </a:path>
                  </a:pathLst>
                </a:custGeom>
                <a:solidFill>
                  <a:srgbClr val="00897B"/>
                </a:solidFill>
                <a:ln>
                  <a:noFill/>
                </a:ln>
              </p:spPr>
            </p:sp>
            <p:sp>
              <p:nvSpPr>
                <p:cNvPr id="12" name="Freeform 12"/>
                <p:cNvSpPr/>
                <p:nvPr/>
              </p:nvSpPr>
              <p:spPr>
                <a:xfrm>
                  <a:off x="1143000" y="1752600"/>
                  <a:ext cx="76200" cy="76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200" h="76200">
                      <a:moveTo>
                        <a:pt x="38100" y="76200"/>
                      </a:moveTo>
                      <a:cubicBezTo>
                        <a:pt x="59143" y="76200"/>
                        <a:pt x="76200" y="59142"/>
                        <a:pt x="76200" y="38100"/>
                      </a:cubicBezTo>
                      <a:cubicBezTo>
                        <a:pt x="76200" y="17058"/>
                        <a:pt x="59143" y="0"/>
                        <a:pt x="38100" y="0"/>
                      </a:cubicBezTo>
                      <a:cubicBezTo>
                        <a:pt x="17057" y="0"/>
                        <a:pt x="0" y="17058"/>
                        <a:pt x="0" y="38100"/>
                      </a:cubicBezTo>
                      <a:cubicBezTo>
                        <a:pt x="0" y="59142"/>
                        <a:pt x="17057" y="76200"/>
                        <a:pt x="38100" y="76200"/>
                      </a:cubicBezTo>
                      <a:close/>
                    </a:path>
                  </a:pathLst>
                </a:custGeom>
                <a:solidFill>
                  <a:srgbClr val="00897B"/>
                </a:solidFill>
                <a:ln>
                  <a:noFill/>
                </a:ln>
              </p:spPr>
            </p:sp>
          </p:grpSp>
          <p:sp>
            <p:nvSpPr>
              <p:cNvPr id="14" name="TextBox 14"/>
              <p:cNvSpPr txBox="1"/>
              <p:nvPr/>
            </p:nvSpPr>
            <p:spPr>
              <a:xfrm>
                <a:off x="1365885" y="1727835"/>
                <a:ext cx="366522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00695C"/>
                    </a:solidFill>
                    <a:latin typeface="Arial"/>
                    <a:ea typeface="Microsoft YaHei"/>
                    <a:cs typeface="Arial"/>
                  </a:rPr>
                  <a:t>租客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941070" y="1998345"/>
                <a:ext cx="1583055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核心目标：快速找到合适房源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941070" y="2188845"/>
                <a:ext cx="1781080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主要功能：找房/筛选/预约/租约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941070" y="2379345"/>
                <a:ext cx="1048988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个人中心/浏览历史</a:t>
                </a:r>
              </a:p>
            </p:txBody>
          </p:sp>
          <p:sp>
            <p:nvSpPr>
              <p:cNvPr id="18" name="Rectangle 18"/>
              <p:cNvSpPr/>
              <p:nvPr/>
            </p:nvSpPr>
            <p:spPr>
              <a:xfrm>
                <a:off x="762000" y="2714625"/>
                <a:ext cx="3238500" cy="1047750"/>
              </a:xfrm>
              <a:prstGeom prst="roundRect">
                <a:avLst>
                  <a:gd name="adj" fmla="val 7273"/>
                </a:avLst>
              </a:prstGeom>
              <a:solidFill>
                <a:srgbClr val="F0F7F4"/>
              </a:solidFill>
              <a:ln>
                <a:noFill/>
              </a:ln>
            </p:spPr>
          </p:sp>
          <p:grpSp>
            <p:nvGrpSpPr>
              <p:cNvPr id="21" name="Group 21"/>
              <p:cNvGrpSpPr/>
              <p:nvPr/>
            </p:nvGrpSpPr>
            <p:grpSpPr>
              <a:xfrm>
                <a:off x="990600" y="2895600"/>
                <a:ext cx="228600" cy="266700"/>
                <a:chOff x="990600" y="2895600"/>
                <a:chExt cx="228600" cy="266700"/>
              </a:xfrm>
            </p:grpSpPr>
            <p:sp>
              <p:nvSpPr>
                <p:cNvPr id="19" name="Freeform 19"/>
                <p:cNvSpPr/>
                <p:nvPr/>
              </p:nvSpPr>
              <p:spPr>
                <a:xfrm>
                  <a:off x="1047750" y="2895600"/>
                  <a:ext cx="114300" cy="114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4300" h="114300">
                      <a:moveTo>
                        <a:pt x="57150" y="114300"/>
                      </a:moveTo>
                      <a:cubicBezTo>
                        <a:pt x="88713" y="114300"/>
                        <a:pt x="114300" y="88713"/>
                        <a:pt x="114300" y="57150"/>
                      </a:cubicBezTo>
                      <a:cubicBezTo>
                        <a:pt x="114300" y="25587"/>
                        <a:pt x="88713" y="0"/>
                        <a:pt x="57150" y="0"/>
                      </a:cubicBezTo>
                      <a:cubicBezTo>
                        <a:pt x="25587" y="0"/>
                        <a:pt x="0" y="25587"/>
                        <a:pt x="0" y="57150"/>
                      </a:cubicBezTo>
                      <a:cubicBezTo>
                        <a:pt x="0" y="88713"/>
                        <a:pt x="25587" y="114300"/>
                        <a:pt x="57150" y="114300"/>
                      </a:cubicBezTo>
                      <a:close/>
                    </a:path>
                  </a:pathLst>
                </a:custGeom>
                <a:solidFill>
                  <a:srgbClr val="00897B"/>
                </a:solidFill>
                <a:ln>
                  <a:noFill/>
                </a:ln>
              </p:spPr>
            </p:sp>
            <p:sp>
              <p:nvSpPr>
                <p:cNvPr id="20" name="Freeform 20"/>
                <p:cNvSpPr/>
                <p:nvPr/>
              </p:nvSpPr>
              <p:spPr>
                <a:xfrm>
                  <a:off x="990600" y="3048000"/>
                  <a:ext cx="228600" cy="114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600" h="114300">
                      <a:moveTo>
                        <a:pt x="228600" y="57150"/>
                      </a:moveTo>
                      <a:cubicBezTo>
                        <a:pt x="228600" y="25586"/>
                        <a:pt x="203014" y="0"/>
                        <a:pt x="171450" y="0"/>
                      </a:cubicBezTo>
                      <a:lnTo>
                        <a:pt x="57150" y="0"/>
                      </a:lnTo>
                      <a:cubicBezTo>
                        <a:pt x="25587" y="0"/>
                        <a:pt x="0" y="25586"/>
                        <a:pt x="0" y="57150"/>
                      </a:cubicBezTo>
                      <a:lnTo>
                        <a:pt x="0" y="114300"/>
                      </a:lnTo>
                      <a:lnTo>
                        <a:pt x="228600" y="114300"/>
                      </a:lnTo>
                      <a:lnTo>
                        <a:pt x="228600" y="57150"/>
                      </a:lnTo>
                      <a:close/>
                    </a:path>
                  </a:pathLst>
                </a:custGeom>
                <a:solidFill>
                  <a:srgbClr val="00897B"/>
                </a:solidFill>
                <a:ln>
                  <a:noFill/>
                </a:ln>
              </p:spPr>
            </p:sp>
          </p:grpSp>
          <p:sp>
            <p:nvSpPr>
              <p:cNvPr id="22" name="TextBox 22"/>
              <p:cNvSpPr txBox="1"/>
              <p:nvPr/>
            </p:nvSpPr>
            <p:spPr>
              <a:xfrm>
                <a:off x="1365885" y="2870835"/>
                <a:ext cx="870585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00695C"/>
                    </a:solidFill>
                    <a:latin typeface="Arial"/>
                    <a:ea typeface="Microsoft YaHei"/>
                    <a:cs typeface="Arial"/>
                  </a:rPr>
                  <a:t>运营管理员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941070" y="3141345"/>
                <a:ext cx="1943100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核心目标：维护房源并处理租赁业务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941070" y="3331845"/>
                <a:ext cx="1421035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公寓/房间/预约/租约管理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941070" y="3522345"/>
                <a:ext cx="1048988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用户管理/图片上传</a:t>
                </a:r>
              </a:p>
            </p:txBody>
          </p:sp>
          <p:sp>
            <p:nvSpPr>
              <p:cNvPr id="26" name="Rectangle 26"/>
              <p:cNvSpPr/>
              <p:nvPr/>
            </p:nvSpPr>
            <p:spPr>
              <a:xfrm>
                <a:off x="762000" y="3857625"/>
                <a:ext cx="3238500" cy="857250"/>
              </a:xfrm>
              <a:prstGeom prst="roundRect">
                <a:avLst>
                  <a:gd name="adj" fmla="val 8889"/>
                </a:avLst>
              </a:prstGeom>
              <a:solidFill>
                <a:srgbClr val="F0F7F4"/>
              </a:solidFill>
              <a:ln>
                <a:noFill/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990600" y="4019550"/>
                <a:ext cx="228600" cy="3048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304800">
                    <a:moveTo>
                      <a:pt x="38100" y="114300"/>
                    </a:moveTo>
                    <a:lnTo>
                      <a:pt x="38100" y="76200"/>
                    </a:lnTo>
                    <a:cubicBezTo>
                      <a:pt x="38100" y="34116"/>
                      <a:pt x="72216" y="0"/>
                      <a:pt x="114300" y="0"/>
                    </a:cubicBezTo>
                    <a:cubicBezTo>
                      <a:pt x="156383" y="0"/>
                      <a:pt x="190500" y="34116"/>
                      <a:pt x="190500" y="76200"/>
                    </a:cubicBezTo>
                    <a:lnTo>
                      <a:pt x="190500" y="114300"/>
                    </a:lnTo>
                    <a:lnTo>
                      <a:pt x="228600" y="114300"/>
                    </a:lnTo>
                    <a:lnTo>
                      <a:pt x="228600" y="304800"/>
                    </a:lnTo>
                    <a:lnTo>
                      <a:pt x="0" y="304800"/>
                    </a:lnTo>
                    <a:lnTo>
                      <a:pt x="0" y="114300"/>
                    </a:lnTo>
                    <a:lnTo>
                      <a:pt x="38100" y="114300"/>
                    </a:lnTo>
                    <a:close/>
                    <a:moveTo>
                      <a:pt x="76200" y="76200"/>
                    </a:moveTo>
                    <a:cubicBezTo>
                      <a:pt x="76200" y="55158"/>
                      <a:pt x="93258" y="38100"/>
                      <a:pt x="114300" y="38100"/>
                    </a:cubicBezTo>
                    <a:cubicBezTo>
                      <a:pt x="135342" y="38100"/>
                      <a:pt x="152400" y="55158"/>
                      <a:pt x="152400" y="76200"/>
                    </a:cubicBezTo>
                    <a:lnTo>
                      <a:pt x="152400" y="114300"/>
                    </a:lnTo>
                    <a:lnTo>
                      <a:pt x="76200" y="114300"/>
                    </a:lnTo>
                    <a:lnTo>
                      <a:pt x="76200" y="76200"/>
                    </a:lnTo>
                    <a:close/>
                    <a:moveTo>
                      <a:pt x="95250" y="247650"/>
                    </a:moveTo>
                    <a:lnTo>
                      <a:pt x="95250" y="171450"/>
                    </a:lnTo>
                    <a:lnTo>
                      <a:pt x="133350" y="171450"/>
                    </a:lnTo>
                    <a:lnTo>
                      <a:pt x="133350" y="247650"/>
                    </a:lnTo>
                    <a:lnTo>
                      <a:pt x="95250" y="247650"/>
                    </a:lnTo>
                    <a:close/>
                  </a:path>
                </a:pathLst>
              </a:custGeom>
              <a:solidFill>
                <a:srgbClr val="00897B"/>
              </a:solidFill>
              <a:ln>
                <a:noFill/>
              </a:ln>
            </p:spPr>
          </p:sp>
          <p:sp>
            <p:nvSpPr>
              <p:cNvPr id="28" name="TextBox 28"/>
              <p:cNvSpPr txBox="1"/>
              <p:nvPr/>
            </p:nvSpPr>
            <p:spPr>
              <a:xfrm>
                <a:off x="1365885" y="4013835"/>
                <a:ext cx="870585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00695C"/>
                    </a:solidFill>
                    <a:latin typeface="Arial"/>
                    <a:ea typeface="Microsoft YaHei"/>
                    <a:cs typeface="Arial"/>
                  </a:rPr>
                  <a:t>系统管理员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941070" y="4284345"/>
                <a:ext cx="1661065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用户/岗位/菜单/角色权限配置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941070" y="4474845"/>
                <a:ext cx="502920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状态管理</a:t>
                </a:r>
              </a:p>
            </p:txBody>
          </p:sp>
        </p:grpSp>
        <p:grpSp>
          <p:nvGrpSpPr>
            <p:cNvPr id="36" name="Group 36"/>
            <p:cNvGrpSpPr/>
            <p:nvPr/>
          </p:nvGrpSpPr>
          <p:grpSpPr>
            <a:xfrm>
              <a:off x="4461510" y="1299210"/>
              <a:ext cx="6968490" cy="4082415"/>
              <a:chOff x="4461510" y="1299210"/>
              <a:chExt cx="6968490" cy="4082415"/>
            </a:xfrm>
          </p:grpSpPr>
          <p:sp>
            <p:nvSpPr>
              <p:cNvPr id="32" name="TextBox 32"/>
              <p:cNvSpPr txBox="1"/>
              <p:nvPr/>
            </p:nvSpPr>
            <p:spPr>
              <a:xfrm>
                <a:off x="4461510" y="1299210"/>
                <a:ext cx="912590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00897B"/>
                    </a:solidFill>
                    <a:latin typeface="Arial"/>
                    <a:ea typeface="Microsoft YaHei"/>
                    <a:cs typeface="Arial"/>
                  </a:rPr>
                  <a:t>顶层 DFD 图</a:t>
                </a:r>
              </a:p>
            </p:txBody>
          </p:sp>
          <p:sp>
            <p:nvSpPr>
              <p:cNvPr id="33" name="Rectangle 33"/>
              <p:cNvSpPr/>
              <p:nvPr/>
            </p:nvSpPr>
            <p:spPr>
              <a:xfrm>
                <a:off x="4476750" y="1571625"/>
                <a:ext cx="6953250" cy="3810000"/>
              </a:xfrm>
              <a:prstGeom prst="roundRect">
                <a:avLst>
                  <a:gd name="adj" fmla="val 3000"/>
                </a:avLst>
              </a:prstGeom>
              <a:solidFill>
                <a:srgbClr val="F0F7F4"/>
              </a:solidFill>
              <a:ln>
                <a:noFill/>
              </a:ln>
            </p:spPr>
          </p:sp>
          <p:pic>
            <p:nvPicPr>
              <p:cNvPr id="34" name="Image 34"/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5211039" y="1762125"/>
                <a:ext cx="5484673" cy="3429000"/>
              </a:xfrm>
              <a:prstGeom prst="rect">
                <a:avLst/>
              </a:prstGeom>
            </p:spPr>
          </p:pic>
          <p:sp>
            <p:nvSpPr>
              <p:cNvPr id="35" name="TextBox 35"/>
              <p:cNvSpPr txBox="1"/>
              <p:nvPr/>
            </p:nvSpPr>
            <p:spPr>
              <a:xfrm>
                <a:off x="6917019" y="5168741"/>
                <a:ext cx="2072711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5" dirty="0">
                    <a:solidFill>
                      <a:srgbClr val="9CA3AF"/>
                    </a:solidFill>
                    <a:latin typeface="Arial"/>
                    <a:ea typeface="Microsoft YaHei"/>
                    <a:cs typeface="Arial"/>
                  </a:rPr>
                  <a:t>图 3-1 顶层 DFD 图 — 系统与外部实体交互</a:t>
                </a:r>
              </a:p>
            </p:txBody>
          </p:sp>
        </p:grpSp>
      </p:grpSp>
      <p:grpSp>
        <p:nvGrpSpPr>
          <p:cNvPr id="41" name="Group 41"/>
          <p:cNvGrpSpPr/>
          <p:nvPr/>
        </p:nvGrpSpPr>
        <p:grpSpPr>
          <a:xfrm>
            <a:off x="750570" y="6477000"/>
            <a:ext cx="10690860" cy="257175"/>
            <a:chOff x="750570" y="6477000"/>
            <a:chExt cx="10690860" cy="257175"/>
          </a:xfrm>
        </p:grpSpPr>
        <p:sp>
          <p:nvSpPr>
            <p:cNvPr id="38" name="Line 38"/>
            <p:cNvSpPr/>
            <p:nvPr/>
          </p:nvSpPr>
          <p:spPr>
            <a:xfrm>
              <a:off x="762000" y="6477000"/>
              <a:ext cx="10668000" cy="9525"/>
            </a:xfrm>
            <a:custGeom>
              <a:avLst/>
              <a:gdLst/>
              <a:ahLst/>
              <a:cxnLst/>
              <a:rect l="l" t="t" r="r" b="b"/>
              <a:pathLst>
                <a:path w="10668000" h="9525">
                  <a:moveTo>
                    <a:pt x="0" y="0"/>
                  </a:moveTo>
                  <a:lnTo>
                    <a:pt x="10668000" y="0"/>
                  </a:lnTo>
                </a:path>
              </a:pathLst>
            </a:custGeom>
            <a:noFill/>
            <a:ln w="9525">
              <a:solidFill>
                <a:srgbClr val="E5E7EB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50570" y="6551295"/>
              <a:ext cx="74295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CA3AF"/>
                  </a:solidFill>
                  <a:latin typeface="Arial"/>
                  <a:ea typeface="Microsoft YaHei"/>
                  <a:cs typeface="Arial"/>
                </a:rPr>
                <a:t>房屋租赁系统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1016520" y="6551295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9CA3AF"/>
                  </a:solidFill>
                  <a:latin typeface="Arial"/>
                  <a:ea typeface="Microsoft YaHei"/>
                  <a:cs typeface="Arial"/>
                </a:rPr>
                <a:t>05 / 21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7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762000" y="533400"/>
            <a:ext cx="10668000" cy="476250"/>
            <a:chOff x="762000" y="533400"/>
            <a:chExt cx="10668000" cy="476250"/>
          </a:xfrm>
        </p:grpSpPr>
        <p:sp>
          <p:nvSpPr>
            <p:cNvPr id="3" name="Rectangle 3"/>
            <p:cNvSpPr/>
            <p:nvPr/>
          </p:nvSpPr>
          <p:spPr>
            <a:xfrm>
              <a:off x="762000" y="533400"/>
              <a:ext cx="38100" cy="323850"/>
            </a:xfrm>
            <a:prstGeom prst="roundRect">
              <a:avLst>
                <a:gd name="adj" fmla="val 50000"/>
              </a:avLst>
            </a:prstGeom>
            <a:solidFill>
              <a:srgbClr val="00897B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925830" y="554355"/>
              <a:ext cx="2111597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1D1D1F"/>
                  </a:solidFill>
                  <a:latin typeface="Arial"/>
                  <a:ea typeface="Microsoft YaHei"/>
                  <a:cs typeface="Arial"/>
                </a:rPr>
                <a:t>结构化需求分析</a:t>
              </a:r>
            </a:p>
          </p:txBody>
        </p:sp>
        <p:sp>
          <p:nvSpPr>
            <p:cNvPr id="5" name="Line 5"/>
            <p:cNvSpPr/>
            <p:nvPr/>
          </p:nvSpPr>
          <p:spPr>
            <a:xfrm>
              <a:off x="762000" y="1000125"/>
              <a:ext cx="10668000" cy="9525"/>
            </a:xfrm>
            <a:custGeom>
              <a:avLst/>
              <a:gdLst/>
              <a:ahLst/>
              <a:cxnLst/>
              <a:rect l="l" t="t" r="r" b="b"/>
              <a:pathLst>
                <a:path w="10668000" h="9525">
                  <a:moveTo>
                    <a:pt x="0" y="0"/>
                  </a:moveTo>
                  <a:lnTo>
                    <a:pt x="10668000" y="0"/>
                  </a:lnTo>
                </a:path>
              </a:pathLst>
            </a:custGeom>
            <a:noFill/>
            <a:ln w="14288">
              <a:solidFill>
                <a:srgbClr val="E5E7EB"/>
              </a:solidFill>
            </a:ln>
          </p:spPr>
        </p:sp>
      </p:grpSp>
      <p:grpSp>
        <p:nvGrpSpPr>
          <p:cNvPr id="23" name="Group 23"/>
          <p:cNvGrpSpPr/>
          <p:nvPr/>
        </p:nvGrpSpPr>
        <p:grpSpPr>
          <a:xfrm>
            <a:off x="747712" y="1240631"/>
            <a:ext cx="10682288" cy="4998244"/>
            <a:chOff x="747712" y="1240631"/>
            <a:chExt cx="10682288" cy="4998244"/>
          </a:xfrm>
        </p:grpSpPr>
        <p:grpSp>
          <p:nvGrpSpPr>
            <p:cNvPr id="10" name="Group 10"/>
            <p:cNvGrpSpPr/>
            <p:nvPr/>
          </p:nvGrpSpPr>
          <p:grpSpPr>
            <a:xfrm>
              <a:off x="747712" y="1240631"/>
              <a:ext cx="5157788" cy="2426494"/>
              <a:chOff x="747712" y="1240631"/>
              <a:chExt cx="5157788" cy="2426494"/>
            </a:xfrm>
          </p:grpSpPr>
          <p:sp>
            <p:nvSpPr>
              <p:cNvPr id="7" name="TextBox 7"/>
              <p:cNvSpPr txBox="1"/>
              <p:nvPr/>
            </p:nvSpPr>
            <p:spPr>
              <a:xfrm>
                <a:off x="747712" y="1240631"/>
                <a:ext cx="1595896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00897B"/>
                    </a:solidFill>
                    <a:latin typeface="Arial"/>
                    <a:ea typeface="Microsoft YaHei"/>
                    <a:cs typeface="Arial"/>
                  </a:rPr>
                  <a:t>1 层 DFD — 五大子过程</a:t>
                </a:r>
              </a:p>
            </p:txBody>
          </p:sp>
          <p:sp>
            <p:nvSpPr>
              <p:cNvPr id="8" name="Rectangle 8"/>
              <p:cNvSpPr/>
              <p:nvPr/>
            </p:nvSpPr>
            <p:spPr>
              <a:xfrm>
                <a:off x="762000" y="1476375"/>
                <a:ext cx="5143500" cy="2190750"/>
              </a:xfrm>
              <a:prstGeom prst="roundRect">
                <a:avLst>
                  <a:gd name="adj" fmla="val 4348"/>
                </a:avLst>
              </a:prstGeom>
              <a:solidFill>
                <a:srgbClr val="F0F7F4"/>
              </a:solidFill>
              <a:ln>
                <a:noFill/>
              </a:ln>
            </p:spPr>
          </p:sp>
          <p:pic>
            <p:nvPicPr>
              <p:cNvPr id="9" name="Image 9"/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1764524" y="1590675"/>
                <a:ext cx="3138452" cy="1962150"/>
              </a:xfrm>
              <a:prstGeom prst="rect">
                <a:avLst/>
              </a:prstGeom>
            </p:spPr>
          </p:pic>
        </p:grpSp>
        <p:grpSp>
          <p:nvGrpSpPr>
            <p:cNvPr id="18" name="Group 18"/>
            <p:cNvGrpSpPr/>
            <p:nvPr/>
          </p:nvGrpSpPr>
          <p:grpSpPr>
            <a:xfrm>
              <a:off x="6272212" y="1240631"/>
              <a:ext cx="5157788" cy="2426494"/>
              <a:chOff x="6272212" y="1240631"/>
              <a:chExt cx="5157788" cy="2426494"/>
            </a:xfrm>
          </p:grpSpPr>
          <p:sp>
            <p:nvSpPr>
              <p:cNvPr id="11" name="TextBox 11"/>
              <p:cNvSpPr txBox="1"/>
              <p:nvPr/>
            </p:nvSpPr>
            <p:spPr>
              <a:xfrm>
                <a:off x="6272212" y="1240631"/>
                <a:ext cx="816173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00897B"/>
                    </a:solidFill>
                    <a:latin typeface="Arial"/>
                    <a:ea typeface="Microsoft YaHei"/>
                    <a:cs typeface="Arial"/>
                  </a:rPr>
                  <a:t>子过程说明</a:t>
                </a:r>
              </a:p>
            </p:txBody>
          </p:sp>
          <p:sp>
            <p:nvSpPr>
              <p:cNvPr id="12" name="Rectangle 12"/>
              <p:cNvSpPr/>
              <p:nvPr/>
            </p:nvSpPr>
            <p:spPr>
              <a:xfrm>
                <a:off x="6286500" y="1476375"/>
                <a:ext cx="5143500" cy="2190750"/>
              </a:xfrm>
              <a:prstGeom prst="roundRect">
                <a:avLst>
                  <a:gd name="adj" fmla="val 4348"/>
                </a:avLst>
              </a:prstGeom>
              <a:solidFill>
                <a:srgbClr val="FFFFFF"/>
              </a:solidFill>
              <a:ln w="9525">
                <a:solidFill>
                  <a:srgbClr val="E5E7EB"/>
                </a:solidFill>
              </a:ln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6464618" y="1704499"/>
                <a:ext cx="1604462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1D1D1F"/>
                    </a:solidFill>
                    <a:latin typeface="Arial"/>
                    <a:ea typeface="Microsoft YaHei"/>
                    <a:cs typeface="Arial"/>
                  </a:rPr>
                  <a:t>• 认证管理 — 登录注册 JWT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6464618" y="1942624"/>
                <a:ext cx="1584960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1D1D1F"/>
                    </a:solidFill>
                    <a:latin typeface="Arial"/>
                    <a:ea typeface="Microsoft YaHei"/>
                    <a:cs typeface="Arial"/>
                  </a:rPr>
                  <a:t>• 房源查询 — 搜索筛选详情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6464618" y="2180749"/>
                <a:ext cx="1656469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1D1D1F"/>
                    </a:solidFill>
                    <a:latin typeface="Arial"/>
                    <a:ea typeface="Microsoft YaHei"/>
                    <a:cs typeface="Arial"/>
                  </a:rPr>
                  <a:t>• 预约管理 — 创建/状态流转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6464618" y="2418874"/>
                <a:ext cx="1727978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1D1D1F"/>
                    </a:solidFill>
                    <a:latin typeface="Arial"/>
                    <a:ea typeface="Microsoft YaHei"/>
                    <a:cs typeface="Arial"/>
                  </a:rPr>
                  <a:t>• 租约管理 — 合同/租期/退租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6464618" y="2656999"/>
                <a:ext cx="1656469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1D1D1F"/>
                    </a:solidFill>
                    <a:latin typeface="Arial"/>
                    <a:ea typeface="Microsoft YaHei"/>
                    <a:cs typeface="Arial"/>
                  </a:rPr>
                  <a:t>• 后台运营 — 用户/权限配置</a:t>
                </a:r>
              </a:p>
            </p:txBody>
          </p:sp>
        </p:grpSp>
        <p:grpSp>
          <p:nvGrpSpPr>
            <p:cNvPr id="22" name="Group 22"/>
            <p:cNvGrpSpPr/>
            <p:nvPr/>
          </p:nvGrpSpPr>
          <p:grpSpPr>
            <a:xfrm>
              <a:off x="747712" y="3717131"/>
              <a:ext cx="10491788" cy="2521744"/>
              <a:chOff x="747712" y="3717131"/>
              <a:chExt cx="10491788" cy="2521744"/>
            </a:xfrm>
          </p:grpSpPr>
          <p:sp>
            <p:nvSpPr>
              <p:cNvPr id="19" name="TextBox 19"/>
              <p:cNvSpPr txBox="1"/>
              <p:nvPr/>
            </p:nvSpPr>
            <p:spPr>
              <a:xfrm>
                <a:off x="747712" y="3717131"/>
                <a:ext cx="2225975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00897B"/>
                    </a:solidFill>
                    <a:latin typeface="Arial"/>
                    <a:ea typeface="Microsoft YaHei"/>
                    <a:cs typeface="Arial"/>
                  </a:rPr>
                  <a:t>2 层 DFD — 房源查询子过程展开</a:t>
                </a:r>
              </a:p>
            </p:txBody>
          </p:sp>
          <p:sp>
            <p:nvSpPr>
              <p:cNvPr id="20" name="Rectangle 20"/>
              <p:cNvSpPr/>
              <p:nvPr/>
            </p:nvSpPr>
            <p:spPr>
              <a:xfrm>
                <a:off x="762000" y="3952875"/>
                <a:ext cx="10477500" cy="2286000"/>
              </a:xfrm>
              <a:prstGeom prst="roundRect">
                <a:avLst>
                  <a:gd name="adj" fmla="val 4167"/>
                </a:avLst>
              </a:prstGeom>
              <a:solidFill>
                <a:srgbClr val="F0F7F4"/>
              </a:solidFill>
              <a:ln>
                <a:noFill/>
              </a:ln>
            </p:spPr>
          </p:sp>
          <p:pic>
            <p:nvPicPr>
              <p:cNvPr id="21" name="Image 21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401054" y="4095750"/>
                <a:ext cx="3199392" cy="2000250"/>
              </a:xfrm>
              <a:prstGeom prst="rect">
                <a:avLst/>
              </a:prstGeom>
            </p:spPr>
          </p:pic>
        </p:grpSp>
      </p:grpSp>
      <p:grpSp>
        <p:nvGrpSpPr>
          <p:cNvPr id="27" name="Group 27"/>
          <p:cNvGrpSpPr/>
          <p:nvPr/>
        </p:nvGrpSpPr>
        <p:grpSpPr>
          <a:xfrm>
            <a:off x="750570" y="6477000"/>
            <a:ext cx="10690860" cy="257175"/>
            <a:chOff x="750570" y="6477000"/>
            <a:chExt cx="10690860" cy="257175"/>
          </a:xfrm>
        </p:grpSpPr>
        <p:sp>
          <p:nvSpPr>
            <p:cNvPr id="24" name="Line 24"/>
            <p:cNvSpPr/>
            <p:nvPr/>
          </p:nvSpPr>
          <p:spPr>
            <a:xfrm>
              <a:off x="762000" y="6477000"/>
              <a:ext cx="10668000" cy="9525"/>
            </a:xfrm>
            <a:custGeom>
              <a:avLst/>
              <a:gdLst/>
              <a:ahLst/>
              <a:cxnLst/>
              <a:rect l="l" t="t" r="r" b="b"/>
              <a:pathLst>
                <a:path w="10668000" h="9525">
                  <a:moveTo>
                    <a:pt x="0" y="0"/>
                  </a:moveTo>
                  <a:lnTo>
                    <a:pt x="10668000" y="0"/>
                  </a:lnTo>
                </a:path>
              </a:pathLst>
            </a:custGeom>
            <a:noFill/>
            <a:ln w="9525">
              <a:solidFill>
                <a:srgbClr val="E5E7EB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50570" y="6551295"/>
              <a:ext cx="74295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CA3AF"/>
                  </a:solidFill>
                  <a:latin typeface="Arial"/>
                  <a:ea typeface="Microsoft YaHei"/>
                  <a:cs typeface="Arial"/>
                </a:rPr>
                <a:t>房屋租赁系统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1016520" y="6551295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9CA3AF"/>
                  </a:solidFill>
                  <a:latin typeface="Arial"/>
                  <a:ea typeface="Microsoft YaHei"/>
                  <a:cs typeface="Arial"/>
                </a:rPr>
                <a:t>06 / 21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762000" y="533400"/>
            <a:ext cx="10668000" cy="476250"/>
            <a:chOff x="762000" y="533400"/>
            <a:chExt cx="10668000" cy="476250"/>
          </a:xfrm>
        </p:grpSpPr>
        <p:sp>
          <p:nvSpPr>
            <p:cNvPr id="3" name="Rectangle 3"/>
            <p:cNvSpPr/>
            <p:nvPr/>
          </p:nvSpPr>
          <p:spPr>
            <a:xfrm>
              <a:off x="762000" y="533400"/>
              <a:ext cx="38100" cy="323850"/>
            </a:xfrm>
            <a:prstGeom prst="roundRect">
              <a:avLst>
                <a:gd name="adj" fmla="val 50000"/>
              </a:avLst>
            </a:prstGeom>
            <a:solidFill>
              <a:srgbClr val="00897B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925830" y="554355"/>
              <a:ext cx="2405634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1D1D1F"/>
                  </a:solidFill>
                  <a:latin typeface="Arial"/>
                  <a:ea typeface="Microsoft YaHei"/>
                  <a:cs typeface="Arial"/>
                </a:rPr>
                <a:t>面向对象需求分析</a:t>
              </a:r>
            </a:p>
          </p:txBody>
        </p:sp>
        <p:sp>
          <p:nvSpPr>
            <p:cNvPr id="5" name="Line 5"/>
            <p:cNvSpPr/>
            <p:nvPr/>
          </p:nvSpPr>
          <p:spPr>
            <a:xfrm>
              <a:off x="762000" y="1000125"/>
              <a:ext cx="10668000" cy="9525"/>
            </a:xfrm>
            <a:custGeom>
              <a:avLst/>
              <a:gdLst/>
              <a:ahLst/>
              <a:cxnLst/>
              <a:rect l="l" t="t" r="r" b="b"/>
              <a:pathLst>
                <a:path w="10668000" h="9525">
                  <a:moveTo>
                    <a:pt x="0" y="0"/>
                  </a:moveTo>
                  <a:lnTo>
                    <a:pt x="10668000" y="0"/>
                  </a:lnTo>
                </a:path>
              </a:pathLst>
            </a:custGeom>
            <a:noFill/>
            <a:ln w="14288">
              <a:solidFill>
                <a:srgbClr val="E5E7EB"/>
              </a:solidFill>
            </a:ln>
          </p:spPr>
        </p:sp>
      </p:grpSp>
      <p:grpSp>
        <p:nvGrpSpPr>
          <p:cNvPr id="27" name="Group 27"/>
          <p:cNvGrpSpPr/>
          <p:nvPr/>
        </p:nvGrpSpPr>
        <p:grpSpPr>
          <a:xfrm>
            <a:off x="747712" y="1240631"/>
            <a:ext cx="10682288" cy="4760119"/>
            <a:chOff x="747712" y="1240631"/>
            <a:chExt cx="10682288" cy="4760119"/>
          </a:xfrm>
        </p:grpSpPr>
        <p:grpSp>
          <p:nvGrpSpPr>
            <p:cNvPr id="10" name="Group 10"/>
            <p:cNvGrpSpPr/>
            <p:nvPr/>
          </p:nvGrpSpPr>
          <p:grpSpPr>
            <a:xfrm>
              <a:off x="747712" y="1240631"/>
              <a:ext cx="5157788" cy="3093244"/>
              <a:chOff x="747712" y="1240631"/>
              <a:chExt cx="5157788" cy="3093244"/>
            </a:xfrm>
          </p:grpSpPr>
          <p:sp>
            <p:nvSpPr>
              <p:cNvPr id="7" name="TextBox 7"/>
              <p:cNvSpPr txBox="1"/>
              <p:nvPr/>
            </p:nvSpPr>
            <p:spPr>
              <a:xfrm>
                <a:off x="747712" y="1240631"/>
                <a:ext cx="501134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00897B"/>
                    </a:solidFill>
                    <a:latin typeface="Arial"/>
                    <a:ea typeface="Microsoft YaHei"/>
                    <a:cs typeface="Arial"/>
                  </a:rPr>
                  <a:t>用例图</a:t>
                </a:r>
              </a:p>
            </p:txBody>
          </p:sp>
          <p:sp>
            <p:nvSpPr>
              <p:cNvPr id="8" name="Rectangle 8"/>
              <p:cNvSpPr/>
              <p:nvPr/>
            </p:nvSpPr>
            <p:spPr>
              <a:xfrm>
                <a:off x="762000" y="1476375"/>
                <a:ext cx="5143500" cy="2857500"/>
              </a:xfrm>
              <a:prstGeom prst="roundRect">
                <a:avLst>
                  <a:gd name="adj" fmla="val 3333"/>
                </a:avLst>
              </a:prstGeom>
              <a:solidFill>
                <a:srgbClr val="F0F7F4"/>
              </a:solidFill>
              <a:ln>
                <a:noFill/>
              </a:ln>
            </p:spPr>
          </p:sp>
          <p:pic>
            <p:nvPicPr>
              <p:cNvPr id="9" name="Image 9"/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1276998" y="1619250"/>
                <a:ext cx="4113504" cy="2571750"/>
              </a:xfrm>
              <a:prstGeom prst="rect">
                <a:avLst/>
              </a:prstGeom>
            </p:spPr>
          </p:pic>
        </p:grpSp>
        <p:grpSp>
          <p:nvGrpSpPr>
            <p:cNvPr id="23" name="Group 23"/>
            <p:cNvGrpSpPr/>
            <p:nvPr/>
          </p:nvGrpSpPr>
          <p:grpSpPr>
            <a:xfrm>
              <a:off x="6272212" y="1240631"/>
              <a:ext cx="5157788" cy="3093244"/>
              <a:chOff x="6272212" y="1240631"/>
              <a:chExt cx="5157788" cy="3093244"/>
            </a:xfrm>
          </p:grpSpPr>
          <p:sp>
            <p:nvSpPr>
              <p:cNvPr id="11" name="TextBox 11"/>
              <p:cNvSpPr txBox="1"/>
              <p:nvPr/>
            </p:nvSpPr>
            <p:spPr>
              <a:xfrm>
                <a:off x="6272212" y="1240631"/>
                <a:ext cx="1296608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00897B"/>
                    </a:solidFill>
                    <a:latin typeface="Arial"/>
                    <a:ea typeface="Microsoft YaHei"/>
                    <a:cs typeface="Arial"/>
                  </a:rPr>
                  <a:t>Actor 与用例对应</a:t>
                </a:r>
              </a:p>
            </p:txBody>
          </p:sp>
          <p:sp>
            <p:nvSpPr>
              <p:cNvPr id="12" name="Rectangle 12"/>
              <p:cNvSpPr/>
              <p:nvPr/>
            </p:nvSpPr>
            <p:spPr>
              <a:xfrm>
                <a:off x="6286500" y="1476375"/>
                <a:ext cx="5143500" cy="2857500"/>
              </a:xfrm>
              <a:prstGeom prst="roundRect">
                <a:avLst>
                  <a:gd name="adj" fmla="val 3333"/>
                </a:avLst>
              </a:prstGeom>
              <a:solidFill>
                <a:srgbClr val="FFFFFF"/>
              </a:solidFill>
              <a:ln w="9525">
                <a:solidFill>
                  <a:srgbClr val="E5E7EB"/>
                </a:solidFill>
              </a:ln>
            </p:spPr>
          </p:sp>
          <p:sp>
            <p:nvSpPr>
              <p:cNvPr id="13" name="Rectangle 13"/>
              <p:cNvSpPr/>
              <p:nvPr/>
            </p:nvSpPr>
            <p:spPr>
              <a:xfrm>
                <a:off x="6477000" y="1666875"/>
                <a:ext cx="2286000" cy="381000"/>
              </a:xfrm>
              <a:prstGeom prst="roundRect">
                <a:avLst>
                  <a:gd name="adj" fmla="val 15000"/>
                </a:avLst>
              </a:prstGeom>
              <a:solidFill>
                <a:srgbClr val="E8F5E9"/>
              </a:solidFill>
              <a:ln>
                <a:noFill/>
              </a:ln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7262912" y="1799749"/>
                <a:ext cx="714176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b="1" dirty="0">
                    <a:solidFill>
                      <a:srgbClr val="00897B"/>
                    </a:solidFill>
                    <a:latin typeface="Arial"/>
                    <a:ea typeface="Microsoft YaHei"/>
                    <a:cs typeface="Arial"/>
                  </a:rPr>
                  <a:t>租客 Actor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6560820" y="2141220"/>
                <a:ext cx="1223010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1D1D1F"/>
                    </a:solidFill>
                    <a:latin typeface="Arial"/>
                    <a:ea typeface="Microsoft YaHei"/>
                    <a:cs typeface="Arial"/>
                  </a:rPr>
                  <a:t>• 浏览房源 · 搜索筛选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6560820" y="2331720"/>
                <a:ext cx="1223010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1D1D1F"/>
                    </a:solidFill>
                    <a:latin typeface="Arial"/>
                    <a:ea typeface="Microsoft YaHei"/>
                    <a:cs typeface="Arial"/>
                  </a:rPr>
                  <a:t>• 查看详情 · 预约看房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6560820" y="2522220"/>
                <a:ext cx="1223010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1D1D1F"/>
                    </a:solidFill>
                    <a:latin typeface="Arial"/>
                    <a:ea typeface="Microsoft YaHei"/>
                    <a:cs typeface="Arial"/>
                  </a:rPr>
                  <a:t>• 查看租约 · 浏览历史</a:t>
                </a:r>
              </a:p>
            </p:txBody>
          </p:sp>
          <p:sp>
            <p:nvSpPr>
              <p:cNvPr id="18" name="Rectangle 18"/>
              <p:cNvSpPr/>
              <p:nvPr/>
            </p:nvSpPr>
            <p:spPr>
              <a:xfrm>
                <a:off x="6477000" y="2857500"/>
                <a:ext cx="2286000" cy="381000"/>
              </a:xfrm>
              <a:prstGeom prst="roundRect">
                <a:avLst>
                  <a:gd name="adj" fmla="val 15000"/>
                </a:avLst>
              </a:prstGeom>
              <a:solidFill>
                <a:srgbClr val="E3F2FD"/>
              </a:solidFill>
              <a:ln>
                <a:noFill/>
              </a:ln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7194653" y="2990374"/>
                <a:ext cx="850693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b="1" dirty="0">
                    <a:solidFill>
                      <a:srgbClr val="00897B"/>
                    </a:solidFill>
                    <a:latin typeface="Arial"/>
                    <a:ea typeface="Microsoft YaHei"/>
                    <a:cs typeface="Arial"/>
                  </a:rPr>
                  <a:t>管理员 Actor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6560820" y="3331845"/>
                <a:ext cx="1223010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1D1D1F"/>
                    </a:solidFill>
                    <a:latin typeface="Arial"/>
                    <a:ea typeface="Microsoft YaHei"/>
                    <a:cs typeface="Arial"/>
                  </a:rPr>
                  <a:t>• 房源维护 · 预约处理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6560820" y="3522345"/>
                <a:ext cx="1223010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1D1D1F"/>
                    </a:solidFill>
                    <a:latin typeface="Arial"/>
                    <a:ea typeface="Microsoft YaHei"/>
                    <a:cs typeface="Arial"/>
                  </a:rPr>
                  <a:t>• 租约管理 · 用户管理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6560820" y="3712845"/>
                <a:ext cx="1223010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1D1D1F"/>
                    </a:solidFill>
                    <a:latin typeface="Arial"/>
                    <a:ea typeface="Microsoft YaHei"/>
                    <a:cs typeface="Arial"/>
                  </a:rPr>
                  <a:t>• 图片上传 · 费用管理</a:t>
                </a:r>
              </a:p>
            </p:txBody>
          </p:sp>
        </p:grpSp>
        <p:grpSp>
          <p:nvGrpSpPr>
            <p:cNvPr id="26" name="Group 26"/>
            <p:cNvGrpSpPr/>
            <p:nvPr/>
          </p:nvGrpSpPr>
          <p:grpSpPr>
            <a:xfrm>
              <a:off x="762000" y="4286250"/>
              <a:ext cx="10668000" cy="1714500"/>
              <a:chOff x="762000" y="4286250"/>
              <a:chExt cx="10668000" cy="1714500"/>
            </a:xfrm>
          </p:grpSpPr>
          <p:sp>
            <p:nvSpPr>
              <p:cNvPr id="24" name="Rectangle 24"/>
              <p:cNvSpPr/>
              <p:nvPr/>
            </p:nvSpPr>
            <p:spPr>
              <a:xfrm>
                <a:off x="762000" y="4286250"/>
                <a:ext cx="10668000" cy="1714500"/>
              </a:xfrm>
              <a:prstGeom prst="roundRect">
                <a:avLst>
                  <a:gd name="adj" fmla="val 5556"/>
                </a:avLst>
              </a:prstGeom>
              <a:solidFill>
                <a:srgbClr val="F0F7F4"/>
              </a:solidFill>
              <a:ln>
                <a:noFill/>
              </a:ln>
            </p:spPr>
          </p:sp>
          <p:pic>
            <p:nvPicPr>
              <p:cNvPr id="25" name="Image 25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953360" y="4429125"/>
                <a:ext cx="2285280" cy="1428750"/>
              </a:xfrm>
              <a:prstGeom prst="rect">
                <a:avLst/>
              </a:prstGeom>
            </p:spPr>
          </p:pic>
        </p:grpSp>
      </p:grpSp>
      <p:grpSp>
        <p:nvGrpSpPr>
          <p:cNvPr id="31" name="Group 31"/>
          <p:cNvGrpSpPr/>
          <p:nvPr/>
        </p:nvGrpSpPr>
        <p:grpSpPr>
          <a:xfrm>
            <a:off x="750570" y="6477000"/>
            <a:ext cx="10690860" cy="257175"/>
            <a:chOff x="750570" y="6477000"/>
            <a:chExt cx="10690860" cy="257175"/>
          </a:xfrm>
        </p:grpSpPr>
        <p:sp>
          <p:nvSpPr>
            <p:cNvPr id="28" name="Line 28"/>
            <p:cNvSpPr/>
            <p:nvPr/>
          </p:nvSpPr>
          <p:spPr>
            <a:xfrm>
              <a:off x="762000" y="6477000"/>
              <a:ext cx="10668000" cy="9525"/>
            </a:xfrm>
            <a:custGeom>
              <a:avLst/>
              <a:gdLst/>
              <a:ahLst/>
              <a:cxnLst/>
              <a:rect l="l" t="t" r="r" b="b"/>
              <a:pathLst>
                <a:path w="10668000" h="9525">
                  <a:moveTo>
                    <a:pt x="0" y="0"/>
                  </a:moveTo>
                  <a:lnTo>
                    <a:pt x="10668000" y="0"/>
                  </a:lnTo>
                </a:path>
              </a:pathLst>
            </a:custGeom>
            <a:noFill/>
            <a:ln w="9525">
              <a:solidFill>
                <a:srgbClr val="E5E7EB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750570" y="6551295"/>
              <a:ext cx="74295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CA3AF"/>
                  </a:solidFill>
                  <a:latin typeface="Arial"/>
                  <a:ea typeface="Microsoft YaHei"/>
                  <a:cs typeface="Arial"/>
                </a:rPr>
                <a:t>房屋租赁系统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1016520" y="6551295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9CA3AF"/>
                  </a:solidFill>
                  <a:latin typeface="Arial"/>
                  <a:ea typeface="Microsoft YaHei"/>
                  <a:cs typeface="Arial"/>
                </a:rPr>
                <a:t>07 / 21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0897B">
                  <a:alpha val="5000"/>
                </a:srgbClr>
              </a:gs>
              <a:gs pos="100000">
                <a:srgbClr val="00897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762000" y="533400"/>
            <a:ext cx="10668000" cy="476250"/>
            <a:chOff x="762000" y="533400"/>
            <a:chExt cx="10668000" cy="476250"/>
          </a:xfrm>
        </p:grpSpPr>
        <p:sp>
          <p:nvSpPr>
            <p:cNvPr id="4" name="Rectangle 4"/>
            <p:cNvSpPr/>
            <p:nvPr/>
          </p:nvSpPr>
          <p:spPr>
            <a:xfrm>
              <a:off x="762000" y="533400"/>
              <a:ext cx="38100" cy="323850"/>
            </a:xfrm>
            <a:prstGeom prst="roundRect">
              <a:avLst>
                <a:gd name="adj" fmla="val 50000"/>
              </a:avLst>
            </a:prstGeom>
            <a:solidFill>
              <a:srgbClr val="00897B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925830" y="554355"/>
              <a:ext cx="2405634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1D1D1F"/>
                  </a:solidFill>
                  <a:latin typeface="Arial"/>
                  <a:ea typeface="Microsoft YaHei"/>
                  <a:cs typeface="Arial"/>
                </a:rPr>
                <a:t>功能与非功能需求</a:t>
              </a:r>
            </a:p>
          </p:txBody>
        </p:sp>
        <p:sp>
          <p:nvSpPr>
            <p:cNvPr id="6" name="Line 6"/>
            <p:cNvSpPr/>
            <p:nvPr/>
          </p:nvSpPr>
          <p:spPr>
            <a:xfrm>
              <a:off x="762000" y="1000125"/>
              <a:ext cx="10668000" cy="9525"/>
            </a:xfrm>
            <a:custGeom>
              <a:avLst/>
              <a:gdLst/>
              <a:ahLst/>
              <a:cxnLst/>
              <a:rect l="l" t="t" r="r" b="b"/>
              <a:pathLst>
                <a:path w="10668000" h="9525">
                  <a:moveTo>
                    <a:pt x="0" y="0"/>
                  </a:moveTo>
                  <a:lnTo>
                    <a:pt x="10668000" y="0"/>
                  </a:lnTo>
                </a:path>
              </a:pathLst>
            </a:custGeom>
            <a:noFill/>
            <a:ln w="14288">
              <a:solidFill>
                <a:srgbClr val="E5E7EB"/>
              </a:solidFill>
            </a:ln>
          </p:spPr>
        </p:sp>
      </p:grpSp>
      <p:grpSp>
        <p:nvGrpSpPr>
          <p:cNvPr id="64" name="Group 64"/>
          <p:cNvGrpSpPr/>
          <p:nvPr/>
        </p:nvGrpSpPr>
        <p:grpSpPr>
          <a:xfrm>
            <a:off x="746760" y="1280160"/>
            <a:ext cx="10683240" cy="5101590"/>
            <a:chOff x="746760" y="1280160"/>
            <a:chExt cx="10683240" cy="5101590"/>
          </a:xfrm>
        </p:grpSpPr>
        <p:grpSp>
          <p:nvGrpSpPr>
            <p:cNvPr id="41" name="Group 41"/>
            <p:cNvGrpSpPr/>
            <p:nvPr/>
          </p:nvGrpSpPr>
          <p:grpSpPr>
            <a:xfrm>
              <a:off x="746760" y="1280160"/>
              <a:ext cx="10111740" cy="2005965"/>
              <a:chOff x="746760" y="1280160"/>
              <a:chExt cx="10111740" cy="2005965"/>
            </a:xfrm>
          </p:grpSpPr>
          <p:sp>
            <p:nvSpPr>
              <p:cNvPr id="8" name="TextBox 8"/>
              <p:cNvSpPr txBox="1"/>
              <p:nvPr/>
            </p:nvSpPr>
            <p:spPr>
              <a:xfrm>
                <a:off x="746760" y="1280160"/>
                <a:ext cx="1903914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00897B"/>
                    </a:solidFill>
                    <a:latin typeface="Arial"/>
                    <a:ea typeface="Microsoft YaHei"/>
                    <a:cs typeface="Arial"/>
                  </a:rPr>
                  <a:t>功能需求 — 五大核心模块</a:t>
                </a:r>
              </a:p>
            </p:txBody>
          </p:sp>
          <p:sp>
            <p:nvSpPr>
              <p:cNvPr id="9" name="Rectangle 9"/>
              <p:cNvSpPr/>
              <p:nvPr/>
            </p:nvSpPr>
            <p:spPr>
              <a:xfrm>
                <a:off x="762000" y="1571625"/>
                <a:ext cx="2381250" cy="1714500"/>
              </a:xfrm>
              <a:prstGeom prst="roundRect">
                <a:avLst>
                  <a:gd name="adj" fmla="val 5556"/>
                </a:avLst>
              </a:prstGeom>
              <a:solidFill>
                <a:srgbClr val="FFFFFF"/>
              </a:solidFill>
              <a:ln w="9525">
                <a:solidFill>
                  <a:srgbClr val="E5E7EB"/>
                </a:solidFill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962263" y="1768318"/>
                <a:ext cx="247171" cy="204070"/>
              </a:xfrm>
              <a:custGeom>
                <a:avLst/>
                <a:gdLst/>
                <a:ahLst/>
                <a:cxnLst/>
                <a:rect l="l" t="t" r="r" b="b"/>
                <a:pathLst>
                  <a:path w="247171" h="204070">
                    <a:moveTo>
                      <a:pt x="247171" y="47146"/>
                    </a:moveTo>
                    <a:lnTo>
                      <a:pt x="90248" y="204070"/>
                    </a:lnTo>
                    <a:lnTo>
                      <a:pt x="0" y="113821"/>
                    </a:lnTo>
                    <a:lnTo>
                      <a:pt x="47146" y="66675"/>
                    </a:lnTo>
                    <a:lnTo>
                      <a:pt x="90248" y="109777"/>
                    </a:lnTo>
                    <a:lnTo>
                      <a:pt x="200025" y="0"/>
                    </a:lnTo>
                    <a:lnTo>
                      <a:pt x="247171" y="47146"/>
                    </a:lnTo>
                    <a:close/>
                  </a:path>
                </a:pathLst>
              </a:custGeom>
              <a:solidFill>
                <a:srgbClr val="00897B"/>
              </a:solidFill>
              <a:ln>
                <a:noFill/>
              </a:ln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1271588" y="1802606"/>
                <a:ext cx="658654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00695C"/>
                    </a:solidFill>
                    <a:latin typeface="Arial"/>
                    <a:ea typeface="Microsoft YaHei"/>
                    <a:cs typeface="Arial"/>
                  </a:rPr>
                  <a:t>认证模块</a:t>
                </a: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894398" y="2101691"/>
                <a:ext cx="615029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825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• 登录/注册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894398" y="2292191"/>
                <a:ext cx="571024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825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• JWT 认证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894398" y="2482691"/>
                <a:ext cx="774549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825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• 角色权限校验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894398" y="2673191"/>
                <a:ext cx="444508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825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• 验证码</a:t>
                </a:r>
              </a:p>
            </p:txBody>
          </p:sp>
          <p:sp>
            <p:nvSpPr>
              <p:cNvPr id="16" name="Rectangle 16"/>
              <p:cNvSpPr/>
              <p:nvPr/>
            </p:nvSpPr>
            <p:spPr>
              <a:xfrm>
                <a:off x="3333750" y="1571625"/>
                <a:ext cx="2381250" cy="1714500"/>
              </a:xfrm>
              <a:prstGeom prst="roundRect">
                <a:avLst>
                  <a:gd name="adj" fmla="val 5556"/>
                </a:avLst>
              </a:prstGeom>
              <a:solidFill>
                <a:srgbClr val="FFFFFF"/>
              </a:solidFill>
              <a:ln w="9525">
                <a:solidFill>
                  <a:srgbClr val="E5E7EB"/>
                </a:solidFill>
              </a:ln>
            </p:spPr>
          </p:sp>
          <p:sp>
            <p:nvSpPr>
              <p:cNvPr id="17" name="Freeform 17"/>
              <p:cNvSpPr/>
              <p:nvPr/>
            </p:nvSpPr>
            <p:spPr>
              <a:xfrm>
                <a:off x="969169" y="1733550"/>
                <a:ext cx="233362" cy="250031"/>
              </a:xfrm>
              <a:custGeom>
                <a:avLst/>
                <a:gdLst/>
                <a:ahLst/>
                <a:cxnLst/>
                <a:rect l="l" t="t" r="r" b="b"/>
                <a:pathLst>
                  <a:path w="233362" h="250031">
                    <a:moveTo>
                      <a:pt x="0" y="100012"/>
                    </a:moveTo>
                    <a:lnTo>
                      <a:pt x="0" y="250031"/>
                    </a:lnTo>
                    <a:lnTo>
                      <a:pt x="83344" y="250031"/>
                    </a:lnTo>
                    <a:lnTo>
                      <a:pt x="83344" y="183356"/>
                    </a:lnTo>
                    <a:cubicBezTo>
                      <a:pt x="83344" y="164944"/>
                      <a:pt x="98269" y="150019"/>
                      <a:pt x="116681" y="150019"/>
                    </a:cubicBezTo>
                    <a:cubicBezTo>
                      <a:pt x="135093" y="150019"/>
                      <a:pt x="150019" y="164944"/>
                      <a:pt x="150019" y="183356"/>
                    </a:cubicBezTo>
                    <a:lnTo>
                      <a:pt x="150019" y="250031"/>
                    </a:lnTo>
                    <a:lnTo>
                      <a:pt x="233362" y="250031"/>
                    </a:lnTo>
                    <a:lnTo>
                      <a:pt x="233362" y="100012"/>
                    </a:lnTo>
                    <a:lnTo>
                      <a:pt x="116681" y="0"/>
                    </a:lnTo>
                    <a:lnTo>
                      <a:pt x="0" y="100012"/>
                    </a:lnTo>
                    <a:close/>
                  </a:path>
                </a:pathLst>
              </a:custGeom>
              <a:solidFill>
                <a:srgbClr val="00897B"/>
              </a:solidFill>
              <a:ln>
                <a:noFill/>
              </a:ln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1271588" y="1802606"/>
                <a:ext cx="658654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00695C"/>
                    </a:solidFill>
                    <a:latin typeface="Arial"/>
                    <a:ea typeface="Microsoft YaHei"/>
                    <a:cs typeface="Arial"/>
                  </a:rPr>
                  <a:t>房源模块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894398" y="2101691"/>
                <a:ext cx="890064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825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• 公寓/房间 CRUD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894398" y="2292191"/>
                <a:ext cx="554522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825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• 搜索筛选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894398" y="2482691"/>
                <a:ext cx="774549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825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• 图片标签管理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894398" y="2673191"/>
                <a:ext cx="774549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825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• 属性费用配置</a:t>
                </a:r>
              </a:p>
            </p:txBody>
          </p:sp>
          <p:sp>
            <p:nvSpPr>
              <p:cNvPr id="23" name="Rectangle 23"/>
              <p:cNvSpPr/>
              <p:nvPr/>
            </p:nvSpPr>
            <p:spPr>
              <a:xfrm>
                <a:off x="5905500" y="1571625"/>
                <a:ext cx="2381250" cy="1714500"/>
              </a:xfrm>
              <a:prstGeom prst="roundRect">
                <a:avLst>
                  <a:gd name="adj" fmla="val 5556"/>
                </a:avLst>
              </a:prstGeom>
              <a:solidFill>
                <a:srgbClr val="FFFFFF"/>
              </a:solidFill>
              <a:ln w="9525">
                <a:solidFill>
                  <a:srgbClr val="E5E7EB"/>
                </a:solidFill>
              </a:ln>
            </p:spPr>
          </p:sp>
          <p:grpSp>
            <p:nvGrpSpPr>
              <p:cNvPr id="26" name="Group 26"/>
              <p:cNvGrpSpPr/>
              <p:nvPr/>
            </p:nvGrpSpPr>
            <p:grpSpPr>
              <a:xfrm>
                <a:off x="969169" y="1733550"/>
                <a:ext cx="233362" cy="250031"/>
                <a:chOff x="969169" y="1733550"/>
                <a:chExt cx="233362" cy="250031"/>
              </a:xfrm>
            </p:grpSpPr>
            <p:sp>
              <p:nvSpPr>
                <p:cNvPr id="24" name="Freeform 24"/>
                <p:cNvSpPr/>
                <p:nvPr/>
              </p:nvSpPr>
              <p:spPr>
                <a:xfrm>
                  <a:off x="969169" y="1733550"/>
                  <a:ext cx="233362" cy="8334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3362" h="83344">
                      <a:moveTo>
                        <a:pt x="83344" y="0"/>
                      </a:moveTo>
                      <a:lnTo>
                        <a:pt x="33338" y="0"/>
                      </a:lnTo>
                      <a:lnTo>
                        <a:pt x="33338" y="33338"/>
                      </a:lnTo>
                      <a:lnTo>
                        <a:pt x="0" y="33338"/>
                      </a:lnTo>
                      <a:lnTo>
                        <a:pt x="0" y="83344"/>
                      </a:lnTo>
                      <a:lnTo>
                        <a:pt x="233362" y="83344"/>
                      </a:lnTo>
                      <a:lnTo>
                        <a:pt x="233362" y="33338"/>
                      </a:lnTo>
                      <a:lnTo>
                        <a:pt x="200025" y="33338"/>
                      </a:lnTo>
                      <a:lnTo>
                        <a:pt x="200025" y="0"/>
                      </a:lnTo>
                      <a:lnTo>
                        <a:pt x="150019" y="0"/>
                      </a:lnTo>
                      <a:lnTo>
                        <a:pt x="150019" y="33338"/>
                      </a:lnTo>
                      <a:lnTo>
                        <a:pt x="83344" y="33338"/>
                      </a:lnTo>
                      <a:lnTo>
                        <a:pt x="83344" y="0"/>
                      </a:lnTo>
                      <a:close/>
                    </a:path>
                  </a:pathLst>
                </a:custGeom>
                <a:solidFill>
                  <a:srgbClr val="00897B"/>
                </a:solidFill>
                <a:ln>
                  <a:noFill/>
                </a:ln>
              </p:spPr>
            </p:sp>
            <p:sp>
              <p:nvSpPr>
                <p:cNvPr id="25" name="Freeform 25"/>
                <p:cNvSpPr/>
                <p:nvPr/>
              </p:nvSpPr>
              <p:spPr>
                <a:xfrm>
                  <a:off x="969169" y="1850231"/>
                  <a:ext cx="233362" cy="133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3362" h="133350">
                      <a:moveTo>
                        <a:pt x="233362" y="0"/>
                      </a:moveTo>
                      <a:lnTo>
                        <a:pt x="0" y="0"/>
                      </a:lnTo>
                      <a:lnTo>
                        <a:pt x="0" y="133350"/>
                      </a:lnTo>
                      <a:lnTo>
                        <a:pt x="233362" y="133350"/>
                      </a:lnTo>
                      <a:lnTo>
                        <a:pt x="233362" y="0"/>
                      </a:lnTo>
                      <a:close/>
                    </a:path>
                  </a:pathLst>
                </a:custGeom>
                <a:solidFill>
                  <a:srgbClr val="00897B"/>
                </a:solidFill>
                <a:ln>
                  <a:noFill/>
                </a:ln>
              </p:spPr>
            </p:sp>
          </p:grpSp>
          <p:sp>
            <p:nvSpPr>
              <p:cNvPr id="27" name="TextBox 27"/>
              <p:cNvSpPr txBox="1"/>
              <p:nvPr/>
            </p:nvSpPr>
            <p:spPr>
              <a:xfrm>
                <a:off x="1271588" y="1802606"/>
                <a:ext cx="658654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00695C"/>
                    </a:solidFill>
                    <a:latin typeface="Arial"/>
                    <a:ea typeface="Microsoft YaHei"/>
                    <a:cs typeface="Arial"/>
                  </a:rPr>
                  <a:t>预约模块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894398" y="2101691"/>
                <a:ext cx="774549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825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• 提交看房预约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894398" y="2292191"/>
                <a:ext cx="774549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825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• 预约状态流转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894398" y="2482691"/>
                <a:ext cx="774549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825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• 运营处理预约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894398" y="2673191"/>
                <a:ext cx="554522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825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• 历史记录</a:t>
                </a:r>
              </a:p>
            </p:txBody>
          </p:sp>
          <p:sp>
            <p:nvSpPr>
              <p:cNvPr id="32" name="Rectangle 32"/>
              <p:cNvSpPr/>
              <p:nvPr/>
            </p:nvSpPr>
            <p:spPr>
              <a:xfrm>
                <a:off x="8477250" y="1571625"/>
                <a:ext cx="2381250" cy="1714500"/>
              </a:xfrm>
              <a:prstGeom prst="roundRect">
                <a:avLst>
                  <a:gd name="adj" fmla="val 5556"/>
                </a:avLst>
              </a:prstGeom>
              <a:solidFill>
                <a:srgbClr val="FFFFFF"/>
              </a:solidFill>
              <a:ln w="9525">
                <a:solidFill>
                  <a:srgbClr val="E5E7EB"/>
                </a:solidFill>
              </a:ln>
            </p:spPr>
          </p:sp>
          <p:grpSp>
            <p:nvGrpSpPr>
              <p:cNvPr id="35" name="Group 35"/>
              <p:cNvGrpSpPr/>
              <p:nvPr/>
            </p:nvGrpSpPr>
            <p:grpSpPr>
              <a:xfrm>
                <a:off x="985838" y="1733550"/>
                <a:ext cx="200025" cy="266700"/>
                <a:chOff x="985838" y="1733550"/>
                <a:chExt cx="200025" cy="266700"/>
              </a:xfrm>
            </p:grpSpPr>
            <p:sp>
              <p:nvSpPr>
                <p:cNvPr id="33" name="Freeform 33"/>
                <p:cNvSpPr/>
                <p:nvPr/>
              </p:nvSpPr>
              <p:spPr>
                <a:xfrm>
                  <a:off x="985838" y="1733550"/>
                  <a:ext cx="200025" cy="266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0025" h="266700">
                      <a:moveTo>
                        <a:pt x="83344" y="0"/>
                      </a:moveTo>
                      <a:lnTo>
                        <a:pt x="0" y="0"/>
                      </a:lnTo>
                      <a:lnTo>
                        <a:pt x="0" y="266700"/>
                      </a:lnTo>
                      <a:lnTo>
                        <a:pt x="200025" y="266700"/>
                      </a:lnTo>
                      <a:lnTo>
                        <a:pt x="200025" y="116681"/>
                      </a:lnTo>
                      <a:lnTo>
                        <a:pt x="83344" y="116681"/>
                      </a:lnTo>
                      <a:lnTo>
                        <a:pt x="83344" y="0"/>
                      </a:lnTo>
                      <a:close/>
                    </a:path>
                  </a:pathLst>
                </a:custGeom>
                <a:solidFill>
                  <a:srgbClr val="00897B"/>
                </a:solidFill>
                <a:ln>
                  <a:noFill/>
                </a:ln>
              </p:spPr>
            </p:sp>
            <p:sp>
              <p:nvSpPr>
                <p:cNvPr id="34" name="Freeform 34"/>
                <p:cNvSpPr/>
                <p:nvPr/>
              </p:nvSpPr>
              <p:spPr>
                <a:xfrm>
                  <a:off x="1102519" y="1733550"/>
                  <a:ext cx="83344" cy="8334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3344" h="83344">
                      <a:moveTo>
                        <a:pt x="0" y="0"/>
                      </a:moveTo>
                      <a:lnTo>
                        <a:pt x="0" y="83344"/>
                      </a:lnTo>
                      <a:lnTo>
                        <a:pt x="83344" y="83344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00897B"/>
                </a:solidFill>
                <a:ln>
                  <a:noFill/>
                </a:ln>
              </p:spPr>
            </p:sp>
          </p:grpSp>
          <p:sp>
            <p:nvSpPr>
              <p:cNvPr id="36" name="TextBox 36"/>
              <p:cNvSpPr txBox="1"/>
              <p:nvPr/>
            </p:nvSpPr>
            <p:spPr>
              <a:xfrm>
                <a:off x="1271588" y="1802606"/>
                <a:ext cx="658654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00695C"/>
                    </a:solidFill>
                    <a:latin typeface="Arial"/>
                    <a:ea typeface="Microsoft YaHei"/>
                    <a:cs typeface="Arial"/>
                  </a:rPr>
                  <a:t>租约模块</a:t>
                </a:r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894398" y="2101691"/>
                <a:ext cx="554522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825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• 租约生成</a:t>
                </a:r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894398" y="2292191"/>
                <a:ext cx="835057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825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• 租期/费用管理</a:t>
                </a:r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894398" y="2482691"/>
                <a:ext cx="554522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825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• 退租处理</a:t>
                </a:r>
              </a:p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894398" y="2673191"/>
                <a:ext cx="554522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825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• 支付方式</a:t>
                </a:r>
              </a:p>
            </p:txBody>
          </p:sp>
        </p:grpSp>
        <p:grpSp>
          <p:nvGrpSpPr>
            <p:cNvPr id="54" name="Group 54"/>
            <p:cNvGrpSpPr/>
            <p:nvPr/>
          </p:nvGrpSpPr>
          <p:grpSpPr>
            <a:xfrm>
              <a:off x="746760" y="3375660"/>
              <a:ext cx="5158740" cy="3006090"/>
              <a:chOff x="746760" y="3375660"/>
              <a:chExt cx="5158740" cy="3006090"/>
            </a:xfrm>
          </p:grpSpPr>
          <p:sp>
            <p:nvSpPr>
              <p:cNvPr id="42" name="TextBox 42"/>
              <p:cNvSpPr txBox="1"/>
              <p:nvPr/>
            </p:nvSpPr>
            <p:spPr>
              <a:xfrm>
                <a:off x="746760" y="3375660"/>
                <a:ext cx="870585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00897B"/>
                    </a:solidFill>
                    <a:latin typeface="Arial"/>
                    <a:ea typeface="Microsoft YaHei"/>
                    <a:cs typeface="Arial"/>
                  </a:rPr>
                  <a:t>非功能需求</a:t>
                </a:r>
              </a:p>
            </p:txBody>
          </p:sp>
          <p:sp>
            <p:nvSpPr>
              <p:cNvPr id="43" name="Rectangle 43"/>
              <p:cNvSpPr/>
              <p:nvPr/>
            </p:nvSpPr>
            <p:spPr>
              <a:xfrm>
                <a:off x="762000" y="3619500"/>
                <a:ext cx="5143500" cy="2762250"/>
              </a:xfrm>
              <a:prstGeom prst="roundRect">
                <a:avLst>
                  <a:gd name="adj" fmla="val 3448"/>
                </a:avLst>
              </a:prstGeom>
              <a:solidFill>
                <a:srgbClr val="F0F7F4"/>
              </a:solidFill>
              <a:ln>
                <a:noFill/>
              </a:ln>
            </p:spPr>
          </p:sp>
          <p:sp>
            <p:nvSpPr>
              <p:cNvPr id="44" name="TextBox 44"/>
              <p:cNvSpPr txBox="1"/>
              <p:nvPr/>
            </p:nvSpPr>
            <p:spPr>
              <a:xfrm>
                <a:off x="939165" y="3839528"/>
                <a:ext cx="320707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00695C"/>
                    </a:solidFill>
                    <a:latin typeface="Arial"/>
                    <a:ea typeface="Microsoft YaHei"/>
                    <a:cs typeface="Arial"/>
                  </a:rPr>
                  <a:t>性能</a:t>
                </a:r>
              </a:p>
            </p:txBody>
          </p:sp>
          <p:sp>
            <p:nvSpPr>
              <p:cNvPr id="45" name="TextBox 45"/>
              <p:cNvSpPr txBox="1"/>
              <p:nvPr/>
            </p:nvSpPr>
            <p:spPr>
              <a:xfrm>
                <a:off x="941070" y="4074795"/>
                <a:ext cx="1949101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接口响应时间 &lt; 2s，支持 200+ 并发</a:t>
                </a:r>
              </a:p>
            </p:txBody>
          </p:sp>
          <p:sp>
            <p:nvSpPr>
              <p:cNvPr id="46" name="TextBox 46"/>
              <p:cNvSpPr txBox="1"/>
              <p:nvPr/>
            </p:nvSpPr>
            <p:spPr>
              <a:xfrm>
                <a:off x="939165" y="4344352"/>
                <a:ext cx="320707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00695C"/>
                    </a:solidFill>
                    <a:latin typeface="Arial"/>
                    <a:ea typeface="Microsoft YaHei"/>
                    <a:cs typeface="Arial"/>
                  </a:rPr>
                  <a:t>安全</a:t>
                </a:r>
              </a:p>
            </p:txBody>
          </p:sp>
          <p:sp>
            <p:nvSpPr>
              <p:cNvPr id="47" name="TextBox 47"/>
              <p:cNvSpPr txBox="1"/>
              <p:nvPr/>
            </p:nvSpPr>
            <p:spPr>
              <a:xfrm>
                <a:off x="941070" y="4579620"/>
                <a:ext cx="1961102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JWT 认证、角色权限隔离、数据脱敏</a:t>
                </a:r>
              </a:p>
            </p:txBody>
          </p:sp>
          <p:sp>
            <p:nvSpPr>
              <p:cNvPr id="48" name="TextBox 48"/>
              <p:cNvSpPr txBox="1"/>
              <p:nvPr/>
            </p:nvSpPr>
            <p:spPr>
              <a:xfrm>
                <a:off x="939165" y="4849178"/>
                <a:ext cx="467725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00695C"/>
                    </a:solidFill>
                    <a:latin typeface="Arial"/>
                    <a:ea typeface="Microsoft YaHei"/>
                    <a:cs typeface="Arial"/>
                  </a:rPr>
                  <a:t>可用性</a:t>
                </a:r>
              </a:p>
            </p:txBody>
          </p:sp>
          <p:sp>
            <p:nvSpPr>
              <p:cNvPr id="49" name="TextBox 49"/>
              <p:cNvSpPr txBox="1"/>
              <p:nvPr/>
            </p:nvSpPr>
            <p:spPr>
              <a:xfrm>
                <a:off x="941070" y="5084445"/>
                <a:ext cx="1901095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前端响应式适配（PC + 移动端 H5）</a:t>
                </a:r>
              </a:p>
            </p:txBody>
          </p:sp>
          <p:sp>
            <p:nvSpPr>
              <p:cNvPr id="50" name="TextBox 50"/>
              <p:cNvSpPr txBox="1"/>
              <p:nvPr/>
            </p:nvSpPr>
            <p:spPr>
              <a:xfrm>
                <a:off x="939165" y="5354002"/>
                <a:ext cx="614744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00695C"/>
                    </a:solidFill>
                    <a:latin typeface="Arial"/>
                    <a:ea typeface="Microsoft YaHei"/>
                    <a:cs typeface="Arial"/>
                  </a:rPr>
                  <a:t>可维护性</a:t>
                </a:r>
              </a:p>
            </p:txBody>
          </p:sp>
          <p:sp>
            <p:nvSpPr>
              <p:cNvPr id="51" name="TextBox 51"/>
              <p:cNvSpPr txBox="1"/>
              <p:nvPr/>
            </p:nvSpPr>
            <p:spPr>
              <a:xfrm>
                <a:off x="941070" y="5589270"/>
                <a:ext cx="2411158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多 Profile 环境切换、Docker Compose 部署</a:t>
                </a:r>
              </a:p>
            </p:txBody>
          </p:sp>
          <p:sp>
            <p:nvSpPr>
              <p:cNvPr id="52" name="TextBox 52"/>
              <p:cNvSpPr txBox="1"/>
              <p:nvPr/>
            </p:nvSpPr>
            <p:spPr>
              <a:xfrm>
                <a:off x="939165" y="5858828"/>
                <a:ext cx="467725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00695C"/>
                    </a:solidFill>
                    <a:latin typeface="Arial"/>
                    <a:ea typeface="Microsoft YaHei"/>
                    <a:cs typeface="Arial"/>
                  </a:rPr>
                  <a:t>可靠性</a:t>
                </a:r>
              </a:p>
            </p:txBody>
          </p:sp>
          <p:sp>
            <p:nvSpPr>
              <p:cNvPr id="53" name="TextBox 53"/>
              <p:cNvSpPr txBox="1"/>
              <p:nvPr/>
            </p:nvSpPr>
            <p:spPr>
              <a:xfrm>
                <a:off x="941070" y="6094095"/>
                <a:ext cx="2057114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数据备份机制、MinIO 对象存储持久化</a:t>
                </a:r>
              </a:p>
            </p:txBody>
          </p:sp>
        </p:grpSp>
        <p:grpSp>
          <p:nvGrpSpPr>
            <p:cNvPr id="63" name="Group 63"/>
            <p:cNvGrpSpPr/>
            <p:nvPr/>
          </p:nvGrpSpPr>
          <p:grpSpPr>
            <a:xfrm>
              <a:off x="6286500" y="3619500"/>
              <a:ext cx="5143500" cy="2762250"/>
              <a:chOff x="6286500" y="3619500"/>
              <a:chExt cx="5143500" cy="2762250"/>
            </a:xfrm>
          </p:grpSpPr>
          <p:sp>
            <p:nvSpPr>
              <p:cNvPr id="55" name="Rectangle 55"/>
              <p:cNvSpPr/>
              <p:nvPr/>
            </p:nvSpPr>
            <p:spPr>
              <a:xfrm>
                <a:off x="6286500" y="3619500"/>
                <a:ext cx="5143500" cy="2762250"/>
              </a:xfrm>
              <a:prstGeom prst="roundRect">
                <a:avLst>
                  <a:gd name="adj" fmla="val 3448"/>
                </a:avLst>
              </a:prstGeom>
              <a:solidFill>
                <a:srgbClr val="F0F7F4"/>
              </a:solidFill>
              <a:ln>
                <a:noFill/>
              </a:ln>
            </p:spPr>
          </p:sp>
          <p:sp>
            <p:nvSpPr>
              <p:cNvPr id="56" name="TextBox 56"/>
              <p:cNvSpPr txBox="1"/>
              <p:nvPr/>
            </p:nvSpPr>
            <p:spPr>
              <a:xfrm>
                <a:off x="6501765" y="3744278"/>
                <a:ext cx="614744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00695C"/>
                    </a:solidFill>
                    <a:latin typeface="Arial"/>
                    <a:ea typeface="Microsoft YaHei"/>
                    <a:cs typeface="Arial"/>
                  </a:rPr>
                  <a:t>关键约束</a:t>
                </a:r>
              </a:p>
            </p:txBody>
          </p:sp>
          <p:sp>
            <p:nvSpPr>
              <p:cNvPr id="57" name="TextBox 57"/>
              <p:cNvSpPr txBox="1"/>
              <p:nvPr/>
            </p:nvSpPr>
            <p:spPr>
              <a:xfrm>
                <a:off x="6503670" y="4046220"/>
                <a:ext cx="1943100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1D1D1F"/>
                    </a:solidFill>
                    <a:latin typeface="Arial"/>
                    <a:ea typeface="Microsoft YaHei"/>
                    <a:cs typeface="Arial"/>
                  </a:rPr>
                  <a:t>• 后端采用 Spring Boot 多模块工程</a:t>
                </a:r>
              </a:p>
            </p:txBody>
          </p:sp>
          <p:sp>
            <p:nvSpPr>
              <p:cNvPr id="58" name="TextBox 58"/>
              <p:cNvSpPr txBox="1"/>
              <p:nvPr/>
            </p:nvSpPr>
            <p:spPr>
              <a:xfrm>
                <a:off x="6503670" y="4284345"/>
                <a:ext cx="1973104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1D1D1F"/>
                    </a:solidFill>
                    <a:latin typeface="Arial"/>
                    <a:ea typeface="Microsoft YaHei"/>
                    <a:cs typeface="Arial"/>
                  </a:rPr>
                  <a:t>• 管理端 Element Plus / H5 端 Vant</a:t>
                </a:r>
              </a:p>
            </p:txBody>
          </p:sp>
          <p:sp>
            <p:nvSpPr>
              <p:cNvPr id="59" name="TextBox 59"/>
              <p:cNvSpPr txBox="1"/>
              <p:nvPr/>
            </p:nvSpPr>
            <p:spPr>
              <a:xfrm>
                <a:off x="6503670" y="4522470"/>
                <a:ext cx="1919097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1D1D1F"/>
                    </a:solidFill>
                    <a:latin typeface="Arial"/>
                    <a:ea typeface="Microsoft YaHei"/>
                    <a:cs typeface="Arial"/>
                  </a:rPr>
                  <a:t>• MySQL 主库 + Redis 缓存/验证码</a:t>
                </a:r>
              </a:p>
            </p:txBody>
          </p:sp>
          <p:sp>
            <p:nvSpPr>
              <p:cNvPr id="60" name="TextBox 60"/>
              <p:cNvSpPr txBox="1"/>
              <p:nvPr/>
            </p:nvSpPr>
            <p:spPr>
              <a:xfrm>
                <a:off x="6503670" y="4760595"/>
                <a:ext cx="1439037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1D1D1F"/>
                    </a:solidFill>
                    <a:latin typeface="Arial"/>
                    <a:ea typeface="Microsoft YaHei"/>
                    <a:cs typeface="Arial"/>
                  </a:rPr>
                  <a:t>• MinIO 统一图片对象存储</a:t>
                </a:r>
              </a:p>
            </p:txBody>
          </p:sp>
          <p:sp>
            <p:nvSpPr>
              <p:cNvPr id="61" name="TextBox 61"/>
              <p:cNvSpPr txBox="1"/>
              <p:nvPr/>
            </p:nvSpPr>
            <p:spPr>
              <a:xfrm>
                <a:off x="6503670" y="4998720"/>
                <a:ext cx="1637062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1D1D1F"/>
                    </a:solidFill>
                    <a:latin typeface="Arial"/>
                    <a:ea typeface="Microsoft YaHei"/>
                    <a:cs typeface="Arial"/>
                  </a:rPr>
                  <a:t>• Git 分支管理 + Commit 规范</a:t>
                </a:r>
              </a:p>
            </p:txBody>
          </p:sp>
          <p:sp>
            <p:nvSpPr>
              <p:cNvPr id="62" name="TextBox 62"/>
              <p:cNvSpPr txBox="1"/>
              <p:nvPr/>
            </p:nvSpPr>
            <p:spPr>
              <a:xfrm>
                <a:off x="6503670" y="5236845"/>
                <a:ext cx="1799082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1D1D1F"/>
                    </a:solidFill>
                    <a:latin typeface="Arial"/>
                    <a:ea typeface="Microsoft YaHei"/>
                    <a:cs typeface="Arial"/>
                  </a:rPr>
                  <a:t>• Docker Compose 固化开发环境</a:t>
                </a:r>
              </a:p>
            </p:txBody>
          </p:sp>
        </p:grpSp>
      </p:grpSp>
      <p:grpSp>
        <p:nvGrpSpPr>
          <p:cNvPr id="68" name="Group 68"/>
          <p:cNvGrpSpPr/>
          <p:nvPr/>
        </p:nvGrpSpPr>
        <p:grpSpPr>
          <a:xfrm>
            <a:off x="750570" y="6477000"/>
            <a:ext cx="10690860" cy="257175"/>
            <a:chOff x="750570" y="6477000"/>
            <a:chExt cx="10690860" cy="257175"/>
          </a:xfrm>
        </p:grpSpPr>
        <p:sp>
          <p:nvSpPr>
            <p:cNvPr id="65" name="Line 65"/>
            <p:cNvSpPr/>
            <p:nvPr/>
          </p:nvSpPr>
          <p:spPr>
            <a:xfrm>
              <a:off x="762000" y="6477000"/>
              <a:ext cx="10668000" cy="9525"/>
            </a:xfrm>
            <a:custGeom>
              <a:avLst/>
              <a:gdLst/>
              <a:ahLst/>
              <a:cxnLst/>
              <a:rect l="l" t="t" r="r" b="b"/>
              <a:pathLst>
                <a:path w="10668000" h="9525">
                  <a:moveTo>
                    <a:pt x="0" y="0"/>
                  </a:moveTo>
                  <a:lnTo>
                    <a:pt x="10668000" y="0"/>
                  </a:lnTo>
                </a:path>
              </a:pathLst>
            </a:custGeom>
            <a:noFill/>
            <a:ln w="9525">
              <a:solidFill>
                <a:srgbClr val="E5E7EB"/>
              </a:solidFill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750570" y="6551295"/>
              <a:ext cx="74295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CA3AF"/>
                  </a:solidFill>
                  <a:latin typeface="Arial"/>
                  <a:ea typeface="Microsoft YaHei"/>
                  <a:cs typeface="Arial"/>
                </a:rPr>
                <a:t>房屋租赁系统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11016520" y="6551295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9CA3AF"/>
                  </a:solidFill>
                  <a:latin typeface="Arial"/>
                  <a:ea typeface="Microsoft YaHei"/>
                  <a:cs typeface="Arial"/>
                </a:rPr>
                <a:t>08 / 21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4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762000" y="533400"/>
            <a:ext cx="10668000" cy="476250"/>
            <a:chOff x="762000" y="533400"/>
            <a:chExt cx="10668000" cy="476250"/>
          </a:xfrm>
        </p:grpSpPr>
        <p:sp>
          <p:nvSpPr>
            <p:cNvPr id="3" name="Rectangle 3"/>
            <p:cNvSpPr/>
            <p:nvPr/>
          </p:nvSpPr>
          <p:spPr>
            <a:xfrm>
              <a:off x="762000" y="533400"/>
              <a:ext cx="38100" cy="323850"/>
            </a:xfrm>
            <a:prstGeom prst="roundRect">
              <a:avLst>
                <a:gd name="adj" fmla="val 50000"/>
              </a:avLst>
            </a:prstGeom>
            <a:solidFill>
              <a:srgbClr val="00897B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925830" y="554355"/>
              <a:ext cx="1229487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1D1D1F"/>
                  </a:solidFill>
                  <a:latin typeface="Arial"/>
                  <a:ea typeface="Microsoft YaHei"/>
                  <a:cs typeface="Arial"/>
                </a:rPr>
                <a:t>系统架构</a:t>
              </a:r>
            </a:p>
          </p:txBody>
        </p:sp>
        <p:sp>
          <p:nvSpPr>
            <p:cNvPr id="5" name="Line 5"/>
            <p:cNvSpPr/>
            <p:nvPr/>
          </p:nvSpPr>
          <p:spPr>
            <a:xfrm>
              <a:off x="762000" y="1000125"/>
              <a:ext cx="10668000" cy="9525"/>
            </a:xfrm>
            <a:custGeom>
              <a:avLst/>
              <a:gdLst/>
              <a:ahLst/>
              <a:cxnLst/>
              <a:rect l="l" t="t" r="r" b="b"/>
              <a:pathLst>
                <a:path w="10668000" h="9525">
                  <a:moveTo>
                    <a:pt x="0" y="0"/>
                  </a:moveTo>
                  <a:lnTo>
                    <a:pt x="10668000" y="0"/>
                  </a:lnTo>
                </a:path>
              </a:pathLst>
            </a:custGeom>
            <a:noFill/>
            <a:ln w="14288">
              <a:solidFill>
                <a:srgbClr val="E5E7EB"/>
              </a:solidFill>
            </a:ln>
          </p:spPr>
        </p:sp>
      </p:grpSp>
      <p:grpSp>
        <p:nvGrpSpPr>
          <p:cNvPr id="27" name="Group 27"/>
          <p:cNvGrpSpPr/>
          <p:nvPr/>
        </p:nvGrpSpPr>
        <p:grpSpPr>
          <a:xfrm>
            <a:off x="762000" y="1238250"/>
            <a:ext cx="10668000" cy="4857750"/>
            <a:chOff x="762000" y="1238250"/>
            <a:chExt cx="10668000" cy="4857750"/>
          </a:xfrm>
        </p:grpSpPr>
        <p:grpSp>
          <p:nvGrpSpPr>
            <p:cNvPr id="10" name="Group 10"/>
            <p:cNvGrpSpPr/>
            <p:nvPr/>
          </p:nvGrpSpPr>
          <p:grpSpPr>
            <a:xfrm>
              <a:off x="762000" y="1238250"/>
              <a:ext cx="6667500" cy="4857750"/>
              <a:chOff x="762000" y="1238250"/>
              <a:chExt cx="6667500" cy="4857750"/>
            </a:xfrm>
          </p:grpSpPr>
          <p:sp>
            <p:nvSpPr>
              <p:cNvPr id="7" name="Rectangle 7"/>
              <p:cNvSpPr/>
              <p:nvPr/>
            </p:nvSpPr>
            <p:spPr>
              <a:xfrm>
                <a:off x="762000" y="1238250"/>
                <a:ext cx="6667500" cy="4857750"/>
              </a:xfrm>
              <a:prstGeom prst="roundRect">
                <a:avLst>
                  <a:gd name="adj" fmla="val 2353"/>
                </a:avLst>
              </a:prstGeom>
              <a:solidFill>
                <a:srgbClr val="F0F7F4"/>
              </a:solidFill>
              <a:ln>
                <a:noFill/>
              </a:ln>
            </p:spPr>
          </p:sp>
          <p:pic>
            <p:nvPicPr>
              <p:cNvPr id="8" name="Image 8"/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1810470" y="1381125"/>
                <a:ext cx="4570560" cy="2857500"/>
              </a:xfrm>
              <a:prstGeom prst="rect">
                <a:avLst/>
              </a:prstGeom>
            </p:spPr>
          </p:pic>
          <p:pic>
            <p:nvPicPr>
              <p:cNvPr id="9" name="Image 9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838846" y="4381500"/>
                <a:ext cx="2513808" cy="1571625"/>
              </a:xfrm>
              <a:prstGeom prst="rect">
                <a:avLst/>
              </a:prstGeom>
            </p:spPr>
          </p:pic>
        </p:grpSp>
        <p:grpSp>
          <p:nvGrpSpPr>
            <p:cNvPr id="26" name="Group 26"/>
            <p:cNvGrpSpPr/>
            <p:nvPr/>
          </p:nvGrpSpPr>
          <p:grpSpPr>
            <a:xfrm>
              <a:off x="7810500" y="1238250"/>
              <a:ext cx="3619500" cy="4857750"/>
              <a:chOff x="7810500" y="1238250"/>
              <a:chExt cx="3619500" cy="4857750"/>
            </a:xfrm>
          </p:grpSpPr>
          <p:sp>
            <p:nvSpPr>
              <p:cNvPr id="11" name="Rectangle 11"/>
              <p:cNvSpPr/>
              <p:nvPr/>
            </p:nvSpPr>
            <p:spPr>
              <a:xfrm>
                <a:off x="7810500" y="1238250"/>
                <a:ext cx="3619500" cy="4857750"/>
              </a:xfrm>
              <a:prstGeom prst="roundRect">
                <a:avLst>
                  <a:gd name="adj" fmla="val 3158"/>
                </a:avLst>
              </a:prstGeom>
              <a:solidFill>
                <a:srgbClr val="FFFFFF"/>
              </a:solidFill>
              <a:ln w="9525">
                <a:solidFill>
                  <a:srgbClr val="E5E7EB"/>
                </a:solidFill>
              </a:ln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7985760" y="1442085"/>
                <a:ext cx="702564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00897B"/>
                    </a:solidFill>
                    <a:latin typeface="Arial"/>
                    <a:ea typeface="Microsoft YaHei"/>
                    <a:cs typeface="Arial"/>
                  </a:rPr>
                  <a:t>架构要点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7988618" y="1799749"/>
                <a:ext cx="570833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b="1" dirty="0">
                    <a:solidFill>
                      <a:srgbClr val="00695C"/>
                    </a:solidFill>
                    <a:latin typeface="Arial"/>
                    <a:ea typeface="Microsoft YaHei"/>
                    <a:cs typeface="Arial"/>
                  </a:rPr>
                  <a:t>后端架构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7989570" y="2017395"/>
                <a:ext cx="1187006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• Spring Boot 多模块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7989570" y="2207895"/>
                <a:ext cx="1757077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• web-admin / web-app 双接口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7989570" y="2398395"/>
                <a:ext cx="1397032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• MyBatis-Plus + MySQL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7988618" y="2676049"/>
                <a:ext cx="570833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b="1" dirty="0">
                    <a:solidFill>
                      <a:srgbClr val="00695C"/>
                    </a:solidFill>
                    <a:latin typeface="Arial"/>
                    <a:ea typeface="Microsoft YaHei"/>
                    <a:cs typeface="Arial"/>
                  </a:rPr>
                  <a:t>前端架构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7989570" y="2893695"/>
                <a:ext cx="760952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• Vue3 + Vite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7989570" y="3084195"/>
                <a:ext cx="1247013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• 管理端 Element Plus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7989570" y="3274695"/>
                <a:ext cx="952976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• 租客端 Vant H5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7988618" y="3552349"/>
                <a:ext cx="570833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b="1" dirty="0">
                    <a:solidFill>
                      <a:srgbClr val="00695C"/>
                    </a:solidFill>
                    <a:latin typeface="Arial"/>
                    <a:ea typeface="Microsoft YaHei"/>
                    <a:cs typeface="Arial"/>
                  </a:rPr>
                  <a:t>基础设施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7989570" y="3769995"/>
                <a:ext cx="778954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• MySQL 主库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7989570" y="3960495"/>
                <a:ext cx="1126998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• Redis 缓存/验证码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7989570" y="4150995"/>
                <a:ext cx="958977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• MinIO 对象存储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7989570" y="4341495"/>
                <a:ext cx="1042988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• Docker Compose</a:t>
                </a:r>
              </a:p>
            </p:txBody>
          </p:sp>
        </p:grpSp>
      </p:grpSp>
      <p:grpSp>
        <p:nvGrpSpPr>
          <p:cNvPr id="31" name="Group 31"/>
          <p:cNvGrpSpPr/>
          <p:nvPr/>
        </p:nvGrpSpPr>
        <p:grpSpPr>
          <a:xfrm>
            <a:off x="750570" y="6477000"/>
            <a:ext cx="10690860" cy="257175"/>
            <a:chOff x="750570" y="6477000"/>
            <a:chExt cx="10690860" cy="257175"/>
          </a:xfrm>
        </p:grpSpPr>
        <p:sp>
          <p:nvSpPr>
            <p:cNvPr id="28" name="Line 28"/>
            <p:cNvSpPr/>
            <p:nvPr/>
          </p:nvSpPr>
          <p:spPr>
            <a:xfrm>
              <a:off x="762000" y="6477000"/>
              <a:ext cx="10668000" cy="9525"/>
            </a:xfrm>
            <a:custGeom>
              <a:avLst/>
              <a:gdLst/>
              <a:ahLst/>
              <a:cxnLst/>
              <a:rect l="l" t="t" r="r" b="b"/>
              <a:pathLst>
                <a:path w="10668000" h="9525">
                  <a:moveTo>
                    <a:pt x="0" y="0"/>
                  </a:moveTo>
                  <a:lnTo>
                    <a:pt x="10668000" y="0"/>
                  </a:lnTo>
                </a:path>
              </a:pathLst>
            </a:custGeom>
            <a:noFill/>
            <a:ln w="9525">
              <a:solidFill>
                <a:srgbClr val="E5E7EB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750570" y="6551295"/>
              <a:ext cx="74295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CA3AF"/>
                  </a:solidFill>
                  <a:latin typeface="Arial"/>
                  <a:ea typeface="Microsoft YaHei"/>
                  <a:cs typeface="Arial"/>
                </a:rPr>
                <a:t>房屋租赁系统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1016520" y="6551295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9CA3AF"/>
                  </a:solidFill>
                  <a:latin typeface="Arial"/>
                  <a:ea typeface="Microsoft YaHei"/>
                  <a:cs typeface="Arial"/>
                </a:rPr>
                <a:t>09 / 21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7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762000" y="533400"/>
            <a:ext cx="10668000" cy="476250"/>
            <a:chOff x="762000" y="533400"/>
            <a:chExt cx="10668000" cy="476250"/>
          </a:xfrm>
        </p:grpSpPr>
        <p:sp>
          <p:nvSpPr>
            <p:cNvPr id="3" name="Rectangle 3"/>
            <p:cNvSpPr/>
            <p:nvPr/>
          </p:nvSpPr>
          <p:spPr>
            <a:xfrm>
              <a:off x="762000" y="533400"/>
              <a:ext cx="38100" cy="323850"/>
            </a:xfrm>
            <a:prstGeom prst="roundRect">
              <a:avLst>
                <a:gd name="adj" fmla="val 50000"/>
              </a:avLst>
            </a:prstGeom>
            <a:solidFill>
              <a:srgbClr val="00897B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925830" y="554355"/>
              <a:ext cx="1229487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1D1D1F"/>
                  </a:solidFill>
                  <a:latin typeface="Arial"/>
                  <a:ea typeface="Microsoft YaHei"/>
                  <a:cs typeface="Arial"/>
                </a:rPr>
                <a:t>功能结构</a:t>
              </a:r>
            </a:p>
          </p:txBody>
        </p:sp>
        <p:sp>
          <p:nvSpPr>
            <p:cNvPr id="5" name="Line 5"/>
            <p:cNvSpPr/>
            <p:nvPr/>
          </p:nvSpPr>
          <p:spPr>
            <a:xfrm>
              <a:off x="762000" y="1000125"/>
              <a:ext cx="10668000" cy="9525"/>
            </a:xfrm>
            <a:custGeom>
              <a:avLst/>
              <a:gdLst/>
              <a:ahLst/>
              <a:cxnLst/>
              <a:rect l="l" t="t" r="r" b="b"/>
              <a:pathLst>
                <a:path w="10668000" h="9525">
                  <a:moveTo>
                    <a:pt x="0" y="0"/>
                  </a:moveTo>
                  <a:lnTo>
                    <a:pt x="10668000" y="0"/>
                  </a:lnTo>
                </a:path>
              </a:pathLst>
            </a:custGeom>
            <a:noFill/>
            <a:ln w="14288">
              <a:solidFill>
                <a:srgbClr val="E5E7EB"/>
              </a:solidFill>
            </a:ln>
          </p:spPr>
        </p:sp>
      </p:grpSp>
      <p:grpSp>
        <p:nvGrpSpPr>
          <p:cNvPr id="33" name="Group 33"/>
          <p:cNvGrpSpPr/>
          <p:nvPr/>
        </p:nvGrpSpPr>
        <p:grpSpPr>
          <a:xfrm>
            <a:off x="762000" y="1238250"/>
            <a:ext cx="10668000" cy="4857750"/>
            <a:chOff x="762000" y="1238250"/>
            <a:chExt cx="10668000" cy="4857750"/>
          </a:xfrm>
        </p:grpSpPr>
        <p:grpSp>
          <p:nvGrpSpPr>
            <p:cNvPr id="9" name="Group 9"/>
            <p:cNvGrpSpPr/>
            <p:nvPr/>
          </p:nvGrpSpPr>
          <p:grpSpPr>
            <a:xfrm>
              <a:off x="762000" y="1238250"/>
              <a:ext cx="7239000" cy="4857750"/>
              <a:chOff x="762000" y="1238250"/>
              <a:chExt cx="7239000" cy="4857750"/>
            </a:xfrm>
          </p:grpSpPr>
          <p:sp>
            <p:nvSpPr>
              <p:cNvPr id="7" name="Rectangle 7"/>
              <p:cNvSpPr/>
              <p:nvPr/>
            </p:nvSpPr>
            <p:spPr>
              <a:xfrm>
                <a:off x="762000" y="1238250"/>
                <a:ext cx="7239000" cy="4857750"/>
              </a:xfrm>
              <a:prstGeom prst="roundRect">
                <a:avLst>
                  <a:gd name="adj" fmla="val 2353"/>
                </a:avLst>
              </a:prstGeom>
              <a:solidFill>
                <a:srgbClr val="F0F7F4"/>
              </a:solidFill>
              <a:ln>
                <a:noFill/>
              </a:ln>
            </p:spPr>
          </p:sp>
          <p:pic>
            <p:nvPicPr>
              <p:cNvPr id="8" name="Image 8"/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904875" y="1493550"/>
                <a:ext cx="6953250" cy="4347150"/>
              </a:xfrm>
              <a:prstGeom prst="rect">
                <a:avLst/>
              </a:prstGeom>
            </p:spPr>
          </p:pic>
        </p:grpSp>
        <p:grpSp>
          <p:nvGrpSpPr>
            <p:cNvPr id="32" name="Group 32"/>
            <p:cNvGrpSpPr/>
            <p:nvPr/>
          </p:nvGrpSpPr>
          <p:grpSpPr>
            <a:xfrm>
              <a:off x="8191500" y="1238250"/>
              <a:ext cx="3238500" cy="4857750"/>
              <a:chOff x="8191500" y="1238250"/>
              <a:chExt cx="3238500" cy="4857750"/>
            </a:xfrm>
          </p:grpSpPr>
          <p:sp>
            <p:nvSpPr>
              <p:cNvPr id="10" name="Rectangle 10"/>
              <p:cNvSpPr/>
              <p:nvPr/>
            </p:nvSpPr>
            <p:spPr>
              <a:xfrm>
                <a:off x="8191500" y="1238250"/>
                <a:ext cx="3238500" cy="4857750"/>
              </a:xfrm>
              <a:prstGeom prst="roundRect">
                <a:avLst>
                  <a:gd name="adj" fmla="val 3529"/>
                </a:avLst>
              </a:prstGeom>
              <a:solidFill>
                <a:srgbClr val="FFFFFF"/>
              </a:solidFill>
              <a:ln w="9525">
                <a:solidFill>
                  <a:srgbClr val="E5E7EB"/>
                </a:solidFill>
              </a:ln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8366760" y="1442085"/>
                <a:ext cx="702564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00897B"/>
                    </a:solidFill>
                    <a:latin typeface="Arial"/>
                    <a:ea typeface="Microsoft YaHei"/>
                    <a:cs typeface="Arial"/>
                  </a:rPr>
                  <a:t>模块划分</a:t>
                </a:r>
              </a:p>
            </p:txBody>
          </p:sp>
          <p:sp>
            <p:nvSpPr>
              <p:cNvPr id="12" name="Freeform 12"/>
              <p:cNvSpPr/>
              <p:nvPr/>
            </p:nvSpPr>
            <p:spPr>
              <a:xfrm>
                <a:off x="8398669" y="1826419"/>
                <a:ext cx="233362" cy="233362"/>
              </a:xfrm>
              <a:custGeom>
                <a:avLst/>
                <a:gdLst/>
                <a:ahLst/>
                <a:cxnLst/>
                <a:rect l="l" t="t" r="r" b="b"/>
                <a:pathLst>
                  <a:path w="233362" h="233362">
                    <a:moveTo>
                      <a:pt x="100012" y="0"/>
                    </a:moveTo>
                    <a:lnTo>
                      <a:pt x="0" y="0"/>
                    </a:lnTo>
                    <a:lnTo>
                      <a:pt x="0" y="100012"/>
                    </a:lnTo>
                    <a:lnTo>
                      <a:pt x="100012" y="100012"/>
                    </a:lnTo>
                    <a:lnTo>
                      <a:pt x="100012" y="0"/>
                    </a:lnTo>
                    <a:close/>
                    <a:moveTo>
                      <a:pt x="100012" y="133350"/>
                    </a:moveTo>
                    <a:lnTo>
                      <a:pt x="0" y="133350"/>
                    </a:lnTo>
                    <a:lnTo>
                      <a:pt x="0" y="233362"/>
                    </a:lnTo>
                    <a:lnTo>
                      <a:pt x="100012" y="233362"/>
                    </a:lnTo>
                    <a:lnTo>
                      <a:pt x="100012" y="133350"/>
                    </a:lnTo>
                    <a:close/>
                    <a:moveTo>
                      <a:pt x="133350" y="0"/>
                    </a:moveTo>
                    <a:lnTo>
                      <a:pt x="233362" y="0"/>
                    </a:lnTo>
                    <a:lnTo>
                      <a:pt x="233362" y="100012"/>
                    </a:lnTo>
                    <a:lnTo>
                      <a:pt x="133350" y="100012"/>
                    </a:lnTo>
                    <a:lnTo>
                      <a:pt x="133350" y="0"/>
                    </a:lnTo>
                    <a:close/>
                    <a:moveTo>
                      <a:pt x="233362" y="133350"/>
                    </a:moveTo>
                    <a:lnTo>
                      <a:pt x="133350" y="133350"/>
                    </a:lnTo>
                    <a:lnTo>
                      <a:pt x="133350" y="233362"/>
                    </a:lnTo>
                    <a:lnTo>
                      <a:pt x="233362" y="233362"/>
                    </a:lnTo>
                    <a:lnTo>
                      <a:pt x="233362" y="133350"/>
                    </a:lnTo>
                    <a:close/>
                  </a:path>
                </a:pathLst>
              </a:custGeom>
              <a:solidFill>
                <a:srgbClr val="00897B"/>
              </a:solidFill>
              <a:ln>
                <a:noFill/>
              </a:ln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8702040" y="1886902"/>
                <a:ext cx="614744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00695C"/>
                    </a:solidFill>
                    <a:latin typeface="Arial"/>
                    <a:ea typeface="Microsoft YaHei"/>
                    <a:cs typeface="Arial"/>
                  </a:rPr>
                  <a:t>管理后台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8370570" y="2141220"/>
                <a:ext cx="910971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• 公寓/房间管理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8370570" y="2331720"/>
                <a:ext cx="604933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• 预约处理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8370570" y="2522220"/>
                <a:ext cx="604933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• 租约管理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8370570" y="2712720"/>
                <a:ext cx="604933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• 用户管理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8370570" y="2903220"/>
                <a:ext cx="604933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• 系统配置</a:t>
                </a:r>
              </a:p>
            </p:txBody>
          </p:sp>
          <p:sp>
            <p:nvSpPr>
              <p:cNvPr id="19" name="Freeform 19"/>
              <p:cNvSpPr/>
              <p:nvPr/>
            </p:nvSpPr>
            <p:spPr>
              <a:xfrm>
                <a:off x="8415338" y="3333750"/>
                <a:ext cx="200025" cy="266700"/>
              </a:xfrm>
              <a:custGeom>
                <a:avLst/>
                <a:gdLst/>
                <a:ahLst/>
                <a:cxnLst/>
                <a:rect l="l" t="t" r="r" b="b"/>
                <a:pathLst>
                  <a:path w="200025" h="266700">
                    <a:moveTo>
                      <a:pt x="22985" y="170415"/>
                    </a:moveTo>
                    <a:lnTo>
                      <a:pt x="100012" y="266700"/>
                    </a:lnTo>
                    <a:lnTo>
                      <a:pt x="177040" y="170415"/>
                    </a:lnTo>
                    <a:cubicBezTo>
                      <a:pt x="191919" y="151817"/>
                      <a:pt x="200025" y="128708"/>
                      <a:pt x="200025" y="104891"/>
                    </a:cubicBezTo>
                    <a:lnTo>
                      <a:pt x="200025" y="100012"/>
                    </a:lnTo>
                    <a:cubicBezTo>
                      <a:pt x="200025" y="44777"/>
                      <a:pt x="155248" y="0"/>
                      <a:pt x="100012" y="0"/>
                    </a:cubicBezTo>
                    <a:cubicBezTo>
                      <a:pt x="44777" y="0"/>
                      <a:pt x="0" y="44777"/>
                      <a:pt x="0" y="100012"/>
                    </a:cubicBezTo>
                    <a:lnTo>
                      <a:pt x="0" y="104891"/>
                    </a:lnTo>
                    <a:cubicBezTo>
                      <a:pt x="0" y="128708"/>
                      <a:pt x="8106" y="151817"/>
                      <a:pt x="22985" y="170415"/>
                    </a:cubicBezTo>
                    <a:close/>
                    <a:moveTo>
                      <a:pt x="100012" y="133350"/>
                    </a:moveTo>
                    <a:cubicBezTo>
                      <a:pt x="118424" y="133350"/>
                      <a:pt x="133350" y="118424"/>
                      <a:pt x="133350" y="100012"/>
                    </a:cubicBezTo>
                    <a:cubicBezTo>
                      <a:pt x="133350" y="81601"/>
                      <a:pt x="118424" y="66675"/>
                      <a:pt x="100012" y="66675"/>
                    </a:cubicBezTo>
                    <a:cubicBezTo>
                      <a:pt x="81601" y="66675"/>
                      <a:pt x="66675" y="81601"/>
                      <a:pt x="66675" y="100012"/>
                    </a:cubicBezTo>
                    <a:cubicBezTo>
                      <a:pt x="66675" y="118424"/>
                      <a:pt x="81601" y="133350"/>
                      <a:pt x="100012" y="133350"/>
                    </a:cubicBezTo>
                    <a:close/>
                  </a:path>
                </a:pathLst>
              </a:custGeom>
              <a:solidFill>
                <a:srgbClr val="00897B"/>
              </a:solidFill>
              <a:ln>
                <a:noFill/>
              </a:ln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8702040" y="3410902"/>
                <a:ext cx="673551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00695C"/>
                    </a:solidFill>
                    <a:latin typeface="Arial"/>
                    <a:ea typeface="Microsoft YaHei"/>
                    <a:cs typeface="Arial"/>
                  </a:rPr>
                  <a:t>租客端 H5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8370570" y="3665220"/>
                <a:ext cx="604933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• 找房筛选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8370570" y="3855720"/>
                <a:ext cx="604933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• 房源详情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8370570" y="4046220"/>
                <a:ext cx="604933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• 预约看房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8370570" y="4236720"/>
                <a:ext cx="604933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• 个人中心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8370570" y="4427220"/>
                <a:ext cx="604933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• 租约查看</a:t>
                </a:r>
              </a:p>
            </p:txBody>
          </p:sp>
          <p:sp>
            <p:nvSpPr>
              <p:cNvPr id="26" name="Freeform 26"/>
              <p:cNvSpPr/>
              <p:nvPr/>
            </p:nvSpPr>
            <p:spPr>
              <a:xfrm>
                <a:off x="8398669" y="4857750"/>
                <a:ext cx="233362" cy="266700"/>
              </a:xfrm>
              <a:custGeom>
                <a:avLst/>
                <a:gdLst/>
                <a:ahLst/>
                <a:cxnLst/>
                <a:rect l="l" t="t" r="r" b="b"/>
                <a:pathLst>
                  <a:path w="233362" h="266700">
                    <a:moveTo>
                      <a:pt x="116681" y="266700"/>
                    </a:moveTo>
                    <a:lnTo>
                      <a:pt x="55842" y="223243"/>
                    </a:lnTo>
                    <a:cubicBezTo>
                      <a:pt x="20798" y="198211"/>
                      <a:pt x="0" y="157798"/>
                      <a:pt x="0" y="114732"/>
                    </a:cubicBezTo>
                    <a:lnTo>
                      <a:pt x="0" y="50006"/>
                    </a:lnTo>
                    <a:lnTo>
                      <a:pt x="116681" y="0"/>
                    </a:lnTo>
                    <a:lnTo>
                      <a:pt x="233362" y="50006"/>
                    </a:lnTo>
                    <a:lnTo>
                      <a:pt x="233362" y="114732"/>
                    </a:lnTo>
                    <a:cubicBezTo>
                      <a:pt x="233362" y="157798"/>
                      <a:pt x="212565" y="198211"/>
                      <a:pt x="177521" y="223243"/>
                    </a:cubicBezTo>
                    <a:lnTo>
                      <a:pt x="116681" y="266700"/>
                    </a:lnTo>
                    <a:close/>
                    <a:moveTo>
                      <a:pt x="186808" y="95130"/>
                    </a:moveTo>
                    <a:lnTo>
                      <a:pt x="163235" y="71557"/>
                    </a:lnTo>
                    <a:lnTo>
                      <a:pt x="100012" y="134780"/>
                    </a:lnTo>
                    <a:lnTo>
                      <a:pt x="70127" y="104895"/>
                    </a:lnTo>
                    <a:lnTo>
                      <a:pt x="46554" y="128468"/>
                    </a:lnTo>
                    <a:lnTo>
                      <a:pt x="100012" y="181926"/>
                    </a:lnTo>
                    <a:lnTo>
                      <a:pt x="186808" y="95130"/>
                    </a:lnTo>
                    <a:close/>
                  </a:path>
                </a:pathLst>
              </a:custGeom>
              <a:solidFill>
                <a:srgbClr val="00897B"/>
              </a:solidFill>
              <a:ln>
                <a:noFill/>
              </a:ln>
            </p:spPr>
          </p:sp>
          <p:sp>
            <p:nvSpPr>
              <p:cNvPr id="27" name="TextBox 27"/>
              <p:cNvSpPr txBox="1"/>
              <p:nvPr/>
            </p:nvSpPr>
            <p:spPr>
              <a:xfrm>
                <a:off x="8702040" y="4934902"/>
                <a:ext cx="614744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00695C"/>
                    </a:solidFill>
                    <a:latin typeface="Arial"/>
                    <a:ea typeface="Microsoft YaHei"/>
                    <a:cs typeface="Arial"/>
                  </a:rPr>
                  <a:t>基础设施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8370570" y="5189220"/>
                <a:ext cx="1139000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• MySQL 持久化存储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8370570" y="5379720"/>
                <a:ext cx="700945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• Redis 缓存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8370570" y="5570220"/>
                <a:ext cx="958977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• MinIO 图片存储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8370570" y="5760720"/>
                <a:ext cx="622935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• JWT 认证</a:t>
                </a:r>
              </a:p>
            </p:txBody>
          </p:sp>
        </p:grpSp>
      </p:grpSp>
      <p:grpSp>
        <p:nvGrpSpPr>
          <p:cNvPr id="37" name="Group 37"/>
          <p:cNvGrpSpPr/>
          <p:nvPr/>
        </p:nvGrpSpPr>
        <p:grpSpPr>
          <a:xfrm>
            <a:off x="750570" y="6477000"/>
            <a:ext cx="10690860" cy="257175"/>
            <a:chOff x="750570" y="6477000"/>
            <a:chExt cx="10690860" cy="257175"/>
          </a:xfrm>
        </p:grpSpPr>
        <p:sp>
          <p:nvSpPr>
            <p:cNvPr id="34" name="Line 34"/>
            <p:cNvSpPr/>
            <p:nvPr/>
          </p:nvSpPr>
          <p:spPr>
            <a:xfrm>
              <a:off x="762000" y="6477000"/>
              <a:ext cx="10668000" cy="9525"/>
            </a:xfrm>
            <a:custGeom>
              <a:avLst/>
              <a:gdLst/>
              <a:ahLst/>
              <a:cxnLst/>
              <a:rect l="l" t="t" r="r" b="b"/>
              <a:pathLst>
                <a:path w="10668000" h="9525">
                  <a:moveTo>
                    <a:pt x="0" y="0"/>
                  </a:moveTo>
                  <a:lnTo>
                    <a:pt x="10668000" y="0"/>
                  </a:lnTo>
                </a:path>
              </a:pathLst>
            </a:custGeom>
            <a:noFill/>
            <a:ln w="9525">
              <a:solidFill>
                <a:srgbClr val="E5E7EB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750570" y="6551295"/>
              <a:ext cx="74295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CA3AF"/>
                  </a:solidFill>
                  <a:latin typeface="Arial"/>
                  <a:ea typeface="Microsoft YaHei"/>
                  <a:cs typeface="Arial"/>
                </a:rPr>
                <a:t>房屋租赁系统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1016520" y="6551295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9CA3AF"/>
                  </a:solidFill>
                  <a:latin typeface="Arial"/>
                  <a:ea typeface="Microsoft YaHei"/>
                  <a:cs typeface="Arial"/>
                </a:rPr>
                <a:t>10 / 21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762000" y="533400"/>
            <a:ext cx="10668000" cy="476250"/>
            <a:chOff x="762000" y="533400"/>
            <a:chExt cx="10668000" cy="476250"/>
          </a:xfrm>
        </p:grpSpPr>
        <p:sp>
          <p:nvSpPr>
            <p:cNvPr id="3" name="Rectangle 3"/>
            <p:cNvSpPr/>
            <p:nvPr/>
          </p:nvSpPr>
          <p:spPr>
            <a:xfrm>
              <a:off x="762000" y="533400"/>
              <a:ext cx="38100" cy="323850"/>
            </a:xfrm>
            <a:prstGeom prst="roundRect">
              <a:avLst>
                <a:gd name="adj" fmla="val 50000"/>
              </a:avLst>
            </a:prstGeom>
            <a:solidFill>
              <a:srgbClr val="00897B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925830" y="554355"/>
              <a:ext cx="1523524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1D1D1F"/>
                  </a:solidFill>
                  <a:latin typeface="Arial"/>
                  <a:ea typeface="Microsoft YaHei"/>
                  <a:cs typeface="Arial"/>
                </a:rPr>
                <a:t>数据库设计</a:t>
              </a:r>
            </a:p>
          </p:txBody>
        </p:sp>
        <p:sp>
          <p:nvSpPr>
            <p:cNvPr id="5" name="Line 5"/>
            <p:cNvSpPr/>
            <p:nvPr/>
          </p:nvSpPr>
          <p:spPr>
            <a:xfrm>
              <a:off x="762000" y="1000125"/>
              <a:ext cx="10668000" cy="9525"/>
            </a:xfrm>
            <a:custGeom>
              <a:avLst/>
              <a:gdLst/>
              <a:ahLst/>
              <a:cxnLst/>
              <a:rect l="l" t="t" r="r" b="b"/>
              <a:pathLst>
                <a:path w="10668000" h="9525">
                  <a:moveTo>
                    <a:pt x="0" y="0"/>
                  </a:moveTo>
                  <a:lnTo>
                    <a:pt x="10668000" y="0"/>
                  </a:lnTo>
                </a:path>
              </a:pathLst>
            </a:custGeom>
            <a:noFill/>
            <a:ln w="14288">
              <a:solidFill>
                <a:srgbClr val="E5E7EB"/>
              </a:solidFill>
            </a:ln>
          </p:spPr>
        </p:sp>
      </p:grpSp>
      <p:grpSp>
        <p:nvGrpSpPr>
          <p:cNvPr id="34" name="Group 34"/>
          <p:cNvGrpSpPr/>
          <p:nvPr/>
        </p:nvGrpSpPr>
        <p:grpSpPr>
          <a:xfrm>
            <a:off x="747712" y="1288256"/>
            <a:ext cx="10682288" cy="4760119"/>
            <a:chOff x="747712" y="1288256"/>
            <a:chExt cx="10682288" cy="4760119"/>
          </a:xfrm>
        </p:grpSpPr>
        <p:grpSp>
          <p:nvGrpSpPr>
            <p:cNvPr id="10" name="Group 10"/>
            <p:cNvGrpSpPr/>
            <p:nvPr/>
          </p:nvGrpSpPr>
          <p:grpSpPr>
            <a:xfrm>
              <a:off x="747712" y="1288256"/>
              <a:ext cx="10682288" cy="2140744"/>
              <a:chOff x="747712" y="1288256"/>
              <a:chExt cx="10682288" cy="2140744"/>
            </a:xfrm>
          </p:grpSpPr>
          <p:sp>
            <p:nvSpPr>
              <p:cNvPr id="7" name="TextBox 7"/>
              <p:cNvSpPr txBox="1"/>
              <p:nvPr/>
            </p:nvSpPr>
            <p:spPr>
              <a:xfrm>
                <a:off x="747712" y="1288256"/>
                <a:ext cx="1532888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00897B"/>
                    </a:solidFill>
                    <a:latin typeface="Arial"/>
                    <a:ea typeface="Microsoft YaHei"/>
                    <a:cs typeface="Arial"/>
                  </a:rPr>
                  <a:t>ER 图 — 核心数据关系</a:t>
                </a:r>
              </a:p>
            </p:txBody>
          </p:sp>
          <p:sp>
            <p:nvSpPr>
              <p:cNvPr id="8" name="Rectangle 8"/>
              <p:cNvSpPr/>
              <p:nvPr/>
            </p:nvSpPr>
            <p:spPr>
              <a:xfrm>
                <a:off x="762000" y="1524000"/>
                <a:ext cx="10668000" cy="1905000"/>
              </a:xfrm>
              <a:prstGeom prst="roundRect">
                <a:avLst>
                  <a:gd name="adj" fmla="val 5000"/>
                </a:avLst>
              </a:prstGeom>
              <a:solidFill>
                <a:srgbClr val="F0F7F4"/>
              </a:solidFill>
              <a:ln>
                <a:noFill/>
              </a:ln>
            </p:spPr>
          </p:sp>
          <p:pic>
            <p:nvPicPr>
              <p:cNvPr id="9" name="Image 9"/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4573141" y="1638300"/>
                <a:ext cx="3045719" cy="1676400"/>
              </a:xfrm>
              <a:prstGeom prst="rect">
                <a:avLst/>
              </a:prstGeom>
            </p:spPr>
          </p:pic>
        </p:grpSp>
        <p:grpSp>
          <p:nvGrpSpPr>
            <p:cNvPr id="24" name="Group 24"/>
            <p:cNvGrpSpPr/>
            <p:nvPr/>
          </p:nvGrpSpPr>
          <p:grpSpPr>
            <a:xfrm>
              <a:off x="747712" y="3526631"/>
              <a:ext cx="10110788" cy="854869"/>
              <a:chOff x="747712" y="3526631"/>
              <a:chExt cx="10110788" cy="854869"/>
            </a:xfrm>
          </p:grpSpPr>
          <p:sp>
            <p:nvSpPr>
              <p:cNvPr id="11" name="TextBox 11"/>
              <p:cNvSpPr txBox="1"/>
              <p:nvPr/>
            </p:nvSpPr>
            <p:spPr>
              <a:xfrm>
                <a:off x="747712" y="3526631"/>
                <a:ext cx="816173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00897B"/>
                    </a:solidFill>
                    <a:latin typeface="Arial"/>
                    <a:ea typeface="Microsoft YaHei"/>
                    <a:cs typeface="Arial"/>
                  </a:rPr>
                  <a:t>核心表结构</a:t>
                </a:r>
              </a:p>
            </p:txBody>
          </p:sp>
          <p:sp>
            <p:nvSpPr>
              <p:cNvPr id="12" name="Rectangle 12"/>
              <p:cNvSpPr/>
              <p:nvPr/>
            </p:nvSpPr>
            <p:spPr>
              <a:xfrm>
                <a:off x="762000" y="3810000"/>
                <a:ext cx="1524000" cy="571500"/>
              </a:xfrm>
              <a:prstGeom prst="roundRect">
                <a:avLst>
                  <a:gd name="adj" fmla="val 13333"/>
                </a:avLst>
              </a:prstGeom>
              <a:solidFill>
                <a:srgbClr val="00897B"/>
              </a:solidFill>
              <a:ln>
                <a:noFill/>
              </a:ln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1188079" y="4046220"/>
                <a:ext cx="671841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apartment</a:t>
                </a:r>
              </a:p>
            </p:txBody>
          </p:sp>
          <p:sp>
            <p:nvSpPr>
              <p:cNvPr id="14" name="Rectangle 14"/>
              <p:cNvSpPr/>
              <p:nvPr/>
            </p:nvSpPr>
            <p:spPr>
              <a:xfrm>
                <a:off x="2476500" y="3810000"/>
                <a:ext cx="1524000" cy="571500"/>
              </a:xfrm>
              <a:prstGeom prst="roundRect">
                <a:avLst>
                  <a:gd name="adj" fmla="val 13333"/>
                </a:avLst>
              </a:prstGeom>
              <a:solidFill>
                <a:srgbClr val="00897B"/>
              </a:solidFill>
              <a:ln>
                <a:noFill/>
              </a:ln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3075851" y="4046220"/>
                <a:ext cx="325298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room</a:t>
                </a:r>
              </a:p>
            </p:txBody>
          </p:sp>
          <p:sp>
            <p:nvSpPr>
              <p:cNvPr id="16" name="Rectangle 16"/>
              <p:cNvSpPr/>
              <p:nvPr/>
            </p:nvSpPr>
            <p:spPr>
              <a:xfrm>
                <a:off x="4191000" y="3810000"/>
                <a:ext cx="1524000" cy="571500"/>
              </a:xfrm>
              <a:prstGeom prst="roundRect">
                <a:avLst>
                  <a:gd name="adj" fmla="val 13333"/>
                </a:avLst>
              </a:prstGeom>
              <a:solidFill>
                <a:srgbClr val="00897B"/>
              </a:solidFill>
              <a:ln>
                <a:noFill/>
              </a:ln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4784050" y="4046220"/>
                <a:ext cx="337899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lease</a:t>
                </a:r>
              </a:p>
            </p:txBody>
          </p:sp>
          <p:sp>
            <p:nvSpPr>
              <p:cNvPr id="18" name="Rectangle 18"/>
              <p:cNvSpPr/>
              <p:nvPr/>
            </p:nvSpPr>
            <p:spPr>
              <a:xfrm>
                <a:off x="5905500" y="3810000"/>
                <a:ext cx="1524000" cy="571500"/>
              </a:xfrm>
              <a:prstGeom prst="roundRect">
                <a:avLst>
                  <a:gd name="adj" fmla="val 13333"/>
                </a:avLst>
              </a:prstGeom>
              <a:solidFill>
                <a:srgbClr val="4DB6AC"/>
              </a:solidFill>
              <a:ln>
                <a:noFill/>
              </a:ln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6517453" y="4046220"/>
                <a:ext cx="300095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user</a:t>
                </a:r>
              </a:p>
            </p:txBody>
          </p:sp>
          <p:sp>
            <p:nvSpPr>
              <p:cNvPr id="20" name="Rectangle 20"/>
              <p:cNvSpPr/>
              <p:nvPr/>
            </p:nvSpPr>
            <p:spPr>
              <a:xfrm>
                <a:off x="7620000" y="3810000"/>
                <a:ext cx="1524000" cy="571500"/>
              </a:xfrm>
              <a:prstGeom prst="roundRect">
                <a:avLst>
                  <a:gd name="adj" fmla="val 13333"/>
                </a:avLst>
              </a:prstGeom>
              <a:solidFill>
                <a:srgbClr val="4DB6AC"/>
              </a:solidFill>
              <a:ln>
                <a:noFill/>
              </a:ln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7992523" y="4046220"/>
                <a:ext cx="778955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appointment</a:t>
                </a:r>
              </a:p>
            </p:txBody>
          </p:sp>
          <p:sp>
            <p:nvSpPr>
              <p:cNvPr id="22" name="Rectangle 22"/>
              <p:cNvSpPr/>
              <p:nvPr/>
            </p:nvSpPr>
            <p:spPr>
              <a:xfrm>
                <a:off x="9334500" y="3810000"/>
                <a:ext cx="1524000" cy="571500"/>
              </a:xfrm>
              <a:prstGeom prst="roundRect">
                <a:avLst>
                  <a:gd name="adj" fmla="val 13333"/>
                </a:avLst>
              </a:prstGeom>
              <a:solidFill>
                <a:srgbClr val="4DB6AC"/>
              </a:solidFill>
              <a:ln>
                <a:noFill/>
              </a:ln>
            </p:spPr>
          </p:sp>
          <p:sp>
            <p:nvSpPr>
              <p:cNvPr id="23" name="TextBox 23"/>
              <p:cNvSpPr txBox="1"/>
              <p:nvPr/>
            </p:nvSpPr>
            <p:spPr>
              <a:xfrm>
                <a:off x="9962205" y="4046220"/>
                <a:ext cx="268591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role</a:t>
                </a:r>
              </a:p>
            </p:txBody>
          </p:sp>
        </p:grpSp>
        <p:grpSp>
          <p:nvGrpSpPr>
            <p:cNvPr id="27" name="Group 27"/>
            <p:cNvGrpSpPr/>
            <p:nvPr/>
          </p:nvGrpSpPr>
          <p:grpSpPr>
            <a:xfrm>
              <a:off x="762000" y="4572000"/>
              <a:ext cx="3524250" cy="1476375"/>
              <a:chOff x="762000" y="4572000"/>
              <a:chExt cx="3524250" cy="1476375"/>
            </a:xfrm>
          </p:grpSpPr>
          <p:sp>
            <p:nvSpPr>
              <p:cNvPr id="25" name="Rectangle 25"/>
              <p:cNvSpPr/>
              <p:nvPr/>
            </p:nvSpPr>
            <p:spPr>
              <a:xfrm>
                <a:off x="762000" y="4572000"/>
                <a:ext cx="3524250" cy="1476375"/>
              </a:xfrm>
              <a:prstGeom prst="roundRect">
                <a:avLst>
                  <a:gd name="adj" fmla="val 5161"/>
                </a:avLst>
              </a:prstGeom>
              <a:solidFill>
                <a:srgbClr val="F0F7F4"/>
              </a:solidFill>
              <a:ln>
                <a:noFill/>
              </a:ln>
            </p:spPr>
          </p:sp>
          <p:pic>
            <p:nvPicPr>
              <p:cNvPr id="26" name="Image 26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356023" y="4667250"/>
                <a:ext cx="2336205" cy="1285875"/>
              </a:xfrm>
              <a:prstGeom prst="rect">
                <a:avLst/>
              </a:prstGeom>
            </p:spPr>
          </p:pic>
        </p:grpSp>
        <p:grpSp>
          <p:nvGrpSpPr>
            <p:cNvPr id="30" name="Group 30"/>
            <p:cNvGrpSpPr/>
            <p:nvPr/>
          </p:nvGrpSpPr>
          <p:grpSpPr>
            <a:xfrm>
              <a:off x="4429125" y="4572000"/>
              <a:ext cx="3524250" cy="1476375"/>
              <a:chOff x="4429125" y="4572000"/>
              <a:chExt cx="3524250" cy="1476375"/>
            </a:xfrm>
          </p:grpSpPr>
          <p:sp>
            <p:nvSpPr>
              <p:cNvPr id="28" name="Rectangle 28"/>
              <p:cNvSpPr/>
              <p:nvPr/>
            </p:nvSpPr>
            <p:spPr>
              <a:xfrm>
                <a:off x="4429125" y="4572000"/>
                <a:ext cx="3524250" cy="1476375"/>
              </a:xfrm>
              <a:prstGeom prst="roundRect">
                <a:avLst>
                  <a:gd name="adj" fmla="val 5161"/>
                </a:avLst>
              </a:prstGeom>
              <a:solidFill>
                <a:srgbClr val="F0F7F4"/>
              </a:solidFill>
              <a:ln>
                <a:noFill/>
              </a:ln>
            </p:spPr>
          </p:sp>
          <p:pic>
            <p:nvPicPr>
              <p:cNvPr id="29" name="Image 29"/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023148" y="4667250"/>
                <a:ext cx="2336205" cy="1285875"/>
              </a:xfrm>
              <a:prstGeom prst="rect">
                <a:avLst/>
              </a:prstGeom>
            </p:spPr>
          </p:pic>
        </p:grpSp>
        <p:grpSp>
          <p:nvGrpSpPr>
            <p:cNvPr id="33" name="Group 33"/>
            <p:cNvGrpSpPr/>
            <p:nvPr/>
          </p:nvGrpSpPr>
          <p:grpSpPr>
            <a:xfrm>
              <a:off x="8096250" y="4572000"/>
              <a:ext cx="3333750" cy="1476375"/>
              <a:chOff x="8096250" y="4572000"/>
              <a:chExt cx="3333750" cy="1476375"/>
            </a:xfrm>
          </p:grpSpPr>
          <p:sp>
            <p:nvSpPr>
              <p:cNvPr id="31" name="Rectangle 31"/>
              <p:cNvSpPr/>
              <p:nvPr/>
            </p:nvSpPr>
            <p:spPr>
              <a:xfrm>
                <a:off x="8096250" y="4572000"/>
                <a:ext cx="3333750" cy="1476375"/>
              </a:xfrm>
              <a:prstGeom prst="roundRect">
                <a:avLst>
                  <a:gd name="adj" fmla="val 5161"/>
                </a:avLst>
              </a:prstGeom>
              <a:solidFill>
                <a:srgbClr val="F0F7F4"/>
              </a:solidFill>
              <a:ln>
                <a:noFill/>
              </a:ln>
            </p:spPr>
          </p:sp>
          <p:pic>
            <p:nvPicPr>
              <p:cNvPr id="32" name="Image 32"/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595023" y="4667250"/>
                <a:ext cx="2336205" cy="1285875"/>
              </a:xfrm>
              <a:prstGeom prst="rect">
                <a:avLst/>
              </a:prstGeom>
            </p:spPr>
          </p:pic>
        </p:grpSp>
      </p:grpSp>
      <p:grpSp>
        <p:nvGrpSpPr>
          <p:cNvPr id="38" name="Group 38"/>
          <p:cNvGrpSpPr/>
          <p:nvPr/>
        </p:nvGrpSpPr>
        <p:grpSpPr>
          <a:xfrm>
            <a:off x="750570" y="6477000"/>
            <a:ext cx="10690860" cy="257175"/>
            <a:chOff x="750570" y="6477000"/>
            <a:chExt cx="10690860" cy="257175"/>
          </a:xfrm>
        </p:grpSpPr>
        <p:sp>
          <p:nvSpPr>
            <p:cNvPr id="35" name="Line 35"/>
            <p:cNvSpPr/>
            <p:nvPr/>
          </p:nvSpPr>
          <p:spPr>
            <a:xfrm>
              <a:off x="762000" y="6477000"/>
              <a:ext cx="10668000" cy="9525"/>
            </a:xfrm>
            <a:custGeom>
              <a:avLst/>
              <a:gdLst/>
              <a:ahLst/>
              <a:cxnLst/>
              <a:rect l="l" t="t" r="r" b="b"/>
              <a:pathLst>
                <a:path w="10668000" h="9525">
                  <a:moveTo>
                    <a:pt x="0" y="0"/>
                  </a:moveTo>
                  <a:lnTo>
                    <a:pt x="10668000" y="0"/>
                  </a:lnTo>
                </a:path>
              </a:pathLst>
            </a:custGeom>
            <a:noFill/>
            <a:ln w="9525">
              <a:solidFill>
                <a:srgbClr val="E5E7EB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50570" y="6551295"/>
              <a:ext cx="74295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CA3AF"/>
                  </a:solidFill>
                  <a:latin typeface="Arial"/>
                  <a:ea typeface="Microsoft YaHei"/>
                  <a:cs typeface="Arial"/>
                </a:rPr>
                <a:t>房屋租赁系统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1016520" y="6551295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9CA3AF"/>
                  </a:solidFill>
                  <a:latin typeface="Arial"/>
                  <a:ea typeface="Microsoft YaHei"/>
                  <a:cs typeface="Arial"/>
                </a:rPr>
                <a:t>11 / 21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0897B">
                  <a:alpha val="4000"/>
                </a:srgbClr>
              </a:gs>
              <a:gs pos="100000">
                <a:srgbClr val="00897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762000" y="533400"/>
            <a:ext cx="10668000" cy="476250"/>
            <a:chOff x="762000" y="533400"/>
            <a:chExt cx="10668000" cy="476250"/>
          </a:xfrm>
        </p:grpSpPr>
        <p:sp>
          <p:nvSpPr>
            <p:cNvPr id="4" name="Rectangle 4"/>
            <p:cNvSpPr/>
            <p:nvPr/>
          </p:nvSpPr>
          <p:spPr>
            <a:xfrm>
              <a:off x="762000" y="533400"/>
              <a:ext cx="38100" cy="323850"/>
            </a:xfrm>
            <a:prstGeom prst="roundRect">
              <a:avLst>
                <a:gd name="adj" fmla="val 50000"/>
              </a:avLst>
            </a:prstGeom>
            <a:solidFill>
              <a:srgbClr val="00897B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925830" y="554355"/>
              <a:ext cx="3023111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1D1D1F"/>
                  </a:solidFill>
                  <a:latin typeface="Arial"/>
                  <a:ea typeface="Microsoft YaHei"/>
                  <a:cs typeface="Arial"/>
                </a:rPr>
                <a:t>UI设计 — 租客端（H5）</a:t>
              </a:r>
            </a:p>
          </p:txBody>
        </p:sp>
        <p:sp>
          <p:nvSpPr>
            <p:cNvPr id="6" name="Line 6"/>
            <p:cNvSpPr/>
            <p:nvPr/>
          </p:nvSpPr>
          <p:spPr>
            <a:xfrm>
              <a:off x="762000" y="1000125"/>
              <a:ext cx="10668000" cy="9525"/>
            </a:xfrm>
            <a:custGeom>
              <a:avLst/>
              <a:gdLst/>
              <a:ahLst/>
              <a:cxnLst/>
              <a:rect l="l" t="t" r="r" b="b"/>
              <a:pathLst>
                <a:path w="10668000" h="9525">
                  <a:moveTo>
                    <a:pt x="0" y="0"/>
                  </a:moveTo>
                  <a:lnTo>
                    <a:pt x="10668000" y="0"/>
                  </a:lnTo>
                </a:path>
              </a:pathLst>
            </a:custGeom>
            <a:noFill/>
            <a:ln w="14288">
              <a:solidFill>
                <a:srgbClr val="E5E7EB"/>
              </a:solidFill>
            </a:ln>
          </p:spPr>
        </p:sp>
      </p:grpSp>
      <p:grpSp>
        <p:nvGrpSpPr>
          <p:cNvPr id="35" name="Group 35"/>
          <p:cNvGrpSpPr/>
          <p:nvPr/>
        </p:nvGrpSpPr>
        <p:grpSpPr>
          <a:xfrm>
            <a:off x="415290" y="1304276"/>
            <a:ext cx="11205210" cy="5029849"/>
            <a:chOff x="415290" y="1304276"/>
            <a:chExt cx="11205210" cy="5029849"/>
          </a:xfrm>
        </p:grpSpPr>
        <p:grpSp>
          <p:nvGrpSpPr>
            <p:cNvPr id="10" name="Group 10"/>
            <p:cNvGrpSpPr/>
            <p:nvPr/>
          </p:nvGrpSpPr>
          <p:grpSpPr>
            <a:xfrm>
              <a:off x="571500" y="1304276"/>
              <a:ext cx="1238250" cy="3012930"/>
              <a:chOff x="571500" y="1304276"/>
              <a:chExt cx="1238250" cy="3012930"/>
            </a:xfrm>
          </p:grpSpPr>
          <p:pic>
            <p:nvPicPr>
              <p:cNvPr id="8" name="Image 8"/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571500" y="1304276"/>
                <a:ext cx="1238250" cy="2677824"/>
              </a:xfrm>
              <a:prstGeom prst="rect">
                <a:avLst/>
              </a:prstGeom>
            </p:spPr>
          </p:pic>
          <p:sp>
            <p:nvSpPr>
              <p:cNvPr id="9" name="TextBox 9"/>
              <p:cNvSpPr txBox="1"/>
              <p:nvPr/>
            </p:nvSpPr>
            <p:spPr>
              <a:xfrm>
                <a:off x="929866" y="4149566"/>
                <a:ext cx="521518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5" dirty="0">
                    <a:solidFill>
                      <a:srgbClr val="1D1D1F"/>
                    </a:solidFill>
                    <a:latin typeface="Arial"/>
                    <a:ea typeface="Microsoft YaHei"/>
                    <a:cs typeface="Arial"/>
                  </a:rPr>
                  <a:t>首页/搜索</a:t>
                </a:r>
              </a:p>
            </p:txBody>
          </p:sp>
        </p:grpSp>
        <p:grpSp>
          <p:nvGrpSpPr>
            <p:cNvPr id="13" name="Group 13"/>
            <p:cNvGrpSpPr/>
            <p:nvPr/>
          </p:nvGrpSpPr>
          <p:grpSpPr>
            <a:xfrm>
              <a:off x="2619375" y="1304276"/>
              <a:ext cx="1238250" cy="3012930"/>
              <a:chOff x="2619375" y="1304276"/>
              <a:chExt cx="1238250" cy="3012930"/>
            </a:xfrm>
          </p:grpSpPr>
          <p:pic>
            <p:nvPicPr>
              <p:cNvPr id="11" name="Image 11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619375" y="1304276"/>
                <a:ext cx="1238250" cy="2677824"/>
              </a:xfrm>
              <a:prstGeom prst="rect">
                <a:avLst/>
              </a:prstGeom>
            </p:spPr>
          </p:pic>
          <p:sp>
            <p:nvSpPr>
              <p:cNvPr id="12" name="TextBox 12"/>
              <p:cNvSpPr txBox="1"/>
              <p:nvPr/>
            </p:nvSpPr>
            <p:spPr>
              <a:xfrm>
                <a:off x="3007995" y="4149566"/>
                <a:ext cx="461010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5" dirty="0">
                    <a:solidFill>
                      <a:srgbClr val="1D1D1F"/>
                    </a:solidFill>
                    <a:latin typeface="Arial"/>
                    <a:ea typeface="Microsoft YaHei"/>
                    <a:cs typeface="Arial"/>
                  </a:rPr>
                  <a:t>房源详情</a:t>
                </a:r>
              </a:p>
            </p:txBody>
          </p:sp>
        </p:grpSp>
        <p:grpSp>
          <p:nvGrpSpPr>
            <p:cNvPr id="16" name="Group 16"/>
            <p:cNvGrpSpPr/>
            <p:nvPr/>
          </p:nvGrpSpPr>
          <p:grpSpPr>
            <a:xfrm>
              <a:off x="4667250" y="1304276"/>
              <a:ext cx="1238250" cy="3012930"/>
              <a:chOff x="4667250" y="1304276"/>
              <a:chExt cx="1238250" cy="3012930"/>
            </a:xfrm>
          </p:grpSpPr>
          <p:pic>
            <p:nvPicPr>
              <p:cNvPr id="14" name="Image 14"/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667250" y="1304276"/>
                <a:ext cx="1238250" cy="2677824"/>
              </a:xfrm>
              <a:prstGeom prst="rect">
                <a:avLst/>
              </a:prstGeom>
            </p:spPr>
          </p:pic>
          <p:sp>
            <p:nvSpPr>
              <p:cNvPr id="15" name="TextBox 15"/>
              <p:cNvSpPr txBox="1"/>
              <p:nvPr/>
            </p:nvSpPr>
            <p:spPr>
              <a:xfrm>
                <a:off x="5055870" y="4149566"/>
                <a:ext cx="461010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5" dirty="0">
                    <a:solidFill>
                      <a:srgbClr val="1D1D1F"/>
                    </a:solidFill>
                    <a:latin typeface="Arial"/>
                    <a:ea typeface="Microsoft YaHei"/>
                    <a:cs typeface="Arial"/>
                  </a:rPr>
                  <a:t>预约看房</a:t>
                </a:r>
              </a:p>
            </p:txBody>
          </p:sp>
        </p:grpSp>
        <p:grpSp>
          <p:nvGrpSpPr>
            <p:cNvPr id="19" name="Group 19"/>
            <p:cNvGrpSpPr/>
            <p:nvPr/>
          </p:nvGrpSpPr>
          <p:grpSpPr>
            <a:xfrm>
              <a:off x="6715125" y="1304276"/>
              <a:ext cx="1238250" cy="3012930"/>
              <a:chOff x="6715125" y="1304276"/>
              <a:chExt cx="1238250" cy="3012930"/>
            </a:xfrm>
          </p:grpSpPr>
          <p:pic>
            <p:nvPicPr>
              <p:cNvPr id="17" name="Image 17"/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715125" y="1304276"/>
                <a:ext cx="1238250" cy="2677824"/>
              </a:xfrm>
              <a:prstGeom prst="rect">
                <a:avLst/>
              </a:prstGeom>
            </p:spPr>
          </p:pic>
          <p:sp>
            <p:nvSpPr>
              <p:cNvPr id="18" name="TextBox 18"/>
              <p:cNvSpPr txBox="1"/>
              <p:nvPr/>
            </p:nvSpPr>
            <p:spPr>
              <a:xfrm>
                <a:off x="7103745" y="4149566"/>
                <a:ext cx="461010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5" dirty="0">
                    <a:solidFill>
                      <a:srgbClr val="1D1D1F"/>
                    </a:solidFill>
                    <a:latin typeface="Arial"/>
                    <a:ea typeface="Microsoft YaHei"/>
                    <a:cs typeface="Arial"/>
                  </a:rPr>
                  <a:t>个人中心</a:t>
                </a:r>
              </a:p>
            </p:txBody>
          </p:sp>
        </p:grpSp>
        <p:grpSp>
          <p:nvGrpSpPr>
            <p:cNvPr id="22" name="Group 22"/>
            <p:cNvGrpSpPr/>
            <p:nvPr/>
          </p:nvGrpSpPr>
          <p:grpSpPr>
            <a:xfrm>
              <a:off x="8763000" y="1304276"/>
              <a:ext cx="1238250" cy="3012930"/>
              <a:chOff x="8763000" y="1304276"/>
              <a:chExt cx="1238250" cy="3012930"/>
            </a:xfrm>
          </p:grpSpPr>
          <p:pic>
            <p:nvPicPr>
              <p:cNvPr id="20" name="Image 20"/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8763000" y="1304276"/>
                <a:ext cx="1238250" cy="2677824"/>
              </a:xfrm>
              <a:prstGeom prst="rect">
                <a:avLst/>
              </a:prstGeom>
            </p:spPr>
          </p:pic>
          <p:sp>
            <p:nvSpPr>
              <p:cNvPr id="21" name="TextBox 21"/>
              <p:cNvSpPr txBox="1"/>
              <p:nvPr/>
            </p:nvSpPr>
            <p:spPr>
              <a:xfrm>
                <a:off x="9151620" y="4149566"/>
                <a:ext cx="461010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5" dirty="0">
                    <a:solidFill>
                      <a:srgbClr val="1D1D1F"/>
                    </a:solidFill>
                    <a:latin typeface="Arial"/>
                    <a:ea typeface="Microsoft YaHei"/>
                    <a:cs typeface="Arial"/>
                  </a:rPr>
                  <a:t>浏览历史</a:t>
                </a:r>
              </a:p>
            </p:txBody>
          </p:sp>
        </p:grpSp>
        <p:grpSp>
          <p:nvGrpSpPr>
            <p:cNvPr id="26" name="Group 26"/>
            <p:cNvGrpSpPr/>
            <p:nvPr/>
          </p:nvGrpSpPr>
          <p:grpSpPr>
            <a:xfrm>
              <a:off x="415290" y="3534728"/>
              <a:ext cx="6490335" cy="2799397"/>
              <a:chOff x="415290" y="3534728"/>
              <a:chExt cx="6490335" cy="2799397"/>
            </a:xfrm>
          </p:grpSpPr>
          <p:sp>
            <p:nvSpPr>
              <p:cNvPr id="23" name="TextBox 23"/>
              <p:cNvSpPr txBox="1"/>
              <p:nvPr/>
            </p:nvSpPr>
            <p:spPr>
              <a:xfrm>
                <a:off x="415290" y="3534728"/>
                <a:ext cx="783815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00897B"/>
                    </a:solidFill>
                    <a:latin typeface="Arial"/>
                    <a:ea typeface="Microsoft YaHei"/>
                    <a:cs typeface="Arial"/>
                  </a:rPr>
                  <a:t>UI 设计参考</a:t>
                </a:r>
              </a:p>
            </p:txBody>
          </p:sp>
          <p:sp>
            <p:nvSpPr>
              <p:cNvPr id="24" name="Rectangle 24"/>
              <p:cNvSpPr/>
              <p:nvPr/>
            </p:nvSpPr>
            <p:spPr>
              <a:xfrm>
                <a:off x="428625" y="3762375"/>
                <a:ext cx="6477000" cy="2571750"/>
              </a:xfrm>
              <a:prstGeom prst="roundRect">
                <a:avLst>
                  <a:gd name="adj" fmla="val 3704"/>
                </a:avLst>
              </a:prstGeom>
              <a:solidFill>
                <a:srgbClr val="F0F7F4"/>
              </a:solidFill>
              <a:ln>
                <a:noFill/>
              </a:ln>
            </p:spPr>
          </p:sp>
          <p:pic>
            <p:nvPicPr>
              <p:cNvPr id="25" name="Image 25"/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590498" y="3905250"/>
                <a:ext cx="4153253" cy="2286000"/>
              </a:xfrm>
              <a:prstGeom prst="rect">
                <a:avLst/>
              </a:prstGeom>
            </p:spPr>
          </p:pic>
        </p:grpSp>
        <p:grpSp>
          <p:nvGrpSpPr>
            <p:cNvPr id="34" name="Group 34"/>
            <p:cNvGrpSpPr/>
            <p:nvPr/>
          </p:nvGrpSpPr>
          <p:grpSpPr>
            <a:xfrm>
              <a:off x="7239000" y="3762375"/>
              <a:ext cx="4381500" cy="2571750"/>
              <a:chOff x="7239000" y="3762375"/>
              <a:chExt cx="4381500" cy="2571750"/>
            </a:xfrm>
          </p:grpSpPr>
          <p:sp>
            <p:nvSpPr>
              <p:cNvPr id="27" name="Rectangle 27"/>
              <p:cNvSpPr/>
              <p:nvPr/>
            </p:nvSpPr>
            <p:spPr>
              <a:xfrm>
                <a:off x="7239000" y="3762375"/>
                <a:ext cx="4381500" cy="2571750"/>
              </a:xfrm>
              <a:prstGeom prst="roundRect">
                <a:avLst>
                  <a:gd name="adj" fmla="val 3704"/>
                </a:avLst>
              </a:prstGeom>
              <a:solidFill>
                <a:srgbClr val="FFFFFF"/>
              </a:solidFill>
              <a:ln w="9525">
                <a:solidFill>
                  <a:srgbClr val="E5E7EB"/>
                </a:solidFill>
              </a:ln>
            </p:spPr>
          </p:sp>
          <p:sp>
            <p:nvSpPr>
              <p:cNvPr id="28" name="TextBox 28"/>
              <p:cNvSpPr txBox="1"/>
              <p:nvPr/>
            </p:nvSpPr>
            <p:spPr>
              <a:xfrm>
                <a:off x="7416165" y="3982402"/>
                <a:ext cx="1055799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00695C"/>
                    </a:solidFill>
                    <a:latin typeface="Arial"/>
                    <a:ea typeface="Microsoft YaHei"/>
                    <a:cs typeface="Arial"/>
                  </a:rPr>
                  <a:t>移动端设计要点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7418070" y="4284345"/>
                <a:ext cx="1060990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1D1D1F"/>
                    </a:solidFill>
                    <a:latin typeface="Arial"/>
                    <a:ea typeface="Microsoft YaHei"/>
                    <a:cs typeface="Arial"/>
                  </a:rPr>
                  <a:t>• 使用 Vant 组件库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7418070" y="4503420"/>
                <a:ext cx="928973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1D1D1F"/>
                    </a:solidFill>
                    <a:latin typeface="Arial"/>
                    <a:ea typeface="Microsoft YaHei"/>
                    <a:cs typeface="Arial"/>
                  </a:rPr>
                  <a:t>• 响应式 H5 适配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7418070" y="4722495"/>
                <a:ext cx="844963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1D1D1F"/>
                    </a:solidFill>
                    <a:latin typeface="Arial"/>
                    <a:ea typeface="Microsoft YaHei"/>
                    <a:cs typeface="Arial"/>
                  </a:rPr>
                  <a:t>• 图片轮播组件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7418070" y="4941570"/>
                <a:ext cx="844963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1D1D1F"/>
                    </a:solidFill>
                    <a:latin typeface="Arial"/>
                    <a:ea typeface="Microsoft YaHei"/>
                    <a:cs typeface="Arial"/>
                  </a:rPr>
                  <a:t>• 上拉加载更多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7418070" y="5160645"/>
                <a:ext cx="964978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1D1D1F"/>
                    </a:solidFill>
                    <a:latin typeface="Arial"/>
                    <a:ea typeface="Microsoft YaHei"/>
                    <a:cs typeface="Arial"/>
                  </a:rPr>
                  <a:t>• 交互式预约流程</a:t>
                </a:r>
              </a:p>
            </p:txBody>
          </p:sp>
        </p:grpSp>
      </p:grpSp>
      <p:grpSp>
        <p:nvGrpSpPr>
          <p:cNvPr id="39" name="Group 39"/>
          <p:cNvGrpSpPr/>
          <p:nvPr/>
        </p:nvGrpSpPr>
        <p:grpSpPr>
          <a:xfrm>
            <a:off x="750570" y="6477000"/>
            <a:ext cx="10690860" cy="257175"/>
            <a:chOff x="750570" y="6477000"/>
            <a:chExt cx="10690860" cy="257175"/>
          </a:xfrm>
        </p:grpSpPr>
        <p:sp>
          <p:nvSpPr>
            <p:cNvPr id="36" name="Line 36"/>
            <p:cNvSpPr/>
            <p:nvPr/>
          </p:nvSpPr>
          <p:spPr>
            <a:xfrm>
              <a:off x="762000" y="6477000"/>
              <a:ext cx="10668000" cy="9525"/>
            </a:xfrm>
            <a:custGeom>
              <a:avLst/>
              <a:gdLst/>
              <a:ahLst/>
              <a:cxnLst/>
              <a:rect l="l" t="t" r="r" b="b"/>
              <a:pathLst>
                <a:path w="10668000" h="9525">
                  <a:moveTo>
                    <a:pt x="0" y="0"/>
                  </a:moveTo>
                  <a:lnTo>
                    <a:pt x="10668000" y="0"/>
                  </a:lnTo>
                </a:path>
              </a:pathLst>
            </a:custGeom>
            <a:noFill/>
            <a:ln w="9525">
              <a:solidFill>
                <a:srgbClr val="E5E7EB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750570" y="6551295"/>
              <a:ext cx="74295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CA3AF"/>
                  </a:solidFill>
                  <a:latin typeface="Arial"/>
                  <a:ea typeface="Microsoft YaHei"/>
                  <a:cs typeface="Arial"/>
                </a:rPr>
                <a:t>房屋租赁系统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1016520" y="6551295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9CA3AF"/>
                  </a:solidFill>
                  <a:latin typeface="Arial"/>
                  <a:ea typeface="Microsoft YaHei"/>
                  <a:cs typeface="Arial"/>
                </a:rPr>
                <a:t>12 / 21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0897B">
                  <a:alpha val="5000"/>
                </a:srgbClr>
              </a:gs>
              <a:gs pos="100000">
                <a:srgbClr val="00897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762000" y="533400"/>
            <a:ext cx="10668000" cy="476250"/>
            <a:chOff x="762000" y="533400"/>
            <a:chExt cx="10668000" cy="476250"/>
          </a:xfrm>
        </p:grpSpPr>
        <p:sp>
          <p:nvSpPr>
            <p:cNvPr id="4" name="Rectangle 4"/>
            <p:cNvSpPr/>
            <p:nvPr/>
          </p:nvSpPr>
          <p:spPr>
            <a:xfrm>
              <a:off x="762000" y="533400"/>
              <a:ext cx="38100" cy="323850"/>
            </a:xfrm>
            <a:prstGeom prst="roundRect">
              <a:avLst>
                <a:gd name="adj" fmla="val 50000"/>
              </a:avLst>
            </a:prstGeom>
            <a:solidFill>
              <a:srgbClr val="00897B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925830" y="554355"/>
              <a:ext cx="2405634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1D1D1F"/>
                  </a:solidFill>
                  <a:latin typeface="Arial"/>
                  <a:ea typeface="Microsoft YaHei"/>
                  <a:cs typeface="Arial"/>
                </a:rPr>
                <a:t>UI设计 — 管理后台</a:t>
              </a:r>
            </a:p>
          </p:txBody>
        </p:sp>
        <p:sp>
          <p:nvSpPr>
            <p:cNvPr id="6" name="Line 6"/>
            <p:cNvSpPr/>
            <p:nvPr/>
          </p:nvSpPr>
          <p:spPr>
            <a:xfrm>
              <a:off x="762000" y="1000125"/>
              <a:ext cx="10668000" cy="9525"/>
            </a:xfrm>
            <a:custGeom>
              <a:avLst/>
              <a:gdLst/>
              <a:ahLst/>
              <a:cxnLst/>
              <a:rect l="l" t="t" r="r" b="b"/>
              <a:pathLst>
                <a:path w="10668000" h="9525">
                  <a:moveTo>
                    <a:pt x="0" y="0"/>
                  </a:moveTo>
                  <a:lnTo>
                    <a:pt x="10668000" y="0"/>
                  </a:lnTo>
                </a:path>
              </a:pathLst>
            </a:custGeom>
            <a:noFill/>
            <a:ln w="14288">
              <a:solidFill>
                <a:srgbClr val="E5E7EB"/>
              </a:solidFill>
            </a:ln>
          </p:spPr>
        </p:sp>
      </p:grpSp>
      <p:grpSp>
        <p:nvGrpSpPr>
          <p:cNvPr id="35" name="Group 35"/>
          <p:cNvGrpSpPr/>
          <p:nvPr/>
        </p:nvGrpSpPr>
        <p:grpSpPr>
          <a:xfrm>
            <a:off x="747712" y="1307306"/>
            <a:ext cx="10682288" cy="5026819"/>
            <a:chOff x="747712" y="1307306"/>
            <a:chExt cx="10682288" cy="5026819"/>
          </a:xfrm>
        </p:grpSpPr>
        <p:grpSp>
          <p:nvGrpSpPr>
            <p:cNvPr id="30" name="Group 30"/>
            <p:cNvGrpSpPr/>
            <p:nvPr/>
          </p:nvGrpSpPr>
          <p:grpSpPr>
            <a:xfrm>
              <a:off x="747712" y="1307306"/>
              <a:ext cx="2871788" cy="3026569"/>
              <a:chOff x="747712" y="1307306"/>
              <a:chExt cx="2871788" cy="3026569"/>
            </a:xfrm>
          </p:grpSpPr>
          <p:sp>
            <p:nvSpPr>
              <p:cNvPr id="8" name="TextBox 8"/>
              <p:cNvSpPr txBox="1"/>
              <p:nvPr/>
            </p:nvSpPr>
            <p:spPr>
              <a:xfrm>
                <a:off x="747712" y="1307306"/>
                <a:ext cx="973693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00897B"/>
                    </a:solidFill>
                    <a:latin typeface="Arial"/>
                    <a:ea typeface="Microsoft YaHei"/>
                    <a:cs typeface="Arial"/>
                  </a:rPr>
                  <a:t>后台管理功能</a:t>
                </a:r>
              </a:p>
            </p:txBody>
          </p:sp>
          <p:sp>
            <p:nvSpPr>
              <p:cNvPr id="9" name="Rectangle 9"/>
              <p:cNvSpPr/>
              <p:nvPr/>
            </p:nvSpPr>
            <p:spPr>
              <a:xfrm>
                <a:off x="762000" y="1571625"/>
                <a:ext cx="2857500" cy="857250"/>
              </a:xfrm>
              <a:prstGeom prst="roundRect">
                <a:avLst>
                  <a:gd name="adj" fmla="val 8889"/>
                </a:avLst>
              </a:prstGeom>
              <a:solidFill>
                <a:srgbClr val="F0F7F4"/>
              </a:solidFill>
              <a:ln>
                <a:noFill/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938212" y="1714500"/>
                <a:ext cx="200025" cy="266700"/>
              </a:xfrm>
              <a:custGeom>
                <a:avLst/>
                <a:gdLst/>
                <a:ahLst/>
                <a:cxnLst/>
                <a:rect l="l" t="t" r="r" b="b"/>
                <a:pathLst>
                  <a:path w="200025" h="266700">
                    <a:moveTo>
                      <a:pt x="200025" y="0"/>
                    </a:moveTo>
                    <a:lnTo>
                      <a:pt x="0" y="0"/>
                    </a:lnTo>
                    <a:lnTo>
                      <a:pt x="0" y="266700"/>
                    </a:lnTo>
                    <a:lnTo>
                      <a:pt x="66675" y="266700"/>
                    </a:lnTo>
                    <a:lnTo>
                      <a:pt x="66675" y="200025"/>
                    </a:lnTo>
                    <a:lnTo>
                      <a:pt x="133350" y="200025"/>
                    </a:lnTo>
                    <a:lnTo>
                      <a:pt x="133350" y="266700"/>
                    </a:lnTo>
                    <a:lnTo>
                      <a:pt x="200025" y="266700"/>
                    </a:lnTo>
                    <a:lnTo>
                      <a:pt x="200025" y="0"/>
                    </a:lnTo>
                    <a:close/>
                    <a:moveTo>
                      <a:pt x="50006" y="50006"/>
                    </a:moveTo>
                    <a:lnTo>
                      <a:pt x="83344" y="50006"/>
                    </a:lnTo>
                    <a:lnTo>
                      <a:pt x="83344" y="83344"/>
                    </a:lnTo>
                    <a:lnTo>
                      <a:pt x="50006" y="83344"/>
                    </a:lnTo>
                    <a:lnTo>
                      <a:pt x="50006" y="50006"/>
                    </a:lnTo>
                    <a:close/>
                    <a:moveTo>
                      <a:pt x="83344" y="116681"/>
                    </a:moveTo>
                    <a:lnTo>
                      <a:pt x="50006" y="116681"/>
                    </a:lnTo>
                    <a:lnTo>
                      <a:pt x="50006" y="150019"/>
                    </a:lnTo>
                    <a:lnTo>
                      <a:pt x="83344" y="150019"/>
                    </a:lnTo>
                    <a:lnTo>
                      <a:pt x="83344" y="116681"/>
                    </a:lnTo>
                    <a:close/>
                    <a:moveTo>
                      <a:pt x="116681" y="50006"/>
                    </a:moveTo>
                    <a:lnTo>
                      <a:pt x="150019" y="50006"/>
                    </a:lnTo>
                    <a:lnTo>
                      <a:pt x="150019" y="83344"/>
                    </a:lnTo>
                    <a:lnTo>
                      <a:pt x="116681" y="83344"/>
                    </a:lnTo>
                    <a:lnTo>
                      <a:pt x="116681" y="50006"/>
                    </a:lnTo>
                    <a:close/>
                    <a:moveTo>
                      <a:pt x="150019" y="116681"/>
                    </a:moveTo>
                    <a:lnTo>
                      <a:pt x="116681" y="116681"/>
                    </a:lnTo>
                    <a:lnTo>
                      <a:pt x="116681" y="150019"/>
                    </a:lnTo>
                    <a:lnTo>
                      <a:pt x="150019" y="150019"/>
                    </a:lnTo>
                    <a:lnTo>
                      <a:pt x="150019" y="116681"/>
                    </a:lnTo>
                    <a:close/>
                  </a:path>
                </a:pathLst>
              </a:custGeom>
              <a:solidFill>
                <a:srgbClr val="00897B"/>
              </a:solidFill>
              <a:ln>
                <a:noFill/>
              </a:ln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1243965" y="1772602"/>
                <a:ext cx="1055799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00695C"/>
                    </a:solidFill>
                    <a:latin typeface="Arial"/>
                    <a:ea typeface="Microsoft YaHei"/>
                    <a:cs typeface="Arial"/>
                  </a:rPr>
                  <a:t>公寓与房间管理</a:t>
                </a: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894398" y="2025491"/>
                <a:ext cx="1451134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825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公寓信息维护、房间属性配置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894398" y="2196941"/>
                <a:ext cx="1011079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825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图片上传、标签管理</a:t>
                </a:r>
              </a:p>
            </p:txBody>
          </p:sp>
          <p:sp>
            <p:nvSpPr>
              <p:cNvPr id="14" name="Rectangle 14"/>
              <p:cNvSpPr/>
              <p:nvPr/>
            </p:nvSpPr>
            <p:spPr>
              <a:xfrm>
                <a:off x="762000" y="2524125"/>
                <a:ext cx="2857500" cy="857250"/>
              </a:xfrm>
              <a:prstGeom prst="roundRect">
                <a:avLst>
                  <a:gd name="adj" fmla="val 8889"/>
                </a:avLst>
              </a:prstGeom>
              <a:solidFill>
                <a:srgbClr val="F0F7F4"/>
              </a:solidFill>
              <a:ln>
                <a:noFill/>
              </a:ln>
            </p:spPr>
          </p:sp>
          <p:grpSp>
            <p:nvGrpSpPr>
              <p:cNvPr id="17" name="Group 17"/>
              <p:cNvGrpSpPr/>
              <p:nvPr/>
            </p:nvGrpSpPr>
            <p:grpSpPr>
              <a:xfrm>
                <a:off x="921544" y="2667000"/>
                <a:ext cx="233362" cy="250031"/>
                <a:chOff x="921544" y="2667000"/>
                <a:chExt cx="233362" cy="250031"/>
              </a:xfrm>
            </p:grpSpPr>
            <p:sp>
              <p:nvSpPr>
                <p:cNvPr id="15" name="Freeform 15"/>
                <p:cNvSpPr/>
                <p:nvPr/>
              </p:nvSpPr>
              <p:spPr>
                <a:xfrm>
                  <a:off x="921544" y="2667000"/>
                  <a:ext cx="233362" cy="8334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3362" h="83344">
                      <a:moveTo>
                        <a:pt x="83344" y="0"/>
                      </a:moveTo>
                      <a:lnTo>
                        <a:pt x="33338" y="0"/>
                      </a:lnTo>
                      <a:lnTo>
                        <a:pt x="33338" y="33338"/>
                      </a:lnTo>
                      <a:lnTo>
                        <a:pt x="0" y="33338"/>
                      </a:lnTo>
                      <a:lnTo>
                        <a:pt x="0" y="83344"/>
                      </a:lnTo>
                      <a:lnTo>
                        <a:pt x="233362" y="83344"/>
                      </a:lnTo>
                      <a:lnTo>
                        <a:pt x="233362" y="33338"/>
                      </a:lnTo>
                      <a:lnTo>
                        <a:pt x="200025" y="33338"/>
                      </a:lnTo>
                      <a:lnTo>
                        <a:pt x="200025" y="0"/>
                      </a:lnTo>
                      <a:lnTo>
                        <a:pt x="150019" y="0"/>
                      </a:lnTo>
                      <a:lnTo>
                        <a:pt x="150019" y="33338"/>
                      </a:lnTo>
                      <a:lnTo>
                        <a:pt x="83344" y="33338"/>
                      </a:lnTo>
                      <a:lnTo>
                        <a:pt x="83344" y="0"/>
                      </a:lnTo>
                      <a:close/>
                    </a:path>
                  </a:pathLst>
                </a:custGeom>
                <a:solidFill>
                  <a:srgbClr val="00897B"/>
                </a:solidFill>
                <a:ln>
                  <a:noFill/>
                </a:ln>
              </p:spPr>
            </p:sp>
            <p:sp>
              <p:nvSpPr>
                <p:cNvPr id="16" name="Freeform 16"/>
                <p:cNvSpPr/>
                <p:nvPr/>
              </p:nvSpPr>
              <p:spPr>
                <a:xfrm>
                  <a:off x="921544" y="2783681"/>
                  <a:ext cx="233362" cy="133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3362" h="133350">
                      <a:moveTo>
                        <a:pt x="233362" y="0"/>
                      </a:moveTo>
                      <a:lnTo>
                        <a:pt x="0" y="0"/>
                      </a:lnTo>
                      <a:lnTo>
                        <a:pt x="0" y="133350"/>
                      </a:lnTo>
                      <a:lnTo>
                        <a:pt x="233362" y="133350"/>
                      </a:lnTo>
                      <a:lnTo>
                        <a:pt x="233362" y="0"/>
                      </a:lnTo>
                      <a:close/>
                    </a:path>
                  </a:pathLst>
                </a:custGeom>
                <a:solidFill>
                  <a:srgbClr val="00897B"/>
                </a:solidFill>
                <a:ln>
                  <a:noFill/>
                </a:ln>
              </p:spPr>
            </p:sp>
          </p:grpSp>
          <p:sp>
            <p:nvSpPr>
              <p:cNvPr id="18" name="TextBox 18"/>
              <p:cNvSpPr txBox="1"/>
              <p:nvPr/>
            </p:nvSpPr>
            <p:spPr>
              <a:xfrm>
                <a:off x="1243965" y="2725102"/>
                <a:ext cx="614744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00695C"/>
                    </a:solidFill>
                    <a:latin typeface="Arial"/>
                    <a:ea typeface="Microsoft YaHei"/>
                    <a:cs typeface="Arial"/>
                  </a:rPr>
                  <a:t>预约处理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894398" y="2977991"/>
                <a:ext cx="1231106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825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预约状态变更、运营确认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894398" y="3149441"/>
                <a:ext cx="681038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825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租客沟通跟进</a:t>
                </a:r>
              </a:p>
            </p:txBody>
          </p:sp>
          <p:sp>
            <p:nvSpPr>
              <p:cNvPr id="21" name="Rectangle 21"/>
              <p:cNvSpPr/>
              <p:nvPr/>
            </p:nvSpPr>
            <p:spPr>
              <a:xfrm>
                <a:off x="762000" y="3476625"/>
                <a:ext cx="2857500" cy="857250"/>
              </a:xfrm>
              <a:prstGeom prst="roundRect">
                <a:avLst>
                  <a:gd name="adj" fmla="val 8889"/>
                </a:avLst>
              </a:prstGeom>
              <a:solidFill>
                <a:srgbClr val="F0F7F4"/>
              </a:solidFill>
              <a:ln>
                <a:noFill/>
              </a:ln>
            </p:spPr>
          </p:sp>
          <p:grpSp>
            <p:nvGrpSpPr>
              <p:cNvPr id="26" name="Group 26"/>
              <p:cNvGrpSpPr/>
              <p:nvPr/>
            </p:nvGrpSpPr>
            <p:grpSpPr>
              <a:xfrm>
                <a:off x="904875" y="3636169"/>
                <a:ext cx="266699" cy="233362"/>
                <a:chOff x="904875" y="3636169"/>
                <a:chExt cx="266699" cy="233362"/>
              </a:xfrm>
            </p:grpSpPr>
            <p:sp>
              <p:nvSpPr>
                <p:cNvPr id="22" name="Freeform 22"/>
                <p:cNvSpPr/>
                <p:nvPr/>
              </p:nvSpPr>
              <p:spPr>
                <a:xfrm>
                  <a:off x="954881" y="3636169"/>
                  <a:ext cx="83344" cy="8334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3344" h="83344">
                      <a:moveTo>
                        <a:pt x="83344" y="41672"/>
                      </a:moveTo>
                      <a:cubicBezTo>
                        <a:pt x="83344" y="64687"/>
                        <a:pt x="64687" y="83344"/>
                        <a:pt x="41672" y="83344"/>
                      </a:cubicBezTo>
                      <a:cubicBezTo>
                        <a:pt x="18657" y="83344"/>
                        <a:pt x="0" y="64687"/>
                        <a:pt x="0" y="41672"/>
                      </a:cubicBezTo>
                      <a:cubicBezTo>
                        <a:pt x="0" y="18657"/>
                        <a:pt x="18657" y="0"/>
                        <a:pt x="41672" y="0"/>
                      </a:cubicBezTo>
                      <a:cubicBezTo>
                        <a:pt x="64687" y="0"/>
                        <a:pt x="83344" y="18657"/>
                        <a:pt x="83344" y="41672"/>
                      </a:cubicBezTo>
                      <a:close/>
                    </a:path>
                  </a:pathLst>
                </a:custGeom>
                <a:solidFill>
                  <a:srgbClr val="00897B"/>
                </a:solidFill>
                <a:ln>
                  <a:noFill/>
                </a:ln>
              </p:spPr>
            </p:sp>
            <p:sp>
              <p:nvSpPr>
                <p:cNvPr id="23" name="Freeform 23"/>
                <p:cNvSpPr/>
                <p:nvPr/>
              </p:nvSpPr>
              <p:spPr>
                <a:xfrm>
                  <a:off x="904875" y="3752850"/>
                  <a:ext cx="133350" cy="1166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3350" h="116681">
                      <a:moveTo>
                        <a:pt x="50006" y="0"/>
                      </a:moveTo>
                      <a:cubicBezTo>
                        <a:pt x="22389" y="0"/>
                        <a:pt x="0" y="22389"/>
                        <a:pt x="0" y="50006"/>
                      </a:cubicBezTo>
                      <a:lnTo>
                        <a:pt x="0" y="116681"/>
                      </a:lnTo>
                      <a:lnTo>
                        <a:pt x="133350" y="116681"/>
                      </a:lnTo>
                      <a:lnTo>
                        <a:pt x="133350" y="0"/>
                      </a:lnTo>
                      <a:lnTo>
                        <a:pt x="50006" y="0"/>
                      </a:lnTo>
                      <a:close/>
                    </a:path>
                  </a:pathLst>
                </a:custGeom>
                <a:solidFill>
                  <a:srgbClr val="00897B"/>
                </a:solidFill>
                <a:ln>
                  <a:noFill/>
                </a:ln>
              </p:spPr>
            </p:sp>
            <p:sp>
              <p:nvSpPr>
                <p:cNvPr id="24" name="Freeform 24"/>
                <p:cNvSpPr/>
                <p:nvPr/>
              </p:nvSpPr>
              <p:spPr>
                <a:xfrm>
                  <a:off x="1071562" y="3752850"/>
                  <a:ext cx="100012" cy="1166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0012" h="116681">
                      <a:moveTo>
                        <a:pt x="50006" y="0"/>
                      </a:moveTo>
                      <a:lnTo>
                        <a:pt x="0" y="0"/>
                      </a:lnTo>
                      <a:lnTo>
                        <a:pt x="0" y="116681"/>
                      </a:lnTo>
                      <a:lnTo>
                        <a:pt x="100012" y="116681"/>
                      </a:lnTo>
                      <a:lnTo>
                        <a:pt x="100012" y="50006"/>
                      </a:lnTo>
                      <a:cubicBezTo>
                        <a:pt x="100012" y="22389"/>
                        <a:pt x="77625" y="0"/>
                        <a:pt x="50006" y="0"/>
                      </a:cubicBezTo>
                      <a:close/>
                    </a:path>
                  </a:pathLst>
                </a:custGeom>
                <a:solidFill>
                  <a:srgbClr val="00897B"/>
                </a:solidFill>
                <a:ln>
                  <a:noFill/>
                </a:ln>
              </p:spPr>
            </p:sp>
            <p:sp>
              <p:nvSpPr>
                <p:cNvPr id="25" name="Freeform 25"/>
                <p:cNvSpPr/>
                <p:nvPr/>
              </p:nvSpPr>
              <p:spPr>
                <a:xfrm>
                  <a:off x="1071562" y="3652838"/>
                  <a:ext cx="66675" cy="66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6675" h="66675">
                      <a:moveTo>
                        <a:pt x="33338" y="66675"/>
                      </a:moveTo>
                      <a:cubicBezTo>
                        <a:pt x="51750" y="66675"/>
                        <a:pt x="66675" y="51749"/>
                        <a:pt x="66675" y="33338"/>
                      </a:cubicBezTo>
                      <a:cubicBezTo>
                        <a:pt x="66675" y="14926"/>
                        <a:pt x="51750" y="0"/>
                        <a:pt x="33338" y="0"/>
                      </a:cubicBezTo>
                      <a:cubicBezTo>
                        <a:pt x="14925" y="0"/>
                        <a:pt x="0" y="14926"/>
                        <a:pt x="0" y="33338"/>
                      </a:cubicBezTo>
                      <a:cubicBezTo>
                        <a:pt x="0" y="51749"/>
                        <a:pt x="14925" y="66675"/>
                        <a:pt x="33338" y="66675"/>
                      </a:cubicBezTo>
                      <a:close/>
                    </a:path>
                  </a:pathLst>
                </a:custGeom>
                <a:solidFill>
                  <a:srgbClr val="00897B"/>
                </a:solidFill>
                <a:ln>
                  <a:noFill/>
                </a:ln>
              </p:spPr>
            </p:sp>
          </p:grpSp>
          <p:sp>
            <p:nvSpPr>
              <p:cNvPr id="27" name="TextBox 27"/>
              <p:cNvSpPr txBox="1"/>
              <p:nvPr/>
            </p:nvSpPr>
            <p:spPr>
              <a:xfrm>
                <a:off x="1243965" y="3677602"/>
                <a:ext cx="1055799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00695C"/>
                    </a:solidFill>
                    <a:latin typeface="Arial"/>
                    <a:ea typeface="Microsoft YaHei"/>
                    <a:cs typeface="Arial"/>
                  </a:rPr>
                  <a:t>用户与权限管理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894398" y="3930491"/>
                <a:ext cx="1011079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825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用户管理、岗位配置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894398" y="4101941"/>
                <a:ext cx="681038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825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角色权限分配</a:t>
                </a:r>
              </a:p>
            </p:txBody>
          </p:sp>
        </p:grpSp>
        <p:grpSp>
          <p:nvGrpSpPr>
            <p:cNvPr id="34" name="Group 34"/>
            <p:cNvGrpSpPr/>
            <p:nvPr/>
          </p:nvGrpSpPr>
          <p:grpSpPr>
            <a:xfrm>
              <a:off x="3986212" y="1307306"/>
              <a:ext cx="7443788" cy="5026819"/>
              <a:chOff x="3986212" y="1307306"/>
              <a:chExt cx="7443788" cy="5026819"/>
            </a:xfrm>
          </p:grpSpPr>
          <p:sp>
            <p:nvSpPr>
              <p:cNvPr id="31" name="TextBox 31"/>
              <p:cNvSpPr txBox="1"/>
              <p:nvPr/>
            </p:nvSpPr>
            <p:spPr>
              <a:xfrm>
                <a:off x="3986212" y="1307306"/>
                <a:ext cx="1658904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00897B"/>
                    </a:solidFill>
                    <a:latin typeface="Arial"/>
                    <a:ea typeface="Microsoft YaHei"/>
                    <a:cs typeface="Arial"/>
                  </a:rPr>
                  <a:t>Element Plus 管理界面</a:t>
                </a:r>
              </a:p>
            </p:txBody>
          </p:sp>
          <p:sp>
            <p:nvSpPr>
              <p:cNvPr id="32" name="Rectangle 32"/>
              <p:cNvSpPr/>
              <p:nvPr/>
            </p:nvSpPr>
            <p:spPr>
              <a:xfrm>
                <a:off x="4000500" y="1571625"/>
                <a:ext cx="7429500" cy="4762500"/>
              </a:xfrm>
              <a:prstGeom prst="roundRect">
                <a:avLst>
                  <a:gd name="adj" fmla="val 2000"/>
                </a:avLst>
              </a:prstGeom>
              <a:solidFill>
                <a:srgbClr val="F0F7F4"/>
              </a:solidFill>
              <a:ln>
                <a:noFill/>
              </a:ln>
            </p:spPr>
          </p:sp>
          <p:pic>
            <p:nvPicPr>
              <p:cNvPr id="33" name="Image 33"/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4143375" y="1719750"/>
                <a:ext cx="7143750" cy="4466250"/>
              </a:xfrm>
              <a:prstGeom prst="rect">
                <a:avLst/>
              </a:prstGeom>
            </p:spPr>
          </p:pic>
        </p:grpSp>
      </p:grpSp>
      <p:grpSp>
        <p:nvGrpSpPr>
          <p:cNvPr id="39" name="Group 39"/>
          <p:cNvGrpSpPr/>
          <p:nvPr/>
        </p:nvGrpSpPr>
        <p:grpSpPr>
          <a:xfrm>
            <a:off x="750570" y="6477000"/>
            <a:ext cx="10690860" cy="257175"/>
            <a:chOff x="750570" y="6477000"/>
            <a:chExt cx="10690860" cy="257175"/>
          </a:xfrm>
        </p:grpSpPr>
        <p:sp>
          <p:nvSpPr>
            <p:cNvPr id="36" name="Line 36"/>
            <p:cNvSpPr/>
            <p:nvPr/>
          </p:nvSpPr>
          <p:spPr>
            <a:xfrm>
              <a:off x="762000" y="6477000"/>
              <a:ext cx="10668000" cy="9525"/>
            </a:xfrm>
            <a:custGeom>
              <a:avLst/>
              <a:gdLst/>
              <a:ahLst/>
              <a:cxnLst/>
              <a:rect l="l" t="t" r="r" b="b"/>
              <a:pathLst>
                <a:path w="10668000" h="9525">
                  <a:moveTo>
                    <a:pt x="0" y="0"/>
                  </a:moveTo>
                  <a:lnTo>
                    <a:pt x="10668000" y="0"/>
                  </a:lnTo>
                </a:path>
              </a:pathLst>
            </a:custGeom>
            <a:noFill/>
            <a:ln w="9525">
              <a:solidFill>
                <a:srgbClr val="E5E7EB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750570" y="6551295"/>
              <a:ext cx="74295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CA3AF"/>
                  </a:solidFill>
                  <a:latin typeface="Arial"/>
                  <a:ea typeface="Microsoft YaHei"/>
                  <a:cs typeface="Arial"/>
                </a:rPr>
                <a:t>房屋租赁系统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1016520" y="6551295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9CA3AF"/>
                  </a:solidFill>
                  <a:latin typeface="Arial"/>
                  <a:ea typeface="Microsoft YaHei"/>
                  <a:cs typeface="Arial"/>
                </a:rPr>
                <a:t>13 / 21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7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762000" y="533400"/>
            <a:ext cx="10668000" cy="476250"/>
            <a:chOff x="762000" y="533400"/>
            <a:chExt cx="10668000" cy="476250"/>
          </a:xfrm>
        </p:grpSpPr>
        <p:sp>
          <p:nvSpPr>
            <p:cNvPr id="3" name="Rectangle 3"/>
            <p:cNvSpPr/>
            <p:nvPr/>
          </p:nvSpPr>
          <p:spPr>
            <a:xfrm>
              <a:off x="762000" y="533400"/>
              <a:ext cx="38100" cy="323850"/>
            </a:xfrm>
            <a:prstGeom prst="roundRect">
              <a:avLst>
                <a:gd name="adj" fmla="val 50000"/>
              </a:avLst>
            </a:prstGeom>
            <a:solidFill>
              <a:srgbClr val="00897B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925830" y="554355"/>
              <a:ext cx="2405634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1D1D1F"/>
                  </a:solidFill>
                  <a:latin typeface="Arial"/>
                  <a:ea typeface="Microsoft YaHei"/>
                  <a:cs typeface="Arial"/>
                </a:rPr>
                <a:t>网络设计与数据量</a:t>
              </a:r>
            </a:p>
          </p:txBody>
        </p:sp>
        <p:sp>
          <p:nvSpPr>
            <p:cNvPr id="5" name="Line 5"/>
            <p:cNvSpPr/>
            <p:nvPr/>
          </p:nvSpPr>
          <p:spPr>
            <a:xfrm>
              <a:off x="762000" y="1000125"/>
              <a:ext cx="10668000" cy="9525"/>
            </a:xfrm>
            <a:custGeom>
              <a:avLst/>
              <a:gdLst/>
              <a:ahLst/>
              <a:cxnLst/>
              <a:rect l="l" t="t" r="r" b="b"/>
              <a:pathLst>
                <a:path w="10668000" h="9525">
                  <a:moveTo>
                    <a:pt x="0" y="0"/>
                  </a:moveTo>
                  <a:lnTo>
                    <a:pt x="10668000" y="0"/>
                  </a:lnTo>
                </a:path>
              </a:pathLst>
            </a:custGeom>
            <a:noFill/>
            <a:ln w="14288">
              <a:solidFill>
                <a:srgbClr val="E5E7EB"/>
              </a:solidFill>
            </a:ln>
          </p:spPr>
        </p:sp>
      </p:grpSp>
      <p:grpSp>
        <p:nvGrpSpPr>
          <p:cNvPr id="40" name="Group 40"/>
          <p:cNvGrpSpPr/>
          <p:nvPr/>
        </p:nvGrpSpPr>
        <p:grpSpPr>
          <a:xfrm>
            <a:off x="747712" y="1288256"/>
            <a:ext cx="10682288" cy="4998244"/>
            <a:chOff x="747712" y="1288256"/>
            <a:chExt cx="10682288" cy="4998244"/>
          </a:xfrm>
        </p:grpSpPr>
        <p:grpSp>
          <p:nvGrpSpPr>
            <p:cNvPr id="23" name="Group 23"/>
            <p:cNvGrpSpPr/>
            <p:nvPr/>
          </p:nvGrpSpPr>
          <p:grpSpPr>
            <a:xfrm>
              <a:off x="747712" y="1288256"/>
              <a:ext cx="3824288" cy="2521744"/>
              <a:chOff x="747712" y="1288256"/>
              <a:chExt cx="3824288" cy="2521744"/>
            </a:xfrm>
          </p:grpSpPr>
          <p:sp>
            <p:nvSpPr>
              <p:cNvPr id="7" name="TextBox 7"/>
              <p:cNvSpPr txBox="1"/>
              <p:nvPr/>
            </p:nvSpPr>
            <p:spPr>
              <a:xfrm>
                <a:off x="747712" y="1288256"/>
                <a:ext cx="973693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00897B"/>
                    </a:solidFill>
                    <a:latin typeface="Arial"/>
                    <a:ea typeface="Microsoft YaHei"/>
                    <a:cs typeface="Arial"/>
                  </a:rPr>
                  <a:t>系统网络架构</a:t>
                </a:r>
              </a:p>
            </p:txBody>
          </p:sp>
          <p:sp>
            <p:nvSpPr>
              <p:cNvPr id="8" name="Rectangle 8"/>
              <p:cNvSpPr/>
              <p:nvPr/>
            </p:nvSpPr>
            <p:spPr>
              <a:xfrm>
                <a:off x="762000" y="1524000"/>
                <a:ext cx="3810000" cy="2286000"/>
              </a:xfrm>
              <a:prstGeom prst="roundRect">
                <a:avLst>
                  <a:gd name="adj" fmla="val 4167"/>
                </a:avLst>
              </a:prstGeom>
              <a:solidFill>
                <a:srgbClr val="F0F7F4"/>
              </a:solidFill>
              <a:ln>
                <a:noFill/>
              </a:ln>
            </p:spPr>
          </p:sp>
          <p:sp>
            <p:nvSpPr>
              <p:cNvPr id="9" name="Rectangle 9"/>
              <p:cNvSpPr/>
              <p:nvPr/>
            </p:nvSpPr>
            <p:spPr>
              <a:xfrm>
                <a:off x="1238250" y="1714500"/>
                <a:ext cx="2857500" cy="381000"/>
              </a:xfrm>
              <a:prstGeom prst="roundRect">
                <a:avLst>
                  <a:gd name="adj" fmla="val 20000"/>
                </a:avLst>
              </a:prstGeom>
              <a:solidFill>
                <a:srgbClr val="00897B"/>
              </a:solidFill>
              <a:ln>
                <a:noFill/>
              </a:ln>
            </p:spPr>
          </p:sp>
          <p:sp>
            <p:nvSpPr>
              <p:cNvPr id="10" name="TextBox 10"/>
              <p:cNvSpPr txBox="1"/>
              <p:nvPr/>
            </p:nvSpPr>
            <p:spPr>
              <a:xfrm>
                <a:off x="2023226" y="1847374"/>
                <a:ext cx="1287548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前端 (Vue3 + Nginx)</a:t>
                </a:r>
              </a:p>
            </p:txBody>
          </p:sp>
          <p:sp>
            <p:nvSpPr>
              <p:cNvPr id="11" name="Line 11"/>
              <p:cNvSpPr/>
              <p:nvPr/>
            </p:nvSpPr>
            <p:spPr>
              <a:xfrm>
                <a:off x="2667000" y="2095500"/>
                <a:ext cx="9525" cy="2381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38125">
                    <a:moveTo>
                      <a:pt x="0" y="0"/>
                    </a:moveTo>
                    <a:lnTo>
                      <a:pt x="0" y="238125"/>
                    </a:lnTo>
                  </a:path>
                </a:pathLst>
              </a:custGeom>
              <a:noFill/>
              <a:ln w="19050">
                <a:solidFill>
                  <a:srgbClr val="4DB6AC"/>
                </a:solidFill>
              </a:ln>
            </p:spPr>
          </p:sp>
          <p:sp>
            <p:nvSpPr>
              <p:cNvPr id="12" name="Rectangle 12"/>
              <p:cNvSpPr/>
              <p:nvPr/>
            </p:nvSpPr>
            <p:spPr>
              <a:xfrm>
                <a:off x="1238250" y="2333625"/>
                <a:ext cx="2857500" cy="381000"/>
              </a:xfrm>
              <a:prstGeom prst="roundRect">
                <a:avLst>
                  <a:gd name="adj" fmla="val 20000"/>
                </a:avLst>
              </a:prstGeom>
              <a:solidFill>
                <a:srgbClr val="00695C"/>
              </a:solidFill>
              <a:ln>
                <a:noFill/>
              </a:ln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2043704" y="2466499"/>
                <a:ext cx="1246593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后端 (Spring Boot)</a:t>
                </a:r>
              </a:p>
            </p:txBody>
          </p:sp>
          <p:sp>
            <p:nvSpPr>
              <p:cNvPr id="14" name="Line 14"/>
              <p:cNvSpPr/>
              <p:nvPr/>
            </p:nvSpPr>
            <p:spPr>
              <a:xfrm>
                <a:off x="1905000" y="2714625"/>
                <a:ext cx="9525" cy="2381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38125">
                    <a:moveTo>
                      <a:pt x="0" y="0"/>
                    </a:moveTo>
                    <a:lnTo>
                      <a:pt x="0" y="238125"/>
                    </a:lnTo>
                  </a:path>
                </a:pathLst>
              </a:custGeom>
              <a:noFill/>
              <a:ln w="19050">
                <a:solidFill>
                  <a:srgbClr val="4DB6AC"/>
                </a:solidFill>
              </a:ln>
            </p:spPr>
          </p:sp>
          <p:sp>
            <p:nvSpPr>
              <p:cNvPr id="15" name="Line 15"/>
              <p:cNvSpPr/>
              <p:nvPr/>
            </p:nvSpPr>
            <p:spPr>
              <a:xfrm>
                <a:off x="2667000" y="2714625"/>
                <a:ext cx="9525" cy="2381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38125">
                    <a:moveTo>
                      <a:pt x="0" y="0"/>
                    </a:moveTo>
                    <a:lnTo>
                      <a:pt x="0" y="238125"/>
                    </a:lnTo>
                  </a:path>
                </a:pathLst>
              </a:custGeom>
              <a:noFill/>
              <a:ln w="19050">
                <a:solidFill>
                  <a:srgbClr val="4DB6AC"/>
                </a:solidFill>
              </a:ln>
            </p:spPr>
          </p:sp>
          <p:sp>
            <p:nvSpPr>
              <p:cNvPr id="16" name="Line 16"/>
              <p:cNvSpPr/>
              <p:nvPr/>
            </p:nvSpPr>
            <p:spPr>
              <a:xfrm>
                <a:off x="3429000" y="2714625"/>
                <a:ext cx="9525" cy="2381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38125">
                    <a:moveTo>
                      <a:pt x="0" y="0"/>
                    </a:moveTo>
                    <a:lnTo>
                      <a:pt x="0" y="238125"/>
                    </a:lnTo>
                  </a:path>
                </a:pathLst>
              </a:custGeom>
              <a:noFill/>
              <a:ln w="19050">
                <a:solidFill>
                  <a:srgbClr val="4DB6AC"/>
                </a:solidFill>
              </a:ln>
            </p:spPr>
          </p:sp>
          <p:sp>
            <p:nvSpPr>
              <p:cNvPr id="17" name="Rectangle 17"/>
              <p:cNvSpPr/>
              <p:nvPr/>
            </p:nvSpPr>
            <p:spPr>
              <a:xfrm>
                <a:off x="1238250" y="2952750"/>
                <a:ext cx="857250" cy="333375"/>
              </a:xfrm>
              <a:prstGeom prst="roundRect">
                <a:avLst>
                  <a:gd name="adj" fmla="val 17143"/>
                </a:avLst>
              </a:prstGeom>
              <a:solidFill>
                <a:srgbClr val="4DB6AC"/>
              </a:solidFill>
              <a:ln>
                <a:noFill/>
              </a:ln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1474462" y="3073241"/>
                <a:ext cx="384825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MySQL</a:t>
                </a:r>
              </a:p>
            </p:txBody>
          </p:sp>
          <p:sp>
            <p:nvSpPr>
              <p:cNvPr id="19" name="Rectangle 19"/>
              <p:cNvSpPr/>
              <p:nvPr/>
            </p:nvSpPr>
            <p:spPr>
              <a:xfrm>
                <a:off x="2238375" y="2952750"/>
                <a:ext cx="857250" cy="333375"/>
              </a:xfrm>
              <a:prstGeom prst="roundRect">
                <a:avLst>
                  <a:gd name="adj" fmla="val 17143"/>
                </a:avLst>
              </a:prstGeom>
              <a:solidFill>
                <a:srgbClr val="4DB6AC"/>
              </a:solidFill>
              <a:ln>
                <a:noFill/>
              </a:ln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2512129" y="3073241"/>
                <a:ext cx="309741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Redis</a:t>
                </a:r>
              </a:p>
            </p:txBody>
          </p:sp>
          <p:sp>
            <p:nvSpPr>
              <p:cNvPr id="21" name="Rectangle 21"/>
              <p:cNvSpPr/>
              <p:nvPr/>
            </p:nvSpPr>
            <p:spPr>
              <a:xfrm>
                <a:off x="3238500" y="2952750"/>
                <a:ext cx="857250" cy="333375"/>
              </a:xfrm>
              <a:prstGeom prst="roundRect">
                <a:avLst>
                  <a:gd name="adj" fmla="val 17143"/>
                </a:avLst>
              </a:prstGeom>
              <a:solidFill>
                <a:srgbClr val="4DB6AC"/>
              </a:solidFill>
              <a:ln>
                <a:noFill/>
              </a:ln>
            </p:spPr>
          </p:sp>
          <p:sp>
            <p:nvSpPr>
              <p:cNvPr id="22" name="TextBox 22"/>
              <p:cNvSpPr txBox="1"/>
              <p:nvPr/>
            </p:nvSpPr>
            <p:spPr>
              <a:xfrm>
                <a:off x="3503591" y="3073241"/>
                <a:ext cx="327068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MinIO</a:t>
                </a:r>
              </a:p>
            </p:txBody>
          </p:sp>
        </p:grpSp>
        <p:grpSp>
          <p:nvGrpSpPr>
            <p:cNvPr id="35" name="Group 35"/>
            <p:cNvGrpSpPr/>
            <p:nvPr/>
          </p:nvGrpSpPr>
          <p:grpSpPr>
            <a:xfrm>
              <a:off x="4938712" y="1288256"/>
              <a:ext cx="6491288" cy="2521744"/>
              <a:chOff x="4938712" y="1288256"/>
              <a:chExt cx="6491288" cy="2521744"/>
            </a:xfrm>
          </p:grpSpPr>
          <p:sp>
            <p:nvSpPr>
              <p:cNvPr id="24" name="TextBox 24"/>
              <p:cNvSpPr txBox="1"/>
              <p:nvPr/>
            </p:nvSpPr>
            <p:spPr>
              <a:xfrm>
                <a:off x="4938712" y="1288256"/>
                <a:ext cx="816173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00897B"/>
                    </a:solidFill>
                    <a:latin typeface="Arial"/>
                    <a:ea typeface="Microsoft YaHei"/>
                    <a:cs typeface="Arial"/>
                  </a:rPr>
                  <a:t>数据量预估</a:t>
                </a:r>
              </a:p>
            </p:txBody>
          </p:sp>
          <p:sp>
            <p:nvSpPr>
              <p:cNvPr id="25" name="Rectangle 25"/>
              <p:cNvSpPr/>
              <p:nvPr/>
            </p:nvSpPr>
            <p:spPr>
              <a:xfrm>
                <a:off x="4953000" y="1524000"/>
                <a:ext cx="6477000" cy="2286000"/>
              </a:xfrm>
              <a:prstGeom prst="roundRect">
                <a:avLst>
                  <a:gd name="adj" fmla="val 4167"/>
                </a:avLst>
              </a:prstGeom>
              <a:solidFill>
                <a:srgbClr val="FFFFFF"/>
              </a:solidFill>
              <a:ln w="9525">
                <a:solidFill>
                  <a:srgbClr val="E5E7EB"/>
                </a:solidFill>
              </a:ln>
            </p:spPr>
          </p:sp>
          <p:sp>
            <p:nvSpPr>
              <p:cNvPr id="26" name="Rectangle 26"/>
              <p:cNvSpPr/>
              <p:nvPr/>
            </p:nvSpPr>
            <p:spPr>
              <a:xfrm>
                <a:off x="5143500" y="1714500"/>
                <a:ext cx="1905000" cy="762000"/>
              </a:xfrm>
              <a:prstGeom prst="roundRect">
                <a:avLst>
                  <a:gd name="adj" fmla="val 10000"/>
                </a:avLst>
              </a:prstGeom>
              <a:solidFill>
                <a:srgbClr val="E8F5E9"/>
              </a:solidFill>
              <a:ln>
                <a:noFill/>
              </a:ln>
            </p:spPr>
          </p:sp>
          <p:sp>
            <p:nvSpPr>
              <p:cNvPr id="27" name="TextBox 27"/>
              <p:cNvSpPr txBox="1"/>
              <p:nvPr/>
            </p:nvSpPr>
            <p:spPr>
              <a:xfrm>
                <a:off x="5767161" y="1819275"/>
                <a:ext cx="657677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b="1" dirty="0">
                    <a:solidFill>
                      <a:srgbClr val="2E7D32"/>
                    </a:solidFill>
                    <a:latin typeface="Arial"/>
                    <a:ea typeface="Microsoft YaHei"/>
                    <a:cs typeface="Arial"/>
                  </a:rPr>
                  <a:t>1.5MB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5700474" y="2196941"/>
                <a:ext cx="791051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5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每公寓图片存储</a:t>
                </a:r>
              </a:p>
            </p:txBody>
          </p:sp>
          <p:sp>
            <p:nvSpPr>
              <p:cNvPr id="29" name="Rectangle 29"/>
              <p:cNvSpPr/>
              <p:nvPr/>
            </p:nvSpPr>
            <p:spPr>
              <a:xfrm>
                <a:off x="7239000" y="1714500"/>
                <a:ext cx="1905000" cy="762000"/>
              </a:xfrm>
              <a:prstGeom prst="roundRect">
                <a:avLst>
                  <a:gd name="adj" fmla="val 10000"/>
                </a:avLst>
              </a:prstGeom>
              <a:solidFill>
                <a:srgbClr val="E3F2FD"/>
              </a:solidFill>
              <a:ln>
                <a:noFill/>
              </a:ln>
            </p:spPr>
          </p:sp>
          <p:sp>
            <p:nvSpPr>
              <p:cNvPr id="30" name="TextBox 30"/>
              <p:cNvSpPr txBox="1"/>
              <p:nvPr/>
            </p:nvSpPr>
            <p:spPr>
              <a:xfrm>
                <a:off x="7941421" y="1819275"/>
                <a:ext cx="500158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b="1" dirty="0">
                    <a:solidFill>
                      <a:srgbClr val="00897B"/>
                    </a:solidFill>
                    <a:latin typeface="Arial"/>
                    <a:ea typeface="Microsoft YaHei"/>
                    <a:cs typeface="Arial"/>
                  </a:rPr>
                  <a:t>200+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7850981" y="2196941"/>
                <a:ext cx="681038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5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日均预约操作</a:t>
                </a:r>
              </a:p>
            </p:txBody>
          </p:sp>
          <p:sp>
            <p:nvSpPr>
              <p:cNvPr id="32" name="Rectangle 32"/>
              <p:cNvSpPr/>
              <p:nvPr/>
            </p:nvSpPr>
            <p:spPr>
              <a:xfrm>
                <a:off x="9334500" y="1714500"/>
                <a:ext cx="1905000" cy="762000"/>
              </a:xfrm>
              <a:prstGeom prst="roundRect">
                <a:avLst>
                  <a:gd name="adj" fmla="val 10000"/>
                </a:avLst>
              </a:prstGeom>
              <a:solidFill>
                <a:srgbClr val="FFF3E0"/>
              </a:solidFill>
              <a:ln>
                <a:noFill/>
              </a:ln>
            </p:spPr>
          </p:sp>
          <p:sp>
            <p:nvSpPr>
              <p:cNvPr id="33" name="TextBox 33"/>
              <p:cNvSpPr txBox="1"/>
              <p:nvPr/>
            </p:nvSpPr>
            <p:spPr>
              <a:xfrm>
                <a:off x="10063174" y="1819275"/>
                <a:ext cx="447651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b="1" dirty="0">
                    <a:solidFill>
                      <a:srgbClr val="E65100"/>
                    </a:solidFill>
                    <a:latin typeface="Arial"/>
                    <a:ea typeface="Microsoft YaHei"/>
                    <a:cs typeface="Arial"/>
                  </a:rPr>
                  <a:t>&lt; 2s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9946481" y="2196941"/>
                <a:ext cx="681038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5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接口响应时间</a:t>
                </a:r>
              </a:p>
            </p:txBody>
          </p:sp>
        </p:grpSp>
        <p:grpSp>
          <p:nvGrpSpPr>
            <p:cNvPr id="39" name="Group 39"/>
            <p:cNvGrpSpPr/>
            <p:nvPr/>
          </p:nvGrpSpPr>
          <p:grpSpPr>
            <a:xfrm>
              <a:off x="747712" y="3860006"/>
              <a:ext cx="10682288" cy="2426494"/>
              <a:chOff x="747712" y="3860006"/>
              <a:chExt cx="10682288" cy="2426494"/>
            </a:xfrm>
          </p:grpSpPr>
          <p:sp>
            <p:nvSpPr>
              <p:cNvPr id="36" name="TextBox 36"/>
              <p:cNvSpPr txBox="1"/>
              <p:nvPr/>
            </p:nvSpPr>
            <p:spPr>
              <a:xfrm>
                <a:off x="747712" y="3860006"/>
                <a:ext cx="1131213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00897B"/>
                    </a:solidFill>
                    <a:latin typeface="Arial"/>
                    <a:ea typeface="Microsoft YaHei"/>
                    <a:cs typeface="Arial"/>
                  </a:rPr>
                  <a:t>预约模块活动图</a:t>
                </a:r>
              </a:p>
            </p:txBody>
          </p:sp>
          <p:sp>
            <p:nvSpPr>
              <p:cNvPr id="37" name="Rectangle 37"/>
              <p:cNvSpPr/>
              <p:nvPr/>
            </p:nvSpPr>
            <p:spPr>
              <a:xfrm>
                <a:off x="762000" y="4095750"/>
                <a:ext cx="10668000" cy="2190750"/>
              </a:xfrm>
              <a:prstGeom prst="roundRect">
                <a:avLst>
                  <a:gd name="adj" fmla="val 4348"/>
                </a:avLst>
              </a:prstGeom>
              <a:solidFill>
                <a:srgbClr val="F0F7F4"/>
              </a:solidFill>
              <a:ln>
                <a:noFill/>
              </a:ln>
            </p:spPr>
          </p:sp>
          <p:pic>
            <p:nvPicPr>
              <p:cNvPr id="38" name="Image 38"/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4572480" y="4238625"/>
                <a:ext cx="3047040" cy="1905000"/>
              </a:xfrm>
              <a:prstGeom prst="rect">
                <a:avLst/>
              </a:prstGeom>
            </p:spPr>
          </p:pic>
        </p:grpSp>
      </p:grpSp>
      <p:grpSp>
        <p:nvGrpSpPr>
          <p:cNvPr id="44" name="Group 44"/>
          <p:cNvGrpSpPr/>
          <p:nvPr/>
        </p:nvGrpSpPr>
        <p:grpSpPr>
          <a:xfrm>
            <a:off x="750570" y="6477000"/>
            <a:ext cx="10690860" cy="257175"/>
            <a:chOff x="750570" y="6477000"/>
            <a:chExt cx="10690860" cy="257175"/>
          </a:xfrm>
        </p:grpSpPr>
        <p:sp>
          <p:nvSpPr>
            <p:cNvPr id="41" name="Line 41"/>
            <p:cNvSpPr/>
            <p:nvPr/>
          </p:nvSpPr>
          <p:spPr>
            <a:xfrm>
              <a:off x="762000" y="6477000"/>
              <a:ext cx="10668000" cy="9525"/>
            </a:xfrm>
            <a:custGeom>
              <a:avLst/>
              <a:gdLst/>
              <a:ahLst/>
              <a:cxnLst/>
              <a:rect l="l" t="t" r="r" b="b"/>
              <a:pathLst>
                <a:path w="10668000" h="9525">
                  <a:moveTo>
                    <a:pt x="0" y="0"/>
                  </a:moveTo>
                  <a:lnTo>
                    <a:pt x="10668000" y="0"/>
                  </a:lnTo>
                </a:path>
              </a:pathLst>
            </a:custGeom>
            <a:noFill/>
            <a:ln w="9525">
              <a:solidFill>
                <a:srgbClr val="E5E7EB"/>
              </a:solidFill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50570" y="6551295"/>
              <a:ext cx="74295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CA3AF"/>
                  </a:solidFill>
                  <a:latin typeface="Arial"/>
                  <a:ea typeface="Microsoft YaHei"/>
                  <a:cs typeface="Arial"/>
                </a:rPr>
                <a:t>房屋租赁系统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1016520" y="6551295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9CA3AF"/>
                  </a:solidFill>
                  <a:latin typeface="Arial"/>
                  <a:ea typeface="Microsoft YaHei"/>
                  <a:cs typeface="Arial"/>
                </a:rPr>
                <a:t>14 / 21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762000" y="533400"/>
            <a:ext cx="10668000" cy="476250"/>
            <a:chOff x="762000" y="533400"/>
            <a:chExt cx="10668000" cy="476250"/>
          </a:xfrm>
        </p:grpSpPr>
        <p:sp>
          <p:nvSpPr>
            <p:cNvPr id="3" name="Rectangle 3"/>
            <p:cNvSpPr/>
            <p:nvPr/>
          </p:nvSpPr>
          <p:spPr>
            <a:xfrm>
              <a:off x="762000" y="533400"/>
              <a:ext cx="38100" cy="323850"/>
            </a:xfrm>
            <a:prstGeom prst="roundRect">
              <a:avLst>
                <a:gd name="adj" fmla="val 50000"/>
              </a:avLst>
            </a:prstGeom>
            <a:solidFill>
              <a:srgbClr val="00897B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925830" y="554355"/>
              <a:ext cx="1229487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1D1D1F"/>
                  </a:solidFill>
                  <a:latin typeface="Arial"/>
                  <a:ea typeface="Microsoft YaHei"/>
                  <a:cs typeface="Arial"/>
                </a:rPr>
                <a:t>后端实现</a:t>
              </a:r>
            </a:p>
          </p:txBody>
        </p:sp>
        <p:sp>
          <p:nvSpPr>
            <p:cNvPr id="5" name="Line 5"/>
            <p:cNvSpPr/>
            <p:nvPr/>
          </p:nvSpPr>
          <p:spPr>
            <a:xfrm>
              <a:off x="762000" y="1000125"/>
              <a:ext cx="10668000" cy="9525"/>
            </a:xfrm>
            <a:custGeom>
              <a:avLst/>
              <a:gdLst/>
              <a:ahLst/>
              <a:cxnLst/>
              <a:rect l="l" t="t" r="r" b="b"/>
              <a:pathLst>
                <a:path w="10668000" h="9525">
                  <a:moveTo>
                    <a:pt x="0" y="0"/>
                  </a:moveTo>
                  <a:lnTo>
                    <a:pt x="10668000" y="0"/>
                  </a:lnTo>
                </a:path>
              </a:pathLst>
            </a:custGeom>
            <a:noFill/>
            <a:ln w="14288">
              <a:solidFill>
                <a:srgbClr val="E5E7EB"/>
              </a:solidFill>
            </a:ln>
          </p:spPr>
        </p:sp>
      </p:grpSp>
      <p:grpSp>
        <p:nvGrpSpPr>
          <p:cNvPr id="38" name="Group 38"/>
          <p:cNvGrpSpPr/>
          <p:nvPr/>
        </p:nvGrpSpPr>
        <p:grpSpPr>
          <a:xfrm>
            <a:off x="762000" y="1238250"/>
            <a:ext cx="10668000" cy="4857750"/>
            <a:chOff x="762000" y="1238250"/>
            <a:chExt cx="10668000" cy="4857750"/>
          </a:xfrm>
        </p:grpSpPr>
        <p:grpSp>
          <p:nvGrpSpPr>
            <p:cNvPr id="9" name="Group 9"/>
            <p:cNvGrpSpPr/>
            <p:nvPr/>
          </p:nvGrpSpPr>
          <p:grpSpPr>
            <a:xfrm>
              <a:off x="762000" y="1238250"/>
              <a:ext cx="4762500" cy="4857750"/>
              <a:chOff x="762000" y="1238250"/>
              <a:chExt cx="4762500" cy="4857750"/>
            </a:xfrm>
          </p:grpSpPr>
          <p:sp>
            <p:nvSpPr>
              <p:cNvPr id="7" name="Rectangle 7"/>
              <p:cNvSpPr/>
              <p:nvPr/>
            </p:nvSpPr>
            <p:spPr>
              <a:xfrm>
                <a:off x="762000" y="1238250"/>
                <a:ext cx="4762500" cy="4857750"/>
              </a:xfrm>
              <a:prstGeom prst="roundRect">
                <a:avLst>
                  <a:gd name="adj" fmla="val 2000"/>
                </a:avLst>
              </a:prstGeom>
              <a:solidFill>
                <a:srgbClr val="F0F7F4"/>
              </a:solidFill>
              <a:ln>
                <a:noFill/>
              </a:ln>
            </p:spPr>
          </p:sp>
          <p:pic>
            <p:nvPicPr>
              <p:cNvPr id="8" name="Image 8"/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904875" y="2267700"/>
                <a:ext cx="4476750" cy="2798850"/>
              </a:xfrm>
              <a:prstGeom prst="rect">
                <a:avLst/>
              </a:prstGeom>
            </p:spPr>
          </p:pic>
        </p:grpSp>
        <p:grpSp>
          <p:nvGrpSpPr>
            <p:cNvPr id="37" name="Group 37"/>
            <p:cNvGrpSpPr/>
            <p:nvPr/>
          </p:nvGrpSpPr>
          <p:grpSpPr>
            <a:xfrm>
              <a:off x="5890260" y="1280160"/>
              <a:ext cx="5539740" cy="4530090"/>
              <a:chOff x="5890260" y="1280160"/>
              <a:chExt cx="5539740" cy="4530090"/>
            </a:xfrm>
          </p:grpSpPr>
          <p:sp>
            <p:nvSpPr>
              <p:cNvPr id="10" name="TextBox 10"/>
              <p:cNvSpPr txBox="1"/>
              <p:nvPr/>
            </p:nvSpPr>
            <p:spPr>
              <a:xfrm>
                <a:off x="5890260" y="1280160"/>
                <a:ext cx="702564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00897B"/>
                    </a:solidFill>
                    <a:latin typeface="Arial"/>
                    <a:ea typeface="Microsoft YaHei"/>
                    <a:cs typeface="Arial"/>
                  </a:rPr>
                  <a:t>后端要点</a:t>
                </a:r>
              </a:p>
            </p:txBody>
          </p:sp>
          <p:sp>
            <p:nvSpPr>
              <p:cNvPr id="11" name="Rectangle 11"/>
              <p:cNvSpPr/>
              <p:nvPr/>
            </p:nvSpPr>
            <p:spPr>
              <a:xfrm>
                <a:off x="5905500" y="1571625"/>
                <a:ext cx="5524500" cy="952500"/>
              </a:xfrm>
              <a:prstGeom prst="roundRect">
                <a:avLst>
                  <a:gd name="adj" fmla="val 10000"/>
                </a:avLst>
              </a:prstGeom>
              <a:solidFill>
                <a:srgbClr val="FFFFFF"/>
              </a:solidFill>
              <a:ln w="9525">
                <a:solidFill>
                  <a:srgbClr val="E5E7EB"/>
                </a:solidFill>
              </a:ln>
            </p:spPr>
          </p:sp>
          <p:grpSp>
            <p:nvGrpSpPr>
              <p:cNvPr id="15" name="Group 15"/>
              <p:cNvGrpSpPr/>
              <p:nvPr/>
            </p:nvGrpSpPr>
            <p:grpSpPr>
              <a:xfrm>
                <a:off x="6065044" y="1714500"/>
                <a:ext cx="233362" cy="266700"/>
                <a:chOff x="6065044" y="1714500"/>
                <a:chExt cx="233362" cy="266700"/>
              </a:xfrm>
            </p:grpSpPr>
            <p:sp>
              <p:nvSpPr>
                <p:cNvPr id="12" name="Freeform 12"/>
                <p:cNvSpPr/>
                <p:nvPr/>
              </p:nvSpPr>
              <p:spPr>
                <a:xfrm>
                  <a:off x="6065044" y="1714500"/>
                  <a:ext cx="233362" cy="133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3362" h="133350">
                      <a:moveTo>
                        <a:pt x="0" y="83344"/>
                      </a:moveTo>
                      <a:lnTo>
                        <a:pt x="0" y="50006"/>
                      </a:lnTo>
                      <a:lnTo>
                        <a:pt x="116681" y="0"/>
                      </a:lnTo>
                      <a:lnTo>
                        <a:pt x="233362" y="50006"/>
                      </a:lnTo>
                      <a:lnTo>
                        <a:pt x="233362" y="83344"/>
                      </a:lnTo>
                      <a:lnTo>
                        <a:pt x="116681" y="133350"/>
                      </a:lnTo>
                      <a:lnTo>
                        <a:pt x="0" y="83344"/>
                      </a:lnTo>
                      <a:close/>
                    </a:path>
                  </a:pathLst>
                </a:custGeom>
                <a:solidFill>
                  <a:srgbClr val="00897B"/>
                </a:solidFill>
                <a:ln>
                  <a:noFill/>
                </a:ln>
              </p:spPr>
            </p:sp>
            <p:sp>
              <p:nvSpPr>
                <p:cNvPr id="13" name="Freeform 13"/>
                <p:cNvSpPr/>
                <p:nvPr/>
              </p:nvSpPr>
              <p:spPr>
                <a:xfrm>
                  <a:off x="6065044" y="1897856"/>
                  <a:ext cx="233362" cy="8334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3362" h="83344">
                      <a:moveTo>
                        <a:pt x="116681" y="83344"/>
                      </a:moveTo>
                      <a:lnTo>
                        <a:pt x="0" y="33338"/>
                      </a:lnTo>
                      <a:lnTo>
                        <a:pt x="0" y="0"/>
                      </a:lnTo>
                      <a:lnTo>
                        <a:pt x="116681" y="50006"/>
                      </a:lnTo>
                      <a:lnTo>
                        <a:pt x="233362" y="0"/>
                      </a:lnTo>
                      <a:lnTo>
                        <a:pt x="233362" y="33338"/>
                      </a:lnTo>
                      <a:lnTo>
                        <a:pt x="116681" y="83344"/>
                      </a:lnTo>
                      <a:close/>
                    </a:path>
                  </a:pathLst>
                </a:custGeom>
                <a:solidFill>
                  <a:srgbClr val="00897B"/>
                </a:solidFill>
                <a:ln>
                  <a:noFill/>
                </a:ln>
              </p:spPr>
            </p:sp>
            <p:sp>
              <p:nvSpPr>
                <p:cNvPr id="14" name="Freeform 14"/>
                <p:cNvSpPr/>
                <p:nvPr/>
              </p:nvSpPr>
              <p:spPr>
                <a:xfrm>
                  <a:off x="6065044" y="1831181"/>
                  <a:ext cx="233362" cy="8334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3362" h="83344">
                      <a:moveTo>
                        <a:pt x="0" y="33338"/>
                      </a:moveTo>
                      <a:lnTo>
                        <a:pt x="116681" y="83344"/>
                      </a:lnTo>
                      <a:lnTo>
                        <a:pt x="233362" y="33338"/>
                      </a:lnTo>
                      <a:lnTo>
                        <a:pt x="233362" y="0"/>
                      </a:lnTo>
                      <a:lnTo>
                        <a:pt x="116681" y="50006"/>
                      </a:lnTo>
                      <a:lnTo>
                        <a:pt x="0" y="0"/>
                      </a:lnTo>
                      <a:lnTo>
                        <a:pt x="0" y="33338"/>
                      </a:lnTo>
                      <a:close/>
                    </a:path>
                  </a:pathLst>
                </a:custGeom>
                <a:solidFill>
                  <a:srgbClr val="00897B"/>
                </a:solidFill>
                <a:ln>
                  <a:noFill/>
                </a:ln>
              </p:spPr>
            </p:sp>
          </p:grpSp>
          <p:sp>
            <p:nvSpPr>
              <p:cNvPr id="16" name="TextBox 16"/>
              <p:cNvSpPr txBox="1"/>
              <p:nvPr/>
            </p:nvSpPr>
            <p:spPr>
              <a:xfrm>
                <a:off x="6415088" y="1764506"/>
                <a:ext cx="816173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00695C"/>
                    </a:solidFill>
                    <a:latin typeface="Arial"/>
                    <a:ea typeface="Microsoft YaHei"/>
                    <a:cs typeface="Arial"/>
                  </a:rPr>
                  <a:t>多模块工程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6036945" y="2017395"/>
                <a:ext cx="3965353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model（实体/枚举） + common（工具/异常） + web（admin/app 接口）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6036945" y="2236470"/>
                <a:ext cx="2195132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MyBatis-Plus 自动 CRUD，降低重复编码</a:t>
                </a:r>
              </a:p>
            </p:txBody>
          </p:sp>
          <p:sp>
            <p:nvSpPr>
              <p:cNvPr id="19" name="Rectangle 19"/>
              <p:cNvSpPr/>
              <p:nvPr/>
            </p:nvSpPr>
            <p:spPr>
              <a:xfrm>
                <a:off x="5905500" y="2667000"/>
                <a:ext cx="5524500" cy="952500"/>
              </a:xfrm>
              <a:prstGeom prst="roundRect">
                <a:avLst>
                  <a:gd name="adj" fmla="val 10000"/>
                </a:avLst>
              </a:prstGeom>
              <a:solidFill>
                <a:srgbClr val="FFFFFF"/>
              </a:solidFill>
              <a:ln w="9525">
                <a:solidFill>
                  <a:srgbClr val="E5E7EB"/>
                </a:solidFill>
              </a:ln>
            </p:spPr>
          </p:sp>
          <p:sp>
            <p:nvSpPr>
              <p:cNvPr id="20" name="Freeform 20"/>
              <p:cNvSpPr/>
              <p:nvPr/>
            </p:nvSpPr>
            <p:spPr>
              <a:xfrm>
                <a:off x="6065044" y="2809875"/>
                <a:ext cx="233362" cy="266700"/>
              </a:xfrm>
              <a:custGeom>
                <a:avLst/>
                <a:gdLst/>
                <a:ahLst/>
                <a:cxnLst/>
                <a:rect l="l" t="t" r="r" b="b"/>
                <a:pathLst>
                  <a:path w="233362" h="266700">
                    <a:moveTo>
                      <a:pt x="116681" y="266700"/>
                    </a:moveTo>
                    <a:lnTo>
                      <a:pt x="55842" y="223243"/>
                    </a:lnTo>
                    <a:cubicBezTo>
                      <a:pt x="20798" y="198211"/>
                      <a:pt x="0" y="157798"/>
                      <a:pt x="0" y="114732"/>
                    </a:cubicBezTo>
                    <a:lnTo>
                      <a:pt x="0" y="50006"/>
                    </a:lnTo>
                    <a:lnTo>
                      <a:pt x="116681" y="0"/>
                    </a:lnTo>
                    <a:lnTo>
                      <a:pt x="233362" y="50006"/>
                    </a:lnTo>
                    <a:lnTo>
                      <a:pt x="233362" y="114732"/>
                    </a:lnTo>
                    <a:cubicBezTo>
                      <a:pt x="233362" y="157798"/>
                      <a:pt x="212565" y="198211"/>
                      <a:pt x="177521" y="223243"/>
                    </a:cubicBezTo>
                    <a:lnTo>
                      <a:pt x="116681" y="266700"/>
                    </a:lnTo>
                    <a:close/>
                    <a:moveTo>
                      <a:pt x="186808" y="95130"/>
                    </a:moveTo>
                    <a:lnTo>
                      <a:pt x="163235" y="71557"/>
                    </a:lnTo>
                    <a:lnTo>
                      <a:pt x="100012" y="134780"/>
                    </a:lnTo>
                    <a:lnTo>
                      <a:pt x="70127" y="104895"/>
                    </a:lnTo>
                    <a:lnTo>
                      <a:pt x="46554" y="128468"/>
                    </a:lnTo>
                    <a:lnTo>
                      <a:pt x="100012" y="181926"/>
                    </a:lnTo>
                    <a:lnTo>
                      <a:pt x="186808" y="95130"/>
                    </a:lnTo>
                    <a:close/>
                  </a:path>
                </a:pathLst>
              </a:custGeom>
              <a:solidFill>
                <a:srgbClr val="00897B"/>
              </a:solidFill>
              <a:ln>
                <a:noFill/>
              </a:ln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6415088" y="2859881"/>
                <a:ext cx="658654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00695C"/>
                    </a:solidFill>
                    <a:latin typeface="Arial"/>
                    <a:ea typeface="Microsoft YaHei"/>
                    <a:cs typeface="Arial"/>
                  </a:rPr>
                  <a:t>安全认证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6036945" y="3112770"/>
                <a:ext cx="1955101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JWT 登录认证，多 Profile 环境切换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6036945" y="3331845"/>
                <a:ext cx="1439037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Redis 管理验证码和登录态</a:t>
                </a:r>
              </a:p>
            </p:txBody>
          </p:sp>
          <p:sp>
            <p:nvSpPr>
              <p:cNvPr id="24" name="Rectangle 24"/>
              <p:cNvSpPr/>
              <p:nvPr/>
            </p:nvSpPr>
            <p:spPr>
              <a:xfrm>
                <a:off x="5905500" y="3762375"/>
                <a:ext cx="5524500" cy="952500"/>
              </a:xfrm>
              <a:prstGeom prst="roundRect">
                <a:avLst>
                  <a:gd name="adj" fmla="val 10000"/>
                </a:avLst>
              </a:prstGeom>
              <a:solidFill>
                <a:srgbClr val="FFFFFF"/>
              </a:solidFill>
              <a:ln w="9525">
                <a:solidFill>
                  <a:srgbClr val="E5E7EB"/>
                </a:solidFill>
              </a:ln>
            </p:spPr>
          </p:sp>
          <p:grpSp>
            <p:nvGrpSpPr>
              <p:cNvPr id="28" name="Group 28"/>
              <p:cNvGrpSpPr/>
              <p:nvPr/>
            </p:nvGrpSpPr>
            <p:grpSpPr>
              <a:xfrm>
                <a:off x="6081712" y="3905250"/>
                <a:ext cx="200025" cy="266700"/>
                <a:chOff x="6081712" y="3905250"/>
                <a:chExt cx="200025" cy="266700"/>
              </a:xfrm>
            </p:grpSpPr>
            <p:sp>
              <p:nvSpPr>
                <p:cNvPr id="25" name="Freeform 25"/>
                <p:cNvSpPr/>
                <p:nvPr/>
              </p:nvSpPr>
              <p:spPr>
                <a:xfrm>
                  <a:off x="6081712" y="4011930"/>
                  <a:ext cx="200025" cy="7667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0025" h="76676">
                      <a:moveTo>
                        <a:pt x="185642" y="8504"/>
                      </a:moveTo>
                      <a:cubicBezTo>
                        <a:pt x="190330" y="6159"/>
                        <a:pt x="195229" y="3330"/>
                        <a:pt x="200025" y="0"/>
                      </a:cubicBezTo>
                      <a:lnTo>
                        <a:pt x="200025" y="26670"/>
                      </a:lnTo>
                      <a:cubicBezTo>
                        <a:pt x="200025" y="54287"/>
                        <a:pt x="155248" y="76676"/>
                        <a:pt x="100012" y="76676"/>
                      </a:cubicBezTo>
                      <a:cubicBezTo>
                        <a:pt x="44777" y="76676"/>
                        <a:pt x="0" y="54287"/>
                        <a:pt x="0" y="26670"/>
                      </a:cubicBezTo>
                      <a:lnTo>
                        <a:pt x="0" y="0"/>
                      </a:lnTo>
                      <a:cubicBezTo>
                        <a:pt x="4796" y="3330"/>
                        <a:pt x="9694" y="6159"/>
                        <a:pt x="14384" y="8504"/>
                      </a:cubicBezTo>
                      <a:cubicBezTo>
                        <a:pt x="38021" y="20322"/>
                        <a:pt x="68342" y="26670"/>
                        <a:pt x="100012" y="26670"/>
                      </a:cubicBezTo>
                      <a:cubicBezTo>
                        <a:pt x="131683" y="26670"/>
                        <a:pt x="162004" y="20322"/>
                        <a:pt x="185642" y="8504"/>
                      </a:cubicBezTo>
                      <a:close/>
                    </a:path>
                  </a:pathLst>
                </a:custGeom>
                <a:solidFill>
                  <a:srgbClr val="00897B"/>
                </a:solidFill>
                <a:ln>
                  <a:noFill/>
                </a:ln>
              </p:spPr>
            </p:sp>
            <p:sp>
              <p:nvSpPr>
                <p:cNvPr id="26" name="Freeform 26"/>
                <p:cNvSpPr/>
                <p:nvPr/>
              </p:nvSpPr>
              <p:spPr>
                <a:xfrm>
                  <a:off x="6081712" y="4095274"/>
                  <a:ext cx="200025" cy="7667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0025" h="76676">
                      <a:moveTo>
                        <a:pt x="0" y="0"/>
                      </a:moveTo>
                      <a:lnTo>
                        <a:pt x="0" y="26670"/>
                      </a:lnTo>
                      <a:cubicBezTo>
                        <a:pt x="0" y="54288"/>
                        <a:pt x="44777" y="76676"/>
                        <a:pt x="100012" y="76676"/>
                      </a:cubicBezTo>
                      <a:cubicBezTo>
                        <a:pt x="155248" y="76676"/>
                        <a:pt x="200025" y="54288"/>
                        <a:pt x="200025" y="26670"/>
                      </a:cubicBezTo>
                      <a:lnTo>
                        <a:pt x="200025" y="0"/>
                      </a:lnTo>
                      <a:cubicBezTo>
                        <a:pt x="195229" y="3330"/>
                        <a:pt x="190330" y="6159"/>
                        <a:pt x="185642" y="8504"/>
                      </a:cubicBezTo>
                      <a:cubicBezTo>
                        <a:pt x="162004" y="20323"/>
                        <a:pt x="131683" y="26670"/>
                        <a:pt x="100012" y="26670"/>
                      </a:cubicBezTo>
                      <a:cubicBezTo>
                        <a:pt x="68342" y="26670"/>
                        <a:pt x="38021" y="20323"/>
                        <a:pt x="14384" y="8504"/>
                      </a:cubicBezTo>
                      <a:cubicBezTo>
                        <a:pt x="9694" y="6159"/>
                        <a:pt x="4796" y="3330"/>
                        <a:pt x="0" y="0"/>
                      </a:cubicBezTo>
                      <a:close/>
                    </a:path>
                  </a:pathLst>
                </a:custGeom>
                <a:solidFill>
                  <a:srgbClr val="00897B"/>
                </a:solidFill>
                <a:ln>
                  <a:noFill/>
                </a:ln>
              </p:spPr>
            </p:sp>
            <p:sp>
              <p:nvSpPr>
                <p:cNvPr id="27" name="Freeform 27"/>
                <p:cNvSpPr/>
                <p:nvPr/>
              </p:nvSpPr>
              <p:spPr>
                <a:xfrm>
                  <a:off x="6081712" y="3905250"/>
                  <a:ext cx="200025" cy="1000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0025" h="100012">
                      <a:moveTo>
                        <a:pt x="100012" y="0"/>
                      </a:moveTo>
                      <a:cubicBezTo>
                        <a:pt x="155248" y="0"/>
                        <a:pt x="200025" y="22389"/>
                        <a:pt x="200025" y="50006"/>
                      </a:cubicBezTo>
                      <a:cubicBezTo>
                        <a:pt x="200025" y="77624"/>
                        <a:pt x="155248" y="100012"/>
                        <a:pt x="100012" y="100012"/>
                      </a:cubicBezTo>
                      <a:cubicBezTo>
                        <a:pt x="44777" y="100012"/>
                        <a:pt x="0" y="77624"/>
                        <a:pt x="0" y="50006"/>
                      </a:cubicBezTo>
                      <a:cubicBezTo>
                        <a:pt x="0" y="22389"/>
                        <a:pt x="44777" y="0"/>
                        <a:pt x="100012" y="0"/>
                      </a:cubicBezTo>
                      <a:close/>
                    </a:path>
                  </a:pathLst>
                </a:custGeom>
                <a:solidFill>
                  <a:srgbClr val="00897B"/>
                </a:solidFill>
                <a:ln>
                  <a:noFill/>
                </a:ln>
              </p:spPr>
            </p:sp>
          </p:grpSp>
          <p:sp>
            <p:nvSpPr>
              <p:cNvPr id="29" name="TextBox 29"/>
              <p:cNvSpPr txBox="1"/>
              <p:nvPr/>
            </p:nvSpPr>
            <p:spPr>
              <a:xfrm>
                <a:off x="6415088" y="3955256"/>
                <a:ext cx="1131213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00695C"/>
                    </a:solidFill>
                    <a:latin typeface="Arial"/>
                    <a:ea typeface="Microsoft YaHei"/>
                    <a:cs typeface="Arial"/>
                  </a:rPr>
                  <a:t>数据与文件存储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6036945" y="4208145"/>
                <a:ext cx="2129123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MySQL 主业务库 + MinIO 图片对象存储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6036945" y="4427220"/>
                <a:ext cx="1078992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Redis 缓存热点数据</a:t>
                </a:r>
              </a:p>
            </p:txBody>
          </p:sp>
          <p:sp>
            <p:nvSpPr>
              <p:cNvPr id="32" name="Rectangle 32"/>
              <p:cNvSpPr/>
              <p:nvPr/>
            </p:nvSpPr>
            <p:spPr>
              <a:xfrm>
                <a:off x="5905500" y="4857750"/>
                <a:ext cx="5524500" cy="952500"/>
              </a:xfrm>
              <a:prstGeom prst="roundRect">
                <a:avLst>
                  <a:gd name="adj" fmla="val 10000"/>
                </a:avLst>
              </a:prstGeom>
              <a:solidFill>
                <a:srgbClr val="FFFFFF"/>
              </a:solidFill>
              <a:ln w="9525">
                <a:solidFill>
                  <a:srgbClr val="E5E7EB"/>
                </a:solidFill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6065044" y="5017294"/>
                <a:ext cx="233362" cy="233362"/>
              </a:xfrm>
              <a:custGeom>
                <a:avLst/>
                <a:gdLst/>
                <a:ahLst/>
                <a:cxnLst/>
                <a:rect l="l" t="t" r="r" b="b"/>
                <a:pathLst>
                  <a:path w="233362" h="233362">
                    <a:moveTo>
                      <a:pt x="233362" y="0"/>
                    </a:moveTo>
                    <a:lnTo>
                      <a:pt x="0" y="0"/>
                    </a:lnTo>
                    <a:lnTo>
                      <a:pt x="0" y="233362"/>
                    </a:lnTo>
                    <a:lnTo>
                      <a:pt x="233362" y="233362"/>
                    </a:lnTo>
                    <a:lnTo>
                      <a:pt x="233362" y="0"/>
                    </a:lnTo>
                    <a:close/>
                    <a:moveTo>
                      <a:pt x="83344" y="66675"/>
                    </a:moveTo>
                    <a:lnTo>
                      <a:pt x="106917" y="90248"/>
                    </a:lnTo>
                    <a:lnTo>
                      <a:pt x="80484" y="116681"/>
                    </a:lnTo>
                    <a:lnTo>
                      <a:pt x="106917" y="143114"/>
                    </a:lnTo>
                    <a:lnTo>
                      <a:pt x="83344" y="166688"/>
                    </a:lnTo>
                    <a:lnTo>
                      <a:pt x="33338" y="116681"/>
                    </a:lnTo>
                    <a:lnTo>
                      <a:pt x="83344" y="66675"/>
                    </a:lnTo>
                    <a:close/>
                    <a:moveTo>
                      <a:pt x="150019" y="66675"/>
                    </a:moveTo>
                    <a:lnTo>
                      <a:pt x="126446" y="90248"/>
                    </a:lnTo>
                    <a:lnTo>
                      <a:pt x="152879" y="116681"/>
                    </a:lnTo>
                    <a:lnTo>
                      <a:pt x="126446" y="143114"/>
                    </a:lnTo>
                    <a:lnTo>
                      <a:pt x="150019" y="166688"/>
                    </a:lnTo>
                    <a:lnTo>
                      <a:pt x="200025" y="116681"/>
                    </a:lnTo>
                    <a:lnTo>
                      <a:pt x="150019" y="66675"/>
                    </a:lnTo>
                    <a:close/>
                  </a:path>
                </a:pathLst>
              </a:custGeom>
              <a:solidFill>
                <a:srgbClr val="00897B"/>
              </a:solidFill>
              <a:ln>
                <a:noFill/>
              </a:ln>
            </p:spPr>
          </p:sp>
          <p:sp>
            <p:nvSpPr>
              <p:cNvPr id="34" name="TextBox 34"/>
              <p:cNvSpPr txBox="1"/>
              <p:nvPr/>
            </p:nvSpPr>
            <p:spPr>
              <a:xfrm>
                <a:off x="6415088" y="5050631"/>
                <a:ext cx="658654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00695C"/>
                    </a:solidFill>
                    <a:latin typeface="Arial"/>
                    <a:ea typeface="Microsoft YaHei"/>
                    <a:cs typeface="Arial"/>
                  </a:rPr>
                  <a:t>本地部署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6036945" y="5303520"/>
                <a:ext cx="2621185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Docker Compose 一键启动 MySQL/Redis/MinIO</a:t>
                </a:r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6036945" y="5522595"/>
                <a:ext cx="1763077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Spring Boot Profile 多环境切换</a:t>
                </a:r>
              </a:p>
            </p:txBody>
          </p:sp>
        </p:grpSp>
      </p:grpSp>
      <p:grpSp>
        <p:nvGrpSpPr>
          <p:cNvPr id="42" name="Group 42"/>
          <p:cNvGrpSpPr/>
          <p:nvPr/>
        </p:nvGrpSpPr>
        <p:grpSpPr>
          <a:xfrm>
            <a:off x="750570" y="6477000"/>
            <a:ext cx="10690860" cy="257175"/>
            <a:chOff x="750570" y="6477000"/>
            <a:chExt cx="10690860" cy="257175"/>
          </a:xfrm>
        </p:grpSpPr>
        <p:sp>
          <p:nvSpPr>
            <p:cNvPr id="39" name="Line 39"/>
            <p:cNvSpPr/>
            <p:nvPr/>
          </p:nvSpPr>
          <p:spPr>
            <a:xfrm>
              <a:off x="762000" y="6477000"/>
              <a:ext cx="10668000" cy="9525"/>
            </a:xfrm>
            <a:custGeom>
              <a:avLst/>
              <a:gdLst/>
              <a:ahLst/>
              <a:cxnLst/>
              <a:rect l="l" t="t" r="r" b="b"/>
              <a:pathLst>
                <a:path w="10668000" h="9525">
                  <a:moveTo>
                    <a:pt x="0" y="0"/>
                  </a:moveTo>
                  <a:lnTo>
                    <a:pt x="10668000" y="0"/>
                  </a:lnTo>
                </a:path>
              </a:pathLst>
            </a:custGeom>
            <a:noFill/>
            <a:ln w="9525">
              <a:solidFill>
                <a:srgbClr val="E5E7EB"/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750570" y="6551295"/>
              <a:ext cx="74295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CA3AF"/>
                  </a:solidFill>
                  <a:latin typeface="Arial"/>
                  <a:ea typeface="Microsoft YaHei"/>
                  <a:cs typeface="Arial"/>
                </a:rPr>
                <a:t>房屋租赁系统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1016520" y="6551295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9CA3AF"/>
                  </a:solidFill>
                  <a:latin typeface="Arial"/>
                  <a:ea typeface="Microsoft YaHei"/>
                  <a:cs typeface="Arial"/>
                </a:rPr>
                <a:t>15 / 21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0897B">
                  <a:alpha val="5000"/>
                </a:srgbClr>
              </a:gs>
              <a:gs pos="100000">
                <a:srgbClr val="00897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762000" y="533400"/>
            <a:ext cx="10668000" cy="476250"/>
            <a:chOff x="762000" y="533400"/>
            <a:chExt cx="10668000" cy="476250"/>
          </a:xfrm>
        </p:grpSpPr>
        <p:sp>
          <p:nvSpPr>
            <p:cNvPr id="4" name="Rectangle 4"/>
            <p:cNvSpPr/>
            <p:nvPr/>
          </p:nvSpPr>
          <p:spPr>
            <a:xfrm>
              <a:off x="762000" y="533400"/>
              <a:ext cx="38100" cy="323850"/>
            </a:xfrm>
            <a:prstGeom prst="roundRect">
              <a:avLst>
                <a:gd name="adj" fmla="val 50000"/>
              </a:avLst>
            </a:prstGeom>
            <a:solidFill>
              <a:srgbClr val="00897B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925830" y="554355"/>
              <a:ext cx="1229487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1D1D1F"/>
                  </a:solidFill>
                  <a:latin typeface="Arial"/>
                  <a:ea typeface="Microsoft YaHei"/>
                  <a:cs typeface="Arial"/>
                </a:rPr>
                <a:t>前端实现</a:t>
              </a:r>
            </a:p>
          </p:txBody>
        </p:sp>
        <p:sp>
          <p:nvSpPr>
            <p:cNvPr id="6" name="Line 6"/>
            <p:cNvSpPr/>
            <p:nvPr/>
          </p:nvSpPr>
          <p:spPr>
            <a:xfrm>
              <a:off x="762000" y="1000125"/>
              <a:ext cx="10668000" cy="9525"/>
            </a:xfrm>
            <a:custGeom>
              <a:avLst/>
              <a:gdLst/>
              <a:ahLst/>
              <a:cxnLst/>
              <a:rect l="l" t="t" r="r" b="b"/>
              <a:pathLst>
                <a:path w="10668000" h="9525">
                  <a:moveTo>
                    <a:pt x="0" y="0"/>
                  </a:moveTo>
                  <a:lnTo>
                    <a:pt x="10668000" y="0"/>
                  </a:lnTo>
                </a:path>
              </a:pathLst>
            </a:custGeom>
            <a:noFill/>
            <a:ln w="14288">
              <a:solidFill>
                <a:srgbClr val="E5E7EB"/>
              </a:solidFill>
            </a:ln>
          </p:spPr>
        </p:sp>
      </p:grpSp>
      <p:grpSp>
        <p:nvGrpSpPr>
          <p:cNvPr id="52" name="Group 52"/>
          <p:cNvGrpSpPr/>
          <p:nvPr/>
        </p:nvGrpSpPr>
        <p:grpSpPr>
          <a:xfrm>
            <a:off x="744855" y="1238250"/>
            <a:ext cx="10685145" cy="4143375"/>
            <a:chOff x="744855" y="1238250"/>
            <a:chExt cx="10685145" cy="4143375"/>
          </a:xfrm>
        </p:grpSpPr>
        <p:grpSp>
          <p:nvGrpSpPr>
            <p:cNvPr id="33" name="Group 33"/>
            <p:cNvGrpSpPr/>
            <p:nvPr/>
          </p:nvGrpSpPr>
          <p:grpSpPr>
            <a:xfrm>
              <a:off x="744855" y="1238250"/>
              <a:ext cx="5065395" cy="4143375"/>
              <a:chOff x="744855" y="1238250"/>
              <a:chExt cx="5065395" cy="4143375"/>
            </a:xfrm>
          </p:grpSpPr>
          <p:sp>
            <p:nvSpPr>
              <p:cNvPr id="8" name="TextBox 8"/>
              <p:cNvSpPr txBox="1"/>
              <p:nvPr/>
            </p:nvSpPr>
            <p:spPr>
              <a:xfrm>
                <a:off x="744855" y="1283018"/>
                <a:ext cx="790384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00897B"/>
                    </a:solidFill>
                    <a:latin typeface="Arial"/>
                    <a:ea typeface="Microsoft YaHei"/>
                    <a:cs typeface="Arial"/>
                  </a:rPr>
                  <a:t>管理后台</a:t>
                </a:r>
              </a:p>
            </p:txBody>
          </p:sp>
          <p:sp>
            <p:nvSpPr>
              <p:cNvPr id="9" name="Rectangle 9"/>
              <p:cNvSpPr/>
              <p:nvPr/>
            </p:nvSpPr>
            <p:spPr>
              <a:xfrm>
                <a:off x="762000" y="1571625"/>
                <a:ext cx="5048250" cy="3810000"/>
              </a:xfrm>
              <a:prstGeom prst="roundRect">
                <a:avLst>
                  <a:gd name="adj" fmla="val 3000"/>
                </a:avLst>
              </a:prstGeom>
              <a:solidFill>
                <a:srgbClr val="FFFFFF"/>
              </a:solidFill>
              <a:ln w="9525">
                <a:solidFill>
                  <a:srgbClr val="E5E7EB"/>
                </a:solidFill>
              </a:ln>
            </p:spPr>
          </p:sp>
          <p:sp>
            <p:nvSpPr>
              <p:cNvPr id="10" name="Rectangle 10"/>
              <p:cNvSpPr/>
              <p:nvPr/>
            </p:nvSpPr>
            <p:spPr>
              <a:xfrm>
                <a:off x="762000" y="1238250"/>
                <a:ext cx="5048250" cy="457200"/>
              </a:xfrm>
              <a:prstGeom prst="roundRect">
                <a:avLst>
                  <a:gd name="adj" fmla="val 25000"/>
                </a:avLst>
              </a:prstGeom>
              <a:solidFill>
                <a:srgbClr val="00897B"/>
              </a:solidFill>
              <a:ln>
                <a:noFill/>
              </a:ln>
            </p:spPr>
          </p:sp>
          <p:sp>
            <p:nvSpPr>
              <p:cNvPr id="11" name="Rectangle 11"/>
              <p:cNvSpPr/>
              <p:nvPr/>
            </p:nvSpPr>
            <p:spPr>
              <a:xfrm>
                <a:off x="762000" y="1466850"/>
                <a:ext cx="5048250" cy="228600"/>
              </a:xfrm>
              <a:prstGeom prst="rect">
                <a:avLst/>
              </a:prstGeom>
              <a:solidFill>
                <a:srgbClr val="00897B"/>
              </a:solidFill>
              <a:ln>
                <a:noFill/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966788" y="1871662"/>
                <a:ext cx="200025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00025" h="200025">
                    <a:moveTo>
                      <a:pt x="85725" y="0"/>
                    </a:moveTo>
                    <a:lnTo>
                      <a:pt x="0" y="0"/>
                    </a:lnTo>
                    <a:lnTo>
                      <a:pt x="0" y="85725"/>
                    </a:lnTo>
                    <a:lnTo>
                      <a:pt x="85725" y="85725"/>
                    </a:lnTo>
                    <a:lnTo>
                      <a:pt x="85725" y="0"/>
                    </a:lnTo>
                    <a:close/>
                    <a:moveTo>
                      <a:pt x="85725" y="114300"/>
                    </a:moveTo>
                    <a:lnTo>
                      <a:pt x="0" y="114300"/>
                    </a:lnTo>
                    <a:lnTo>
                      <a:pt x="0" y="200025"/>
                    </a:lnTo>
                    <a:lnTo>
                      <a:pt x="85725" y="200025"/>
                    </a:lnTo>
                    <a:lnTo>
                      <a:pt x="85725" y="114300"/>
                    </a:lnTo>
                    <a:close/>
                    <a:moveTo>
                      <a:pt x="114300" y="0"/>
                    </a:moveTo>
                    <a:lnTo>
                      <a:pt x="200025" y="0"/>
                    </a:lnTo>
                    <a:lnTo>
                      <a:pt x="200025" y="85725"/>
                    </a:lnTo>
                    <a:lnTo>
                      <a:pt x="114300" y="85725"/>
                    </a:lnTo>
                    <a:lnTo>
                      <a:pt x="114300" y="0"/>
                    </a:lnTo>
                    <a:close/>
                    <a:moveTo>
                      <a:pt x="200025" y="114300"/>
                    </a:moveTo>
                    <a:lnTo>
                      <a:pt x="114300" y="114300"/>
                    </a:lnTo>
                    <a:lnTo>
                      <a:pt x="114300" y="200025"/>
                    </a:lnTo>
                    <a:lnTo>
                      <a:pt x="200025" y="200025"/>
                    </a:lnTo>
                    <a:lnTo>
                      <a:pt x="200025" y="114300"/>
                    </a:lnTo>
                    <a:close/>
                  </a:path>
                </a:pathLst>
              </a:custGeom>
              <a:solidFill>
                <a:srgbClr val="00897B"/>
              </a:solidFill>
              <a:ln>
                <a:noFill/>
              </a:ln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1272540" y="1905952"/>
                <a:ext cx="467725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00695C"/>
                    </a:solidFill>
                    <a:latin typeface="Arial"/>
                    <a:ea typeface="Microsoft YaHei"/>
                    <a:cs typeface="Arial"/>
                  </a:rPr>
                  <a:t>技术栈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940118" y="2180749"/>
                <a:ext cx="1123402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1D1D1F"/>
                    </a:solidFill>
                    <a:latin typeface="Arial"/>
                    <a:ea typeface="Microsoft YaHei"/>
                    <a:cs typeface="Arial"/>
                  </a:rPr>
                  <a:t>• Vue3 + Vite 构建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940118" y="2418874"/>
                <a:ext cx="1350931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1D1D1F"/>
                    </a:solidFill>
                    <a:latin typeface="Arial"/>
                    <a:ea typeface="Microsoft YaHei"/>
                    <a:cs typeface="Arial"/>
                  </a:rPr>
                  <a:t>• Element Plus 组件库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940118" y="2656999"/>
                <a:ext cx="1376934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1D1D1F"/>
                    </a:solidFill>
                    <a:latin typeface="Arial"/>
                    <a:ea typeface="Microsoft YaHei"/>
                    <a:cs typeface="Arial"/>
                  </a:rPr>
                  <a:t>• Vue Router 路由管理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940118" y="2895124"/>
                <a:ext cx="986885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1D1D1F"/>
                    </a:solidFill>
                    <a:latin typeface="Arial"/>
                    <a:ea typeface="Microsoft YaHei"/>
                    <a:cs typeface="Arial"/>
                  </a:rPr>
                  <a:t>• Pinia 状态管理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940118" y="3133249"/>
                <a:ext cx="1084397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1D1D1F"/>
                    </a:solidFill>
                    <a:latin typeface="Arial"/>
                    <a:ea typeface="Microsoft YaHei"/>
                    <a:cs typeface="Arial"/>
                  </a:rPr>
                  <a:t>• Axios HTTP 请求</a:t>
                </a:r>
              </a:p>
            </p:txBody>
          </p:sp>
          <p:grpSp>
            <p:nvGrpSpPr>
              <p:cNvPr id="27" name="Group 27"/>
              <p:cNvGrpSpPr/>
              <p:nvPr/>
            </p:nvGrpSpPr>
            <p:grpSpPr>
              <a:xfrm>
                <a:off x="966788" y="3538538"/>
                <a:ext cx="200025" cy="200025"/>
                <a:chOff x="966788" y="3538538"/>
                <a:chExt cx="200025" cy="200025"/>
              </a:xfrm>
            </p:grpSpPr>
            <p:sp>
              <p:nvSpPr>
                <p:cNvPr id="19" name="Freeform 19"/>
                <p:cNvSpPr/>
                <p:nvPr/>
              </p:nvSpPr>
              <p:spPr>
                <a:xfrm>
                  <a:off x="966788" y="3538538"/>
                  <a:ext cx="28575" cy="28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575" h="28575">
                      <a:moveTo>
                        <a:pt x="28575" y="0"/>
                      </a:moveTo>
                      <a:lnTo>
                        <a:pt x="0" y="0"/>
                      </a:lnTo>
                      <a:lnTo>
                        <a:pt x="0" y="28575"/>
                      </a:lnTo>
                      <a:lnTo>
                        <a:pt x="28575" y="28575"/>
                      </a:lnTo>
                      <a:lnTo>
                        <a:pt x="28575" y="0"/>
                      </a:lnTo>
                      <a:close/>
                    </a:path>
                  </a:pathLst>
                </a:custGeom>
                <a:solidFill>
                  <a:srgbClr val="00897B"/>
                </a:solidFill>
                <a:ln>
                  <a:noFill/>
                </a:ln>
              </p:spPr>
            </p:sp>
            <p:sp>
              <p:nvSpPr>
                <p:cNvPr id="20" name="Freeform 20"/>
                <p:cNvSpPr/>
                <p:nvPr/>
              </p:nvSpPr>
              <p:spPr>
                <a:xfrm>
                  <a:off x="966788" y="3595688"/>
                  <a:ext cx="28575" cy="28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575" h="28575">
                      <a:moveTo>
                        <a:pt x="28575" y="0"/>
                      </a:moveTo>
                      <a:lnTo>
                        <a:pt x="0" y="0"/>
                      </a:lnTo>
                      <a:lnTo>
                        <a:pt x="0" y="28575"/>
                      </a:lnTo>
                      <a:lnTo>
                        <a:pt x="28575" y="28575"/>
                      </a:lnTo>
                      <a:lnTo>
                        <a:pt x="28575" y="0"/>
                      </a:lnTo>
                      <a:close/>
                    </a:path>
                  </a:pathLst>
                </a:custGeom>
                <a:solidFill>
                  <a:srgbClr val="00897B"/>
                </a:solidFill>
                <a:ln>
                  <a:noFill/>
                </a:ln>
              </p:spPr>
            </p:sp>
            <p:sp>
              <p:nvSpPr>
                <p:cNvPr id="21" name="Freeform 21"/>
                <p:cNvSpPr/>
                <p:nvPr/>
              </p:nvSpPr>
              <p:spPr>
                <a:xfrm>
                  <a:off x="966788" y="3652838"/>
                  <a:ext cx="28575" cy="28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575" h="28575">
                      <a:moveTo>
                        <a:pt x="0" y="0"/>
                      </a:moveTo>
                      <a:lnTo>
                        <a:pt x="28575" y="0"/>
                      </a:lnTo>
                      <a:lnTo>
                        <a:pt x="28575" y="28575"/>
                      </a:lnTo>
                      <a:lnTo>
                        <a:pt x="0" y="28575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00897B"/>
                </a:solidFill>
                <a:ln>
                  <a:noFill/>
                </a:ln>
              </p:spPr>
            </p:sp>
            <p:sp>
              <p:nvSpPr>
                <p:cNvPr id="22" name="Freeform 22"/>
                <p:cNvSpPr/>
                <p:nvPr/>
              </p:nvSpPr>
              <p:spPr>
                <a:xfrm>
                  <a:off x="966788" y="3709988"/>
                  <a:ext cx="28575" cy="28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575" h="28575">
                      <a:moveTo>
                        <a:pt x="28575" y="0"/>
                      </a:moveTo>
                      <a:lnTo>
                        <a:pt x="0" y="0"/>
                      </a:lnTo>
                      <a:lnTo>
                        <a:pt x="0" y="28575"/>
                      </a:lnTo>
                      <a:lnTo>
                        <a:pt x="28575" y="28575"/>
                      </a:lnTo>
                      <a:lnTo>
                        <a:pt x="28575" y="0"/>
                      </a:lnTo>
                      <a:close/>
                    </a:path>
                  </a:pathLst>
                </a:custGeom>
                <a:solidFill>
                  <a:srgbClr val="00897B"/>
                </a:solidFill>
                <a:ln>
                  <a:noFill/>
                </a:ln>
              </p:spPr>
            </p:sp>
            <p:sp>
              <p:nvSpPr>
                <p:cNvPr id="23" name="Freeform 23"/>
                <p:cNvSpPr/>
                <p:nvPr/>
              </p:nvSpPr>
              <p:spPr>
                <a:xfrm>
                  <a:off x="1023938" y="3538538"/>
                  <a:ext cx="142875" cy="28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2875" h="28575">
                      <a:moveTo>
                        <a:pt x="142875" y="0"/>
                      </a:moveTo>
                      <a:lnTo>
                        <a:pt x="0" y="0"/>
                      </a:lnTo>
                      <a:lnTo>
                        <a:pt x="0" y="28575"/>
                      </a:lnTo>
                      <a:lnTo>
                        <a:pt x="142875" y="28575"/>
                      </a:lnTo>
                      <a:lnTo>
                        <a:pt x="142875" y="0"/>
                      </a:lnTo>
                      <a:close/>
                    </a:path>
                  </a:pathLst>
                </a:custGeom>
                <a:solidFill>
                  <a:srgbClr val="00897B"/>
                </a:solidFill>
                <a:ln>
                  <a:noFill/>
                </a:ln>
              </p:spPr>
            </p:sp>
            <p:sp>
              <p:nvSpPr>
                <p:cNvPr id="24" name="Freeform 24"/>
                <p:cNvSpPr/>
                <p:nvPr/>
              </p:nvSpPr>
              <p:spPr>
                <a:xfrm>
                  <a:off x="1023938" y="3595688"/>
                  <a:ext cx="142875" cy="28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2875" h="28575">
                      <a:moveTo>
                        <a:pt x="142875" y="0"/>
                      </a:moveTo>
                      <a:lnTo>
                        <a:pt x="0" y="0"/>
                      </a:lnTo>
                      <a:lnTo>
                        <a:pt x="0" y="28575"/>
                      </a:lnTo>
                      <a:lnTo>
                        <a:pt x="142875" y="28575"/>
                      </a:lnTo>
                      <a:lnTo>
                        <a:pt x="142875" y="0"/>
                      </a:lnTo>
                      <a:close/>
                    </a:path>
                  </a:pathLst>
                </a:custGeom>
                <a:solidFill>
                  <a:srgbClr val="00897B"/>
                </a:solidFill>
                <a:ln>
                  <a:noFill/>
                </a:ln>
              </p:spPr>
            </p:sp>
            <p:sp>
              <p:nvSpPr>
                <p:cNvPr id="25" name="Freeform 25"/>
                <p:cNvSpPr/>
                <p:nvPr/>
              </p:nvSpPr>
              <p:spPr>
                <a:xfrm>
                  <a:off x="1023938" y="3652838"/>
                  <a:ext cx="142875" cy="28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2875" h="28575">
                      <a:moveTo>
                        <a:pt x="0" y="0"/>
                      </a:moveTo>
                      <a:lnTo>
                        <a:pt x="142875" y="0"/>
                      </a:lnTo>
                      <a:lnTo>
                        <a:pt x="142875" y="28575"/>
                      </a:lnTo>
                      <a:lnTo>
                        <a:pt x="0" y="28575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00897B"/>
                </a:solidFill>
                <a:ln>
                  <a:noFill/>
                </a:ln>
              </p:spPr>
            </p:sp>
            <p:sp>
              <p:nvSpPr>
                <p:cNvPr id="26" name="Freeform 26"/>
                <p:cNvSpPr/>
                <p:nvPr/>
              </p:nvSpPr>
              <p:spPr>
                <a:xfrm>
                  <a:off x="1023938" y="3709988"/>
                  <a:ext cx="142875" cy="28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2875" h="28575">
                      <a:moveTo>
                        <a:pt x="142875" y="0"/>
                      </a:moveTo>
                      <a:lnTo>
                        <a:pt x="0" y="0"/>
                      </a:lnTo>
                      <a:lnTo>
                        <a:pt x="0" y="28575"/>
                      </a:lnTo>
                      <a:lnTo>
                        <a:pt x="142875" y="28575"/>
                      </a:lnTo>
                      <a:lnTo>
                        <a:pt x="142875" y="0"/>
                      </a:lnTo>
                      <a:close/>
                    </a:path>
                  </a:pathLst>
                </a:custGeom>
                <a:solidFill>
                  <a:srgbClr val="00897B"/>
                </a:solidFill>
                <a:ln>
                  <a:noFill/>
                </a:ln>
              </p:spPr>
            </p:sp>
          </p:grpSp>
          <p:sp>
            <p:nvSpPr>
              <p:cNvPr id="28" name="TextBox 28"/>
              <p:cNvSpPr txBox="1"/>
              <p:nvPr/>
            </p:nvSpPr>
            <p:spPr>
              <a:xfrm>
                <a:off x="1272540" y="3572828"/>
                <a:ext cx="614744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00695C"/>
                    </a:solidFill>
                    <a:latin typeface="Arial"/>
                    <a:ea typeface="Microsoft YaHei"/>
                    <a:cs typeface="Arial"/>
                  </a:rPr>
                  <a:t>页面功能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941070" y="3855720"/>
                <a:ext cx="1205008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• 数据表格展示与操作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941070" y="4074795"/>
                <a:ext cx="964978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• 表单提交与验证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941070" y="4293870"/>
                <a:ext cx="844963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• 图片上传组件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941070" y="4512945"/>
                <a:ext cx="976979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• 分页/搜索/筛选</a:t>
                </a:r>
              </a:p>
            </p:txBody>
          </p:sp>
        </p:grpSp>
        <p:grpSp>
          <p:nvGrpSpPr>
            <p:cNvPr id="51" name="Group 51"/>
            <p:cNvGrpSpPr/>
            <p:nvPr/>
          </p:nvGrpSpPr>
          <p:grpSpPr>
            <a:xfrm>
              <a:off x="6269355" y="1238250"/>
              <a:ext cx="5160645" cy="4143375"/>
              <a:chOff x="6269355" y="1238250"/>
              <a:chExt cx="5160645" cy="4143375"/>
            </a:xfrm>
          </p:grpSpPr>
          <p:sp>
            <p:nvSpPr>
              <p:cNvPr id="34" name="TextBox 34"/>
              <p:cNvSpPr txBox="1"/>
              <p:nvPr/>
            </p:nvSpPr>
            <p:spPr>
              <a:xfrm>
                <a:off x="6269355" y="1283018"/>
                <a:ext cx="865994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00897B"/>
                    </a:solidFill>
                    <a:latin typeface="Arial"/>
                    <a:ea typeface="Microsoft YaHei"/>
                    <a:cs typeface="Arial"/>
                  </a:rPr>
                  <a:t>租客端 H5</a:t>
                </a:r>
              </a:p>
            </p:txBody>
          </p:sp>
          <p:sp>
            <p:nvSpPr>
              <p:cNvPr id="35" name="Rectangle 35"/>
              <p:cNvSpPr/>
              <p:nvPr/>
            </p:nvSpPr>
            <p:spPr>
              <a:xfrm>
                <a:off x="6286500" y="1571625"/>
                <a:ext cx="5143500" cy="3810000"/>
              </a:xfrm>
              <a:prstGeom prst="roundRect">
                <a:avLst>
                  <a:gd name="adj" fmla="val 3000"/>
                </a:avLst>
              </a:prstGeom>
              <a:solidFill>
                <a:srgbClr val="FFFFFF"/>
              </a:solidFill>
              <a:ln w="9525">
                <a:solidFill>
                  <a:srgbClr val="E5E7EB"/>
                </a:solidFill>
              </a:ln>
            </p:spPr>
          </p:sp>
          <p:sp>
            <p:nvSpPr>
              <p:cNvPr id="36" name="Rectangle 36"/>
              <p:cNvSpPr/>
              <p:nvPr/>
            </p:nvSpPr>
            <p:spPr>
              <a:xfrm>
                <a:off x="6286500" y="1238250"/>
                <a:ext cx="5143500" cy="457200"/>
              </a:xfrm>
              <a:prstGeom prst="roundRect">
                <a:avLst>
                  <a:gd name="adj" fmla="val 25000"/>
                </a:avLst>
              </a:prstGeom>
              <a:solidFill>
                <a:srgbClr val="00897B"/>
              </a:solidFill>
              <a:ln>
                <a:noFill/>
              </a:ln>
            </p:spPr>
          </p:sp>
          <p:sp>
            <p:nvSpPr>
              <p:cNvPr id="37" name="Rectangle 37"/>
              <p:cNvSpPr/>
              <p:nvPr/>
            </p:nvSpPr>
            <p:spPr>
              <a:xfrm>
                <a:off x="6286500" y="1466850"/>
                <a:ext cx="5143500" cy="228600"/>
              </a:xfrm>
              <a:prstGeom prst="rect">
                <a:avLst/>
              </a:prstGeom>
              <a:solidFill>
                <a:srgbClr val="00897B"/>
              </a:solidFill>
              <a:ln>
                <a:noFill/>
              </a:ln>
            </p:spPr>
          </p:sp>
          <p:sp>
            <p:nvSpPr>
              <p:cNvPr id="38" name="Freeform 38"/>
              <p:cNvSpPr/>
              <p:nvPr/>
            </p:nvSpPr>
            <p:spPr>
              <a:xfrm>
                <a:off x="6491288" y="1871662"/>
                <a:ext cx="200025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00025" h="200025">
                    <a:moveTo>
                      <a:pt x="200025" y="0"/>
                    </a:moveTo>
                    <a:lnTo>
                      <a:pt x="0" y="0"/>
                    </a:lnTo>
                    <a:lnTo>
                      <a:pt x="0" y="200025"/>
                    </a:lnTo>
                    <a:lnTo>
                      <a:pt x="200025" y="200025"/>
                    </a:lnTo>
                    <a:lnTo>
                      <a:pt x="200025" y="0"/>
                    </a:lnTo>
                    <a:close/>
                    <a:moveTo>
                      <a:pt x="71438" y="57150"/>
                    </a:moveTo>
                    <a:lnTo>
                      <a:pt x="91643" y="77356"/>
                    </a:lnTo>
                    <a:lnTo>
                      <a:pt x="68986" y="100012"/>
                    </a:lnTo>
                    <a:lnTo>
                      <a:pt x="91643" y="122669"/>
                    </a:lnTo>
                    <a:lnTo>
                      <a:pt x="71438" y="142875"/>
                    </a:lnTo>
                    <a:lnTo>
                      <a:pt x="28575" y="100012"/>
                    </a:lnTo>
                    <a:lnTo>
                      <a:pt x="71438" y="57150"/>
                    </a:lnTo>
                    <a:close/>
                    <a:moveTo>
                      <a:pt x="128588" y="57150"/>
                    </a:moveTo>
                    <a:lnTo>
                      <a:pt x="108382" y="77356"/>
                    </a:lnTo>
                    <a:lnTo>
                      <a:pt x="131039" y="100012"/>
                    </a:lnTo>
                    <a:lnTo>
                      <a:pt x="108382" y="122669"/>
                    </a:lnTo>
                    <a:lnTo>
                      <a:pt x="128588" y="142875"/>
                    </a:lnTo>
                    <a:lnTo>
                      <a:pt x="171450" y="100012"/>
                    </a:lnTo>
                    <a:lnTo>
                      <a:pt x="128588" y="57150"/>
                    </a:lnTo>
                    <a:close/>
                  </a:path>
                </a:pathLst>
              </a:custGeom>
              <a:solidFill>
                <a:srgbClr val="00897B"/>
              </a:solidFill>
              <a:ln>
                <a:noFill/>
              </a:ln>
            </p:spPr>
          </p:sp>
          <p:sp>
            <p:nvSpPr>
              <p:cNvPr id="39" name="TextBox 39"/>
              <p:cNvSpPr txBox="1"/>
              <p:nvPr/>
            </p:nvSpPr>
            <p:spPr>
              <a:xfrm>
                <a:off x="6797040" y="1905952"/>
                <a:ext cx="467725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00695C"/>
                    </a:solidFill>
                    <a:latin typeface="Arial"/>
                    <a:ea typeface="Microsoft YaHei"/>
                    <a:cs typeface="Arial"/>
                  </a:rPr>
                  <a:t>技术栈</a:t>
                </a:r>
              </a:p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6464618" y="2180749"/>
                <a:ext cx="1123402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1D1D1F"/>
                    </a:solidFill>
                    <a:latin typeface="Arial"/>
                    <a:ea typeface="Microsoft YaHei"/>
                    <a:cs typeface="Arial"/>
                  </a:rPr>
                  <a:t>• Vue3 + Vite 构建</a:t>
                </a:r>
              </a:p>
            </p:txBody>
          </p:sp>
          <p:sp>
            <p:nvSpPr>
              <p:cNvPr id="41" name="TextBox 41"/>
              <p:cNvSpPr txBox="1"/>
              <p:nvPr/>
            </p:nvSpPr>
            <p:spPr>
              <a:xfrm>
                <a:off x="6464618" y="2418874"/>
                <a:ext cx="1240417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1D1D1F"/>
                    </a:solidFill>
                    <a:latin typeface="Arial"/>
                    <a:ea typeface="Microsoft YaHei"/>
                    <a:cs typeface="Arial"/>
                  </a:rPr>
                  <a:t>• Vant 移动端组件库</a:t>
                </a:r>
              </a:p>
            </p:txBody>
          </p:sp>
          <p:sp>
            <p:nvSpPr>
              <p:cNvPr id="42" name="TextBox 42"/>
              <p:cNvSpPr txBox="1"/>
              <p:nvPr/>
            </p:nvSpPr>
            <p:spPr>
              <a:xfrm>
                <a:off x="6464618" y="2656999"/>
                <a:ext cx="1006388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1D1D1F"/>
                    </a:solidFill>
                    <a:latin typeface="Arial"/>
                    <a:ea typeface="Microsoft YaHei"/>
                    <a:cs typeface="Arial"/>
                  </a:rPr>
                  <a:t>• 响应式 H5 适配</a:t>
                </a:r>
              </a:p>
            </p:txBody>
          </p:sp>
          <p:sp>
            <p:nvSpPr>
              <p:cNvPr id="43" name="TextBox 43"/>
              <p:cNvSpPr txBox="1"/>
              <p:nvPr/>
            </p:nvSpPr>
            <p:spPr>
              <a:xfrm>
                <a:off x="6464618" y="2895124"/>
                <a:ext cx="1084397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1D1D1F"/>
                    </a:solidFill>
                    <a:latin typeface="Arial"/>
                    <a:ea typeface="Microsoft YaHei"/>
                    <a:cs typeface="Arial"/>
                  </a:rPr>
                  <a:t>• Axios HTTP 请求</a:t>
                </a:r>
              </a:p>
            </p:txBody>
          </p:sp>
          <p:sp>
            <p:nvSpPr>
              <p:cNvPr id="44" name="TextBox 44"/>
              <p:cNvSpPr txBox="1"/>
              <p:nvPr/>
            </p:nvSpPr>
            <p:spPr>
              <a:xfrm>
                <a:off x="6464618" y="3133249"/>
                <a:ext cx="1045393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1D1D1F"/>
                    </a:solidFill>
                    <a:latin typeface="Arial"/>
                    <a:ea typeface="Microsoft YaHei"/>
                    <a:cs typeface="Arial"/>
                  </a:rPr>
                  <a:t>• 移动端交互体验</a:t>
                </a:r>
              </a:p>
            </p:txBody>
          </p:sp>
          <p:sp>
            <p:nvSpPr>
              <p:cNvPr id="45" name="Freeform 45"/>
              <p:cNvSpPr/>
              <p:nvPr/>
            </p:nvSpPr>
            <p:spPr>
              <a:xfrm>
                <a:off x="6477000" y="3552825"/>
                <a:ext cx="22860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171450">
                    <a:moveTo>
                      <a:pt x="0" y="85725"/>
                    </a:moveTo>
                    <a:lnTo>
                      <a:pt x="43998" y="32928"/>
                    </a:lnTo>
                    <a:cubicBezTo>
                      <a:pt x="61385" y="12064"/>
                      <a:pt x="87141" y="0"/>
                      <a:pt x="114300" y="0"/>
                    </a:cubicBezTo>
                    <a:cubicBezTo>
                      <a:pt x="141459" y="0"/>
                      <a:pt x="167215" y="12064"/>
                      <a:pt x="184603" y="32928"/>
                    </a:cubicBezTo>
                    <a:lnTo>
                      <a:pt x="228600" y="85725"/>
                    </a:lnTo>
                    <a:lnTo>
                      <a:pt x="184603" y="138522"/>
                    </a:lnTo>
                    <a:cubicBezTo>
                      <a:pt x="167215" y="159387"/>
                      <a:pt x="141459" y="171450"/>
                      <a:pt x="114300" y="171450"/>
                    </a:cubicBezTo>
                    <a:cubicBezTo>
                      <a:pt x="87141" y="171450"/>
                      <a:pt x="61385" y="159387"/>
                      <a:pt x="43998" y="138522"/>
                    </a:cubicBezTo>
                    <a:lnTo>
                      <a:pt x="0" y="85725"/>
                    </a:lnTo>
                    <a:close/>
                    <a:moveTo>
                      <a:pt x="114300" y="128588"/>
                    </a:moveTo>
                    <a:cubicBezTo>
                      <a:pt x="137972" y="128588"/>
                      <a:pt x="157162" y="109397"/>
                      <a:pt x="157162" y="85725"/>
                    </a:cubicBezTo>
                    <a:cubicBezTo>
                      <a:pt x="157162" y="62053"/>
                      <a:pt x="137972" y="42862"/>
                      <a:pt x="114300" y="42862"/>
                    </a:cubicBezTo>
                    <a:cubicBezTo>
                      <a:pt x="90628" y="42862"/>
                      <a:pt x="71438" y="62053"/>
                      <a:pt x="71438" y="85725"/>
                    </a:cubicBezTo>
                    <a:cubicBezTo>
                      <a:pt x="71438" y="109397"/>
                      <a:pt x="90628" y="128588"/>
                      <a:pt x="114300" y="128588"/>
                    </a:cubicBezTo>
                    <a:close/>
                  </a:path>
                </a:pathLst>
              </a:custGeom>
              <a:solidFill>
                <a:srgbClr val="00897B"/>
              </a:solidFill>
              <a:ln>
                <a:noFill/>
              </a:ln>
            </p:spPr>
          </p:sp>
          <p:sp>
            <p:nvSpPr>
              <p:cNvPr id="46" name="TextBox 46"/>
              <p:cNvSpPr txBox="1"/>
              <p:nvPr/>
            </p:nvSpPr>
            <p:spPr>
              <a:xfrm>
                <a:off x="6797040" y="3572828"/>
                <a:ext cx="614744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00695C"/>
                    </a:solidFill>
                    <a:latin typeface="Arial"/>
                    <a:ea typeface="Microsoft YaHei"/>
                    <a:cs typeface="Arial"/>
                  </a:rPr>
                  <a:t>页面功能</a:t>
                </a:r>
              </a:p>
            </p:txBody>
          </p:sp>
          <p:sp>
            <p:nvSpPr>
              <p:cNvPr id="47" name="TextBox 47"/>
              <p:cNvSpPr txBox="1"/>
              <p:nvPr/>
            </p:nvSpPr>
            <p:spPr>
              <a:xfrm>
                <a:off x="6465570" y="3855720"/>
                <a:ext cx="844963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• 首页房源展示</a:t>
                </a:r>
              </a:p>
            </p:txBody>
          </p:sp>
          <p:sp>
            <p:nvSpPr>
              <p:cNvPr id="48" name="TextBox 48"/>
              <p:cNvSpPr txBox="1"/>
              <p:nvPr/>
            </p:nvSpPr>
            <p:spPr>
              <a:xfrm>
                <a:off x="6465570" y="4074795"/>
                <a:ext cx="844963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• 图片轮播组件</a:t>
                </a:r>
              </a:p>
            </p:txBody>
          </p:sp>
          <p:sp>
            <p:nvSpPr>
              <p:cNvPr id="49" name="TextBox 49"/>
              <p:cNvSpPr txBox="1"/>
              <p:nvPr/>
            </p:nvSpPr>
            <p:spPr>
              <a:xfrm>
                <a:off x="6465570" y="4293870"/>
                <a:ext cx="844963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• 上拉加载更多</a:t>
                </a:r>
              </a:p>
            </p:txBody>
          </p:sp>
          <p:sp>
            <p:nvSpPr>
              <p:cNvPr id="50" name="TextBox 50"/>
              <p:cNvSpPr txBox="1"/>
              <p:nvPr/>
            </p:nvSpPr>
            <p:spPr>
              <a:xfrm>
                <a:off x="6465570" y="4512945"/>
                <a:ext cx="844963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• 预约交互流程</a:t>
                </a:r>
              </a:p>
            </p:txBody>
          </p:sp>
        </p:grpSp>
      </p:grpSp>
      <p:grpSp>
        <p:nvGrpSpPr>
          <p:cNvPr id="56" name="Group 56"/>
          <p:cNvGrpSpPr/>
          <p:nvPr/>
        </p:nvGrpSpPr>
        <p:grpSpPr>
          <a:xfrm>
            <a:off x="750570" y="6477000"/>
            <a:ext cx="10690860" cy="257175"/>
            <a:chOff x="750570" y="6477000"/>
            <a:chExt cx="10690860" cy="257175"/>
          </a:xfrm>
        </p:grpSpPr>
        <p:sp>
          <p:nvSpPr>
            <p:cNvPr id="53" name="Line 53"/>
            <p:cNvSpPr/>
            <p:nvPr/>
          </p:nvSpPr>
          <p:spPr>
            <a:xfrm>
              <a:off x="762000" y="6477000"/>
              <a:ext cx="10668000" cy="9525"/>
            </a:xfrm>
            <a:custGeom>
              <a:avLst/>
              <a:gdLst/>
              <a:ahLst/>
              <a:cxnLst/>
              <a:rect l="l" t="t" r="r" b="b"/>
              <a:pathLst>
                <a:path w="10668000" h="9525">
                  <a:moveTo>
                    <a:pt x="0" y="0"/>
                  </a:moveTo>
                  <a:lnTo>
                    <a:pt x="10668000" y="0"/>
                  </a:lnTo>
                </a:path>
              </a:pathLst>
            </a:custGeom>
            <a:noFill/>
            <a:ln w="9525">
              <a:solidFill>
                <a:srgbClr val="E5E7EB"/>
              </a:solidFill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750570" y="6551295"/>
              <a:ext cx="74295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CA3AF"/>
                  </a:solidFill>
                  <a:latin typeface="Arial"/>
                  <a:ea typeface="Microsoft YaHei"/>
                  <a:cs typeface="Arial"/>
                </a:rPr>
                <a:t>房屋租赁系统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11016520" y="6551295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9CA3AF"/>
                  </a:solidFill>
                  <a:latin typeface="Arial"/>
                  <a:ea typeface="Microsoft YaHei"/>
                  <a:cs typeface="Arial"/>
                </a:rPr>
                <a:t>16 / 21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4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762000" y="533400"/>
            <a:ext cx="10668000" cy="476250"/>
            <a:chOff x="762000" y="533400"/>
            <a:chExt cx="10668000" cy="476250"/>
          </a:xfrm>
        </p:grpSpPr>
        <p:sp>
          <p:nvSpPr>
            <p:cNvPr id="3" name="Rectangle 3"/>
            <p:cNvSpPr/>
            <p:nvPr/>
          </p:nvSpPr>
          <p:spPr>
            <a:xfrm>
              <a:off x="762000" y="533400"/>
              <a:ext cx="38100" cy="323850"/>
            </a:xfrm>
            <a:prstGeom prst="roundRect">
              <a:avLst>
                <a:gd name="adj" fmla="val 50000"/>
              </a:avLst>
            </a:prstGeom>
            <a:solidFill>
              <a:srgbClr val="00897B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925830" y="554355"/>
              <a:ext cx="1229487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1D1D1F"/>
                  </a:solidFill>
                  <a:latin typeface="Arial"/>
                  <a:ea typeface="Microsoft YaHei"/>
                  <a:cs typeface="Arial"/>
                </a:rPr>
                <a:t>软件测试</a:t>
              </a:r>
            </a:p>
          </p:txBody>
        </p:sp>
        <p:sp>
          <p:nvSpPr>
            <p:cNvPr id="5" name="Line 5"/>
            <p:cNvSpPr/>
            <p:nvPr/>
          </p:nvSpPr>
          <p:spPr>
            <a:xfrm>
              <a:off x="762000" y="1000125"/>
              <a:ext cx="10668000" cy="9525"/>
            </a:xfrm>
            <a:custGeom>
              <a:avLst/>
              <a:gdLst/>
              <a:ahLst/>
              <a:cxnLst/>
              <a:rect l="l" t="t" r="r" b="b"/>
              <a:pathLst>
                <a:path w="10668000" h="9525">
                  <a:moveTo>
                    <a:pt x="0" y="0"/>
                  </a:moveTo>
                  <a:lnTo>
                    <a:pt x="10668000" y="0"/>
                  </a:lnTo>
                </a:path>
              </a:pathLst>
            </a:custGeom>
            <a:noFill/>
            <a:ln w="14288">
              <a:solidFill>
                <a:srgbClr val="E5E7EB"/>
              </a:solidFill>
            </a:ln>
          </p:spPr>
        </p:sp>
      </p:grpSp>
      <p:grpSp>
        <p:nvGrpSpPr>
          <p:cNvPr id="46" name="Group 46"/>
          <p:cNvGrpSpPr/>
          <p:nvPr/>
        </p:nvGrpSpPr>
        <p:grpSpPr>
          <a:xfrm>
            <a:off x="746760" y="1280160"/>
            <a:ext cx="10683240" cy="5006340"/>
            <a:chOff x="746760" y="1280160"/>
            <a:chExt cx="10683240" cy="5006340"/>
          </a:xfrm>
        </p:grpSpPr>
        <p:grpSp>
          <p:nvGrpSpPr>
            <p:cNvPr id="16" name="Group 16"/>
            <p:cNvGrpSpPr/>
            <p:nvPr/>
          </p:nvGrpSpPr>
          <p:grpSpPr>
            <a:xfrm>
              <a:off x="746760" y="1280160"/>
              <a:ext cx="5158740" cy="2625090"/>
              <a:chOff x="746760" y="1280160"/>
              <a:chExt cx="5158740" cy="2625090"/>
            </a:xfrm>
          </p:grpSpPr>
          <p:sp>
            <p:nvSpPr>
              <p:cNvPr id="7" name="TextBox 7"/>
              <p:cNvSpPr txBox="1"/>
              <p:nvPr/>
            </p:nvSpPr>
            <p:spPr>
              <a:xfrm>
                <a:off x="746760" y="1280160"/>
                <a:ext cx="702564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00897B"/>
                    </a:solidFill>
                    <a:latin typeface="Arial"/>
                    <a:ea typeface="Microsoft YaHei"/>
                    <a:cs typeface="Arial"/>
                  </a:rPr>
                  <a:t>白盒测试</a:t>
                </a:r>
              </a:p>
            </p:txBody>
          </p:sp>
          <p:sp>
            <p:nvSpPr>
              <p:cNvPr id="8" name="Rectangle 8"/>
              <p:cNvSpPr/>
              <p:nvPr/>
            </p:nvSpPr>
            <p:spPr>
              <a:xfrm>
                <a:off x="762000" y="1524000"/>
                <a:ext cx="5143500" cy="2381250"/>
              </a:xfrm>
              <a:prstGeom prst="roundRect">
                <a:avLst>
                  <a:gd name="adj" fmla="val 4000"/>
                </a:avLst>
              </a:prstGeom>
              <a:solidFill>
                <a:srgbClr val="FFFFFF"/>
              </a:solidFill>
              <a:ln w="9525">
                <a:solidFill>
                  <a:srgbClr val="E5E7EB"/>
                </a:solidFill>
              </a:ln>
            </p:spPr>
          </p:sp>
          <p:sp>
            <p:nvSpPr>
              <p:cNvPr id="9" name="Rectangle 9"/>
              <p:cNvSpPr/>
              <p:nvPr/>
            </p:nvSpPr>
            <p:spPr>
              <a:xfrm>
                <a:off x="952500" y="1714500"/>
                <a:ext cx="4762500" cy="333375"/>
              </a:xfrm>
              <a:prstGeom prst="roundRect">
                <a:avLst>
                  <a:gd name="adj" fmla="val 17143"/>
                </a:avLst>
              </a:prstGeom>
              <a:solidFill>
                <a:srgbClr val="E8F5E9"/>
              </a:solidFill>
              <a:ln>
                <a:noFill/>
              </a:ln>
            </p:spPr>
          </p:sp>
          <p:sp>
            <p:nvSpPr>
              <p:cNvPr id="10" name="TextBox 10"/>
              <p:cNvSpPr txBox="1"/>
              <p:nvPr/>
            </p:nvSpPr>
            <p:spPr>
              <a:xfrm>
                <a:off x="2519330" y="1828324"/>
                <a:ext cx="1628840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b="1" dirty="0">
                    <a:solidFill>
                      <a:srgbClr val="2E7D32"/>
                    </a:solidFill>
                    <a:latin typeface="Arial"/>
                    <a:ea typeface="Microsoft YaHei"/>
                    <a:cs typeface="Arial"/>
                  </a:rPr>
                  <a:t>JUnit + Mockito 单元测试</a:t>
                </a:r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941070" y="2188845"/>
                <a:ext cx="1469041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1D1D1F"/>
                    </a:solidFill>
                    <a:latin typeface="Arial"/>
                    <a:ea typeface="Microsoft YaHei"/>
                    <a:cs typeface="Arial"/>
                  </a:rPr>
                  <a:t>• 覆盖核心 Service 层方法</a:t>
                </a: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941070" y="2426970"/>
                <a:ext cx="1985105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1D1D1F"/>
                    </a:solidFill>
                    <a:latin typeface="Arial"/>
                    <a:ea typeface="Microsoft YaHei"/>
                    <a:cs typeface="Arial"/>
                  </a:rPr>
                  <a:t>• 分支覆盖：if-else / switch-case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941070" y="2665095"/>
                <a:ext cx="1823085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1D1D1F"/>
                    </a:solidFill>
                    <a:latin typeface="Arial"/>
                    <a:ea typeface="Microsoft YaHei"/>
                    <a:cs typeface="Arial"/>
                  </a:rPr>
                  <a:t>• 边界值：字符串长度 / 数值范围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941070" y="2903220"/>
                <a:ext cx="1583055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1D1D1F"/>
                    </a:solidFill>
                    <a:latin typeface="Arial"/>
                    <a:ea typeface="Microsoft YaHei"/>
                    <a:cs typeface="Arial"/>
                  </a:rPr>
                  <a:t>• 循环覆盖：正常 / 异常退出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941070" y="3141345"/>
                <a:ext cx="1967103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1D1D1F"/>
                    </a:solidFill>
                    <a:latin typeface="Arial"/>
                    <a:ea typeface="Microsoft YaHei"/>
                    <a:cs typeface="Arial"/>
                  </a:rPr>
                  <a:t>• Mock 外部依赖（数据库 / Redis）</a:t>
                </a:r>
              </a:p>
            </p:txBody>
          </p:sp>
        </p:grpSp>
        <p:grpSp>
          <p:nvGrpSpPr>
            <p:cNvPr id="26" name="Group 26"/>
            <p:cNvGrpSpPr/>
            <p:nvPr/>
          </p:nvGrpSpPr>
          <p:grpSpPr>
            <a:xfrm>
              <a:off x="6271260" y="1280160"/>
              <a:ext cx="5158740" cy="2625090"/>
              <a:chOff x="6271260" y="1280160"/>
              <a:chExt cx="5158740" cy="2625090"/>
            </a:xfrm>
          </p:grpSpPr>
          <p:sp>
            <p:nvSpPr>
              <p:cNvPr id="17" name="TextBox 17"/>
              <p:cNvSpPr txBox="1"/>
              <p:nvPr/>
            </p:nvSpPr>
            <p:spPr>
              <a:xfrm>
                <a:off x="6271260" y="1280160"/>
                <a:ext cx="702564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00897B"/>
                    </a:solidFill>
                    <a:latin typeface="Arial"/>
                    <a:ea typeface="Microsoft YaHei"/>
                    <a:cs typeface="Arial"/>
                  </a:rPr>
                  <a:t>黑盒测试</a:t>
                </a:r>
              </a:p>
            </p:txBody>
          </p:sp>
          <p:sp>
            <p:nvSpPr>
              <p:cNvPr id="18" name="Rectangle 18"/>
              <p:cNvSpPr/>
              <p:nvPr/>
            </p:nvSpPr>
            <p:spPr>
              <a:xfrm>
                <a:off x="6286500" y="1524000"/>
                <a:ext cx="5143500" cy="2381250"/>
              </a:xfrm>
              <a:prstGeom prst="roundRect">
                <a:avLst>
                  <a:gd name="adj" fmla="val 4000"/>
                </a:avLst>
              </a:prstGeom>
              <a:solidFill>
                <a:srgbClr val="FFFFFF"/>
              </a:solidFill>
              <a:ln w="9525">
                <a:solidFill>
                  <a:srgbClr val="E5E7EB"/>
                </a:solidFill>
              </a:ln>
            </p:spPr>
          </p:sp>
          <p:sp>
            <p:nvSpPr>
              <p:cNvPr id="19" name="Rectangle 19"/>
              <p:cNvSpPr/>
              <p:nvPr/>
            </p:nvSpPr>
            <p:spPr>
              <a:xfrm>
                <a:off x="6477000" y="1714500"/>
                <a:ext cx="4762500" cy="333375"/>
              </a:xfrm>
              <a:prstGeom prst="roundRect">
                <a:avLst>
                  <a:gd name="adj" fmla="val 17143"/>
                </a:avLst>
              </a:prstGeom>
              <a:solidFill>
                <a:srgbClr val="E3F2FD"/>
              </a:solidFill>
              <a:ln>
                <a:noFill/>
              </a:ln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8084785" y="1828324"/>
                <a:ext cx="1546930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b="1" dirty="0">
                    <a:solidFill>
                      <a:srgbClr val="00897B"/>
                    </a:solidFill>
                    <a:latin typeface="Arial"/>
                    <a:ea typeface="Microsoft YaHei"/>
                    <a:cs typeface="Arial"/>
                  </a:rPr>
                  <a:t>等价类划分 + 边界值分析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6465570" y="2188845"/>
                <a:ext cx="1823085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1D1D1F"/>
                    </a:solidFill>
                    <a:latin typeface="Arial"/>
                    <a:ea typeface="Microsoft YaHei"/>
                    <a:cs typeface="Arial"/>
                  </a:rPr>
                  <a:t>• 前端页面测试：租金筛选 / 搜索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6465570" y="2426970"/>
                <a:ext cx="1847088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1D1D1F"/>
                    </a:solidFill>
                    <a:latin typeface="Arial"/>
                    <a:ea typeface="Microsoft YaHei"/>
                    <a:cs typeface="Arial"/>
                  </a:rPr>
                  <a:t>• 接口测试：CRUD / 预约状态迁移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6465570" y="2665095"/>
                <a:ext cx="1883093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1D1D1F"/>
                    </a:solidFill>
                    <a:latin typeface="Arial"/>
                    <a:ea typeface="Microsoft YaHei"/>
                    <a:cs typeface="Arial"/>
                  </a:rPr>
                  <a:t>• 业务流程：找房→预约→看房→签约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6465570" y="2903220"/>
                <a:ext cx="1703070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1D1D1F"/>
                    </a:solidFill>
                    <a:latin typeface="Arial"/>
                    <a:ea typeface="Microsoft YaHei"/>
                    <a:cs typeface="Arial"/>
                  </a:rPr>
                  <a:t>• 异常场景：无权限 / 参数缺失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6465570" y="3141345"/>
                <a:ext cx="1667065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1D1D1F"/>
                    </a:solidFill>
                    <a:latin typeface="Arial"/>
                    <a:ea typeface="Microsoft YaHei"/>
                    <a:cs typeface="Arial"/>
                  </a:rPr>
                  <a:t>• 兼容性测试：Chrome / Edge</a:t>
                </a:r>
              </a:p>
            </p:txBody>
          </p:sp>
        </p:grpSp>
        <p:grpSp>
          <p:nvGrpSpPr>
            <p:cNvPr id="45" name="Group 45"/>
            <p:cNvGrpSpPr/>
            <p:nvPr/>
          </p:nvGrpSpPr>
          <p:grpSpPr>
            <a:xfrm>
              <a:off x="746760" y="4042410"/>
              <a:ext cx="10683240" cy="2244090"/>
              <a:chOff x="746760" y="4042410"/>
              <a:chExt cx="10683240" cy="2244090"/>
            </a:xfrm>
          </p:grpSpPr>
          <p:sp>
            <p:nvSpPr>
              <p:cNvPr id="27" name="TextBox 27"/>
              <p:cNvSpPr txBox="1"/>
              <p:nvPr/>
            </p:nvSpPr>
            <p:spPr>
              <a:xfrm>
                <a:off x="746760" y="4042410"/>
                <a:ext cx="702564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00897B"/>
                    </a:solidFill>
                    <a:latin typeface="Arial"/>
                    <a:ea typeface="Microsoft YaHei"/>
                    <a:cs typeface="Arial"/>
                  </a:rPr>
                  <a:t>测试策略</a:t>
                </a:r>
              </a:p>
            </p:txBody>
          </p:sp>
          <p:sp>
            <p:nvSpPr>
              <p:cNvPr id="28" name="Rectangle 28"/>
              <p:cNvSpPr/>
              <p:nvPr/>
            </p:nvSpPr>
            <p:spPr>
              <a:xfrm>
                <a:off x="762000" y="4286250"/>
                <a:ext cx="10668000" cy="2000250"/>
              </a:xfrm>
              <a:prstGeom prst="roundRect">
                <a:avLst>
                  <a:gd name="adj" fmla="val 4762"/>
                </a:avLst>
              </a:prstGeom>
              <a:solidFill>
                <a:srgbClr val="F0F7F4"/>
              </a:solidFill>
              <a:ln>
                <a:noFill/>
              </a:ln>
            </p:spPr>
          </p:sp>
          <p:sp>
            <p:nvSpPr>
              <p:cNvPr id="29" name="Rectangle 29"/>
              <p:cNvSpPr/>
              <p:nvPr/>
            </p:nvSpPr>
            <p:spPr>
              <a:xfrm>
                <a:off x="952500" y="4476750"/>
                <a:ext cx="2381250" cy="762000"/>
              </a:xfrm>
              <a:prstGeom prst="roundRect">
                <a:avLst>
                  <a:gd name="adj" fmla="val 10000"/>
                </a:avLst>
              </a:pr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30" name="TextBox 30"/>
              <p:cNvSpPr txBox="1"/>
              <p:nvPr/>
            </p:nvSpPr>
            <p:spPr>
              <a:xfrm>
                <a:off x="1789450" y="4638199"/>
                <a:ext cx="707350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b="1" dirty="0">
                    <a:solidFill>
                      <a:srgbClr val="00897B"/>
                    </a:solidFill>
                    <a:latin typeface="Arial"/>
                    <a:ea typeface="Microsoft YaHei"/>
                    <a:cs typeface="Arial"/>
                  </a:rPr>
                  <a:t>单元测试层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1643086" y="4911566"/>
                <a:ext cx="1000077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5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Service 方法级验证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1764101" y="5073491"/>
                <a:ext cx="758047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5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Mock 外部依赖</a:t>
                </a:r>
              </a:p>
            </p:txBody>
          </p:sp>
          <p:sp>
            <p:nvSpPr>
              <p:cNvPr id="33" name="Rectangle 33"/>
              <p:cNvSpPr/>
              <p:nvPr/>
            </p:nvSpPr>
            <p:spPr>
              <a:xfrm>
                <a:off x="3524250" y="4476750"/>
                <a:ext cx="2381250" cy="762000"/>
              </a:xfrm>
              <a:prstGeom prst="roundRect">
                <a:avLst>
                  <a:gd name="adj" fmla="val 10000"/>
                </a:avLst>
              </a:pr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34" name="TextBox 34"/>
              <p:cNvSpPr txBox="1"/>
              <p:nvPr/>
            </p:nvSpPr>
            <p:spPr>
              <a:xfrm>
                <a:off x="4361200" y="4638199"/>
                <a:ext cx="707350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b="1" dirty="0">
                    <a:solidFill>
                      <a:srgbClr val="00897B"/>
                    </a:solidFill>
                    <a:latin typeface="Arial"/>
                    <a:ea typeface="Microsoft YaHei"/>
                    <a:cs typeface="Arial"/>
                  </a:rPr>
                  <a:t>接口测试层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4250591" y="4911566"/>
                <a:ext cx="928568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5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API 请求/响应验证</a:t>
                </a:r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4289096" y="5073491"/>
                <a:ext cx="851559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5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状态码/数据验证</a:t>
                </a:r>
              </a:p>
            </p:txBody>
          </p:sp>
          <p:sp>
            <p:nvSpPr>
              <p:cNvPr id="37" name="Rectangle 37"/>
              <p:cNvSpPr/>
              <p:nvPr/>
            </p:nvSpPr>
            <p:spPr>
              <a:xfrm>
                <a:off x="6096000" y="4476750"/>
                <a:ext cx="2381250" cy="762000"/>
              </a:xfrm>
              <a:prstGeom prst="roundRect">
                <a:avLst>
                  <a:gd name="adj" fmla="val 10000"/>
                </a:avLst>
              </a:pr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38" name="TextBox 38"/>
              <p:cNvSpPr txBox="1"/>
              <p:nvPr/>
            </p:nvSpPr>
            <p:spPr>
              <a:xfrm>
                <a:off x="6932950" y="4638199"/>
                <a:ext cx="707350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b="1" dirty="0">
                    <a:solidFill>
                      <a:srgbClr val="00897B"/>
                    </a:solidFill>
                    <a:latin typeface="Arial"/>
                    <a:ea typeface="Microsoft YaHei"/>
                    <a:cs typeface="Arial"/>
                  </a:rPr>
                  <a:t>集成测试层</a:t>
                </a:r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6891099" y="4911566"/>
                <a:ext cx="791051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5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端到端业务流程</a:t>
                </a:r>
              </a:p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7001113" y="5073491"/>
                <a:ext cx="571024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5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前后端联调</a:t>
                </a:r>
              </a:p>
            </p:txBody>
          </p:sp>
          <p:sp>
            <p:nvSpPr>
              <p:cNvPr id="41" name="Rectangle 41"/>
              <p:cNvSpPr/>
              <p:nvPr/>
            </p:nvSpPr>
            <p:spPr>
              <a:xfrm>
                <a:off x="8667750" y="4476750"/>
                <a:ext cx="2571750" cy="762000"/>
              </a:xfrm>
              <a:prstGeom prst="roundRect">
                <a:avLst>
                  <a:gd name="adj" fmla="val 10000"/>
                </a:avLst>
              </a:pr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42" name="TextBox 42"/>
              <p:cNvSpPr txBox="1"/>
              <p:nvPr/>
            </p:nvSpPr>
            <p:spPr>
              <a:xfrm>
                <a:off x="9599950" y="4638199"/>
                <a:ext cx="707350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b="1" dirty="0">
                    <a:solidFill>
                      <a:srgbClr val="00897B"/>
                    </a:solidFill>
                    <a:latin typeface="Arial"/>
                    <a:ea typeface="Microsoft YaHei"/>
                    <a:cs typeface="Arial"/>
                  </a:rPr>
                  <a:t>验收测试层</a:t>
                </a:r>
              </a:p>
            </p:txBody>
          </p:sp>
          <p:sp>
            <p:nvSpPr>
              <p:cNvPr id="43" name="TextBox 43"/>
              <p:cNvSpPr txBox="1"/>
              <p:nvPr/>
            </p:nvSpPr>
            <p:spPr>
              <a:xfrm>
                <a:off x="9558099" y="4911566"/>
                <a:ext cx="791051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5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需求覆盖度检查</a:t>
                </a:r>
              </a:p>
            </p:txBody>
          </p:sp>
          <p:sp>
            <p:nvSpPr>
              <p:cNvPr id="44" name="TextBox 44"/>
              <p:cNvSpPr txBox="1"/>
              <p:nvPr/>
            </p:nvSpPr>
            <p:spPr>
              <a:xfrm>
                <a:off x="9659862" y="5073491"/>
                <a:ext cx="587526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5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UI 走查评审</a:t>
                </a:r>
              </a:p>
            </p:txBody>
          </p:sp>
        </p:grpSp>
      </p:grpSp>
      <p:grpSp>
        <p:nvGrpSpPr>
          <p:cNvPr id="50" name="Group 50"/>
          <p:cNvGrpSpPr/>
          <p:nvPr/>
        </p:nvGrpSpPr>
        <p:grpSpPr>
          <a:xfrm>
            <a:off x="750570" y="6477000"/>
            <a:ext cx="10690860" cy="257175"/>
            <a:chOff x="750570" y="6477000"/>
            <a:chExt cx="10690860" cy="257175"/>
          </a:xfrm>
        </p:grpSpPr>
        <p:sp>
          <p:nvSpPr>
            <p:cNvPr id="47" name="Line 47"/>
            <p:cNvSpPr/>
            <p:nvPr/>
          </p:nvSpPr>
          <p:spPr>
            <a:xfrm>
              <a:off x="762000" y="6477000"/>
              <a:ext cx="10668000" cy="9525"/>
            </a:xfrm>
            <a:custGeom>
              <a:avLst/>
              <a:gdLst/>
              <a:ahLst/>
              <a:cxnLst/>
              <a:rect l="l" t="t" r="r" b="b"/>
              <a:pathLst>
                <a:path w="10668000" h="9525">
                  <a:moveTo>
                    <a:pt x="0" y="0"/>
                  </a:moveTo>
                  <a:lnTo>
                    <a:pt x="10668000" y="0"/>
                  </a:lnTo>
                </a:path>
              </a:pathLst>
            </a:custGeom>
            <a:noFill/>
            <a:ln w="9525">
              <a:solidFill>
                <a:srgbClr val="E5E7EB"/>
              </a:solidFill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750570" y="6551295"/>
              <a:ext cx="74295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CA3AF"/>
                  </a:solidFill>
                  <a:latin typeface="Arial"/>
                  <a:ea typeface="Microsoft YaHei"/>
                  <a:cs typeface="Arial"/>
                </a:rPr>
                <a:t>房屋租赁系统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11016520" y="6551295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9CA3AF"/>
                  </a:solidFill>
                  <a:latin typeface="Arial"/>
                  <a:ea typeface="Microsoft YaHei"/>
                  <a:cs typeface="Arial"/>
                </a:rPr>
                <a:t>17 / 21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7" dur="4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0897B">
                  <a:alpha val="4000"/>
                </a:srgbClr>
              </a:gs>
              <a:gs pos="100000">
                <a:srgbClr val="00897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762000" y="533400"/>
            <a:ext cx="10668000" cy="476250"/>
            <a:chOff x="762000" y="533400"/>
            <a:chExt cx="10668000" cy="476250"/>
          </a:xfrm>
        </p:grpSpPr>
        <p:sp>
          <p:nvSpPr>
            <p:cNvPr id="4" name="Rectangle 4"/>
            <p:cNvSpPr/>
            <p:nvPr/>
          </p:nvSpPr>
          <p:spPr>
            <a:xfrm>
              <a:off x="762000" y="533400"/>
              <a:ext cx="38100" cy="323850"/>
            </a:xfrm>
            <a:prstGeom prst="roundRect">
              <a:avLst>
                <a:gd name="adj" fmla="val 50000"/>
              </a:avLst>
            </a:prstGeom>
            <a:solidFill>
              <a:srgbClr val="00897B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925830" y="554355"/>
              <a:ext cx="1229487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1D1D1F"/>
                  </a:solidFill>
                  <a:latin typeface="Arial"/>
                  <a:ea typeface="Microsoft YaHei"/>
                  <a:cs typeface="Arial"/>
                </a:rPr>
                <a:t>项目管理</a:t>
              </a:r>
            </a:p>
          </p:txBody>
        </p:sp>
        <p:sp>
          <p:nvSpPr>
            <p:cNvPr id="6" name="Line 6"/>
            <p:cNvSpPr/>
            <p:nvPr/>
          </p:nvSpPr>
          <p:spPr>
            <a:xfrm>
              <a:off x="762000" y="1000125"/>
              <a:ext cx="10668000" cy="9525"/>
            </a:xfrm>
            <a:custGeom>
              <a:avLst/>
              <a:gdLst/>
              <a:ahLst/>
              <a:cxnLst/>
              <a:rect l="l" t="t" r="r" b="b"/>
              <a:pathLst>
                <a:path w="10668000" h="9525">
                  <a:moveTo>
                    <a:pt x="0" y="0"/>
                  </a:moveTo>
                  <a:lnTo>
                    <a:pt x="10668000" y="0"/>
                  </a:lnTo>
                </a:path>
              </a:pathLst>
            </a:custGeom>
            <a:noFill/>
            <a:ln w="14288">
              <a:solidFill>
                <a:srgbClr val="E5E7EB"/>
              </a:solidFill>
            </a:ln>
          </p:spPr>
        </p:sp>
      </p:grpSp>
      <p:grpSp>
        <p:nvGrpSpPr>
          <p:cNvPr id="27" name="Group 27"/>
          <p:cNvGrpSpPr/>
          <p:nvPr/>
        </p:nvGrpSpPr>
        <p:grpSpPr>
          <a:xfrm>
            <a:off x="762000" y="1238250"/>
            <a:ext cx="10668000" cy="4857750"/>
            <a:chOff x="762000" y="1238250"/>
            <a:chExt cx="10668000" cy="4857750"/>
          </a:xfrm>
        </p:grpSpPr>
        <p:grpSp>
          <p:nvGrpSpPr>
            <p:cNvPr id="10" name="Group 10"/>
            <p:cNvGrpSpPr/>
            <p:nvPr/>
          </p:nvGrpSpPr>
          <p:grpSpPr>
            <a:xfrm>
              <a:off x="762000" y="1238250"/>
              <a:ext cx="7239000" cy="4857750"/>
              <a:chOff x="762000" y="1238250"/>
              <a:chExt cx="7239000" cy="4857750"/>
            </a:xfrm>
          </p:grpSpPr>
          <p:sp>
            <p:nvSpPr>
              <p:cNvPr id="8" name="Rectangle 8"/>
              <p:cNvSpPr/>
              <p:nvPr/>
            </p:nvSpPr>
            <p:spPr>
              <a:xfrm>
                <a:off x="762000" y="1238250"/>
                <a:ext cx="7239000" cy="4857750"/>
              </a:xfrm>
              <a:prstGeom prst="roundRect">
                <a:avLst>
                  <a:gd name="adj" fmla="val 2353"/>
                </a:avLst>
              </a:prstGeom>
              <a:solidFill>
                <a:srgbClr val="F0F7F4"/>
              </a:solidFill>
              <a:ln>
                <a:noFill/>
              </a:ln>
            </p:spPr>
          </p:sp>
          <p:pic>
            <p:nvPicPr>
              <p:cNvPr id="9" name="Image 9"/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904875" y="1493550"/>
                <a:ext cx="6953250" cy="4347150"/>
              </a:xfrm>
              <a:prstGeom prst="rect">
                <a:avLst/>
              </a:prstGeom>
            </p:spPr>
          </p:pic>
        </p:grpSp>
        <p:grpSp>
          <p:nvGrpSpPr>
            <p:cNvPr id="18" name="Group 18"/>
            <p:cNvGrpSpPr/>
            <p:nvPr/>
          </p:nvGrpSpPr>
          <p:grpSpPr>
            <a:xfrm>
              <a:off x="8191500" y="1238250"/>
              <a:ext cx="3238500" cy="2286000"/>
              <a:chOff x="8191500" y="1238250"/>
              <a:chExt cx="3238500" cy="2286000"/>
            </a:xfrm>
          </p:grpSpPr>
          <p:sp>
            <p:nvSpPr>
              <p:cNvPr id="11" name="Rectangle 11"/>
              <p:cNvSpPr/>
              <p:nvPr/>
            </p:nvSpPr>
            <p:spPr>
              <a:xfrm>
                <a:off x="8191500" y="1238250"/>
                <a:ext cx="3238500" cy="2286000"/>
              </a:xfrm>
              <a:prstGeom prst="roundRect">
                <a:avLst>
                  <a:gd name="adj" fmla="val 5000"/>
                </a:avLst>
              </a:prstGeom>
              <a:solidFill>
                <a:srgbClr val="FFFFFF"/>
              </a:solidFill>
              <a:ln w="9525">
                <a:solidFill>
                  <a:srgbClr val="E5E7EB"/>
                </a:solidFill>
              </a:ln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8366760" y="1394460"/>
                <a:ext cx="702564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00897B"/>
                    </a:solidFill>
                    <a:latin typeface="Arial"/>
                    <a:ea typeface="Microsoft YaHei"/>
                    <a:cs typeface="Arial"/>
                  </a:rPr>
                  <a:t>开发周期</a:t>
                </a:r>
              </a:p>
            </p:txBody>
          </p:sp>
          <p:sp>
            <p:nvSpPr>
              <p:cNvPr id="13" name="Freeform 13"/>
              <p:cNvSpPr/>
              <p:nvPr/>
            </p:nvSpPr>
            <p:spPr>
              <a:xfrm>
                <a:off x="8382000" y="1762125"/>
                <a:ext cx="266700" cy="266700"/>
              </a:xfrm>
              <a:custGeom>
                <a:avLst/>
                <a:gdLst/>
                <a:ahLst/>
                <a:cxnLst/>
                <a:rect l="l" t="t" r="r" b="b"/>
                <a:pathLst>
                  <a:path w="266700" h="266700">
                    <a:moveTo>
                      <a:pt x="133350" y="266700"/>
                    </a:moveTo>
                    <a:cubicBezTo>
                      <a:pt x="206998" y="266700"/>
                      <a:pt x="266700" y="206998"/>
                      <a:pt x="266700" y="133350"/>
                    </a:cubicBezTo>
                    <a:cubicBezTo>
                      <a:pt x="266700" y="59703"/>
                      <a:pt x="206998" y="0"/>
                      <a:pt x="133350" y="0"/>
                    </a:cubicBezTo>
                    <a:cubicBezTo>
                      <a:pt x="59703" y="0"/>
                      <a:pt x="0" y="59703"/>
                      <a:pt x="0" y="133350"/>
                    </a:cubicBezTo>
                    <a:cubicBezTo>
                      <a:pt x="0" y="206998"/>
                      <a:pt x="59703" y="266700"/>
                      <a:pt x="133350" y="266700"/>
                    </a:cubicBezTo>
                    <a:close/>
                    <a:moveTo>
                      <a:pt x="116681" y="50006"/>
                    </a:moveTo>
                    <a:lnTo>
                      <a:pt x="116681" y="140254"/>
                    </a:lnTo>
                    <a:lnTo>
                      <a:pt x="171570" y="195143"/>
                    </a:lnTo>
                    <a:lnTo>
                      <a:pt x="195143" y="171570"/>
                    </a:lnTo>
                    <a:lnTo>
                      <a:pt x="150019" y="126446"/>
                    </a:lnTo>
                    <a:lnTo>
                      <a:pt x="150019" y="50006"/>
                    </a:lnTo>
                    <a:lnTo>
                      <a:pt x="116681" y="50006"/>
                    </a:lnTo>
                    <a:close/>
                  </a:path>
                </a:pathLst>
              </a:custGeom>
              <a:solidFill>
                <a:srgbClr val="00897B"/>
              </a:solidFill>
              <a:ln>
                <a:noFill/>
              </a:ln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8694420" y="1774508"/>
                <a:ext cx="596379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rgbClr val="00695C"/>
                    </a:solidFill>
                    <a:latin typeface="Arial"/>
                    <a:ea typeface="Microsoft YaHei"/>
                    <a:cs typeface="Arial"/>
                  </a:rPr>
                  <a:t>14 周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8370570" y="2141220"/>
                <a:ext cx="1463040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增量迭代模型，分阶段交付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8370570" y="2379345"/>
                <a:ext cx="1487043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需求→设计→编码→测试→答辩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8370570" y="2617470"/>
                <a:ext cx="1343025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每个增量形成可运行版本</a:t>
                </a:r>
              </a:p>
            </p:txBody>
          </p:sp>
        </p:grpSp>
        <p:grpSp>
          <p:nvGrpSpPr>
            <p:cNvPr id="26" name="Group 26"/>
            <p:cNvGrpSpPr/>
            <p:nvPr/>
          </p:nvGrpSpPr>
          <p:grpSpPr>
            <a:xfrm>
              <a:off x="8191500" y="3762375"/>
              <a:ext cx="3238500" cy="2333625"/>
              <a:chOff x="8191500" y="3762375"/>
              <a:chExt cx="3238500" cy="2333625"/>
            </a:xfrm>
          </p:grpSpPr>
          <p:sp>
            <p:nvSpPr>
              <p:cNvPr id="19" name="Rectangle 19"/>
              <p:cNvSpPr/>
              <p:nvPr/>
            </p:nvSpPr>
            <p:spPr>
              <a:xfrm>
                <a:off x="8191500" y="3762375"/>
                <a:ext cx="3238500" cy="2333625"/>
              </a:xfrm>
              <a:prstGeom prst="roundRect">
                <a:avLst>
                  <a:gd name="adj" fmla="val 4898"/>
                </a:avLst>
              </a:prstGeom>
              <a:solidFill>
                <a:srgbClr val="F0F7F4"/>
              </a:solidFill>
              <a:ln>
                <a:noFill/>
              </a:ln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8368665" y="3915728"/>
                <a:ext cx="1496854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00897B"/>
                    </a:solidFill>
                    <a:latin typeface="Arial"/>
                    <a:ea typeface="Microsoft YaHei"/>
                    <a:cs typeface="Arial"/>
                  </a:rPr>
                  <a:t>产品报价（课程项目）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8370570" y="4236720"/>
                <a:ext cx="1583055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1D1D1F"/>
                    </a:solidFill>
                    <a:latin typeface="Arial"/>
                    <a:ea typeface="Microsoft YaHei"/>
                    <a:cs typeface="Arial"/>
                  </a:rPr>
                  <a:t>• 基础设施：0 元（Docker）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8370570" y="4474845"/>
                <a:ext cx="1427036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1D1D1F"/>
                    </a:solidFill>
                    <a:latin typeface="Arial"/>
                    <a:ea typeface="Microsoft YaHei"/>
                    <a:cs typeface="Arial"/>
                  </a:rPr>
                  <a:t>• 开发工具：0 元（开源）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8370570" y="4712970"/>
                <a:ext cx="1427036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1D1D1F"/>
                    </a:solidFill>
                    <a:latin typeface="Arial"/>
                    <a:ea typeface="Microsoft YaHei"/>
                    <a:cs typeface="Arial"/>
                  </a:rPr>
                  <a:t>• 部署成本：0 元（本地）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8370570" y="4998720"/>
                <a:ext cx="1102995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以学习和演示为目标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8370570" y="5189220"/>
                <a:ext cx="1499044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Apache 2.0 / MIT 开源许可</a:t>
                </a:r>
              </a:p>
            </p:txBody>
          </p:sp>
        </p:grpSp>
      </p:grpSp>
      <p:grpSp>
        <p:nvGrpSpPr>
          <p:cNvPr id="31" name="Group 31"/>
          <p:cNvGrpSpPr/>
          <p:nvPr/>
        </p:nvGrpSpPr>
        <p:grpSpPr>
          <a:xfrm>
            <a:off x="750570" y="6477000"/>
            <a:ext cx="10690860" cy="257175"/>
            <a:chOff x="750570" y="6477000"/>
            <a:chExt cx="10690860" cy="257175"/>
          </a:xfrm>
        </p:grpSpPr>
        <p:sp>
          <p:nvSpPr>
            <p:cNvPr id="28" name="Line 28"/>
            <p:cNvSpPr/>
            <p:nvPr/>
          </p:nvSpPr>
          <p:spPr>
            <a:xfrm>
              <a:off x="762000" y="6477000"/>
              <a:ext cx="10668000" cy="9525"/>
            </a:xfrm>
            <a:custGeom>
              <a:avLst/>
              <a:gdLst/>
              <a:ahLst/>
              <a:cxnLst/>
              <a:rect l="l" t="t" r="r" b="b"/>
              <a:pathLst>
                <a:path w="10668000" h="9525">
                  <a:moveTo>
                    <a:pt x="0" y="0"/>
                  </a:moveTo>
                  <a:lnTo>
                    <a:pt x="10668000" y="0"/>
                  </a:lnTo>
                </a:path>
              </a:pathLst>
            </a:custGeom>
            <a:noFill/>
            <a:ln w="9525">
              <a:solidFill>
                <a:srgbClr val="E5E7EB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750570" y="6551295"/>
              <a:ext cx="74295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CA3AF"/>
                  </a:solidFill>
                  <a:latin typeface="Arial"/>
                  <a:ea typeface="Microsoft YaHei"/>
                  <a:cs typeface="Arial"/>
                </a:rPr>
                <a:t>房屋租赁系统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1016520" y="6551295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9CA3AF"/>
                  </a:solidFill>
                  <a:latin typeface="Arial"/>
                  <a:ea typeface="Microsoft YaHei"/>
                  <a:cs typeface="Arial"/>
                </a:rPr>
                <a:t>18 / 21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762000" y="533400"/>
            <a:ext cx="10668000" cy="476250"/>
            <a:chOff x="762000" y="533400"/>
            <a:chExt cx="10668000" cy="476250"/>
          </a:xfrm>
        </p:grpSpPr>
        <p:sp>
          <p:nvSpPr>
            <p:cNvPr id="3" name="Rectangle 3"/>
            <p:cNvSpPr/>
            <p:nvPr/>
          </p:nvSpPr>
          <p:spPr>
            <a:xfrm>
              <a:off x="762000" y="533400"/>
              <a:ext cx="38100" cy="323850"/>
            </a:xfrm>
            <a:prstGeom prst="roundRect">
              <a:avLst>
                <a:gd name="adj" fmla="val 50000"/>
              </a:avLst>
            </a:prstGeom>
            <a:solidFill>
              <a:srgbClr val="00897B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925830" y="554355"/>
              <a:ext cx="2699671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1D1D1F"/>
                  </a:solidFill>
                  <a:latin typeface="Arial"/>
                  <a:ea typeface="Microsoft YaHei"/>
                  <a:cs typeface="Arial"/>
                </a:rPr>
                <a:t>成员职责与配置管理</a:t>
              </a:r>
            </a:p>
          </p:txBody>
        </p:sp>
        <p:sp>
          <p:nvSpPr>
            <p:cNvPr id="5" name="Line 5"/>
            <p:cNvSpPr/>
            <p:nvPr/>
          </p:nvSpPr>
          <p:spPr>
            <a:xfrm>
              <a:off x="762000" y="1000125"/>
              <a:ext cx="10668000" cy="9525"/>
            </a:xfrm>
            <a:custGeom>
              <a:avLst/>
              <a:gdLst/>
              <a:ahLst/>
              <a:cxnLst/>
              <a:rect l="l" t="t" r="r" b="b"/>
              <a:pathLst>
                <a:path w="10668000" h="9525">
                  <a:moveTo>
                    <a:pt x="0" y="0"/>
                  </a:moveTo>
                  <a:lnTo>
                    <a:pt x="10668000" y="0"/>
                  </a:lnTo>
                </a:path>
              </a:pathLst>
            </a:custGeom>
            <a:noFill/>
            <a:ln w="14288">
              <a:solidFill>
                <a:srgbClr val="E5E7EB"/>
              </a:solidFill>
            </a:ln>
          </p:spPr>
        </p:sp>
      </p:grpSp>
      <p:grpSp>
        <p:nvGrpSpPr>
          <p:cNvPr id="41" name="Group 41"/>
          <p:cNvGrpSpPr/>
          <p:nvPr/>
        </p:nvGrpSpPr>
        <p:grpSpPr>
          <a:xfrm>
            <a:off x="746760" y="1238250"/>
            <a:ext cx="10683240" cy="4286250"/>
            <a:chOff x="746760" y="1238250"/>
            <a:chExt cx="10683240" cy="4286250"/>
          </a:xfrm>
        </p:grpSpPr>
        <p:grpSp>
          <p:nvGrpSpPr>
            <p:cNvPr id="30" name="Group 30"/>
            <p:cNvGrpSpPr/>
            <p:nvPr/>
          </p:nvGrpSpPr>
          <p:grpSpPr>
            <a:xfrm>
              <a:off x="746760" y="1238250"/>
              <a:ext cx="3253740" cy="4286250"/>
              <a:chOff x="746760" y="1238250"/>
              <a:chExt cx="3253740" cy="4286250"/>
            </a:xfrm>
          </p:grpSpPr>
          <p:sp>
            <p:nvSpPr>
              <p:cNvPr id="7" name="TextBox 7"/>
              <p:cNvSpPr txBox="1"/>
              <p:nvPr/>
            </p:nvSpPr>
            <p:spPr>
              <a:xfrm>
                <a:off x="746760" y="1299210"/>
                <a:ext cx="702564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00897B"/>
                    </a:solidFill>
                    <a:latin typeface="Arial"/>
                    <a:ea typeface="Microsoft YaHei"/>
                    <a:cs typeface="Arial"/>
                  </a:rPr>
                  <a:t>成员分工</a:t>
                </a:r>
              </a:p>
            </p:txBody>
          </p:sp>
          <p:sp>
            <p:nvSpPr>
              <p:cNvPr id="8" name="Rectangle 8"/>
              <p:cNvSpPr/>
              <p:nvPr/>
            </p:nvSpPr>
            <p:spPr>
              <a:xfrm>
                <a:off x="762000" y="1571625"/>
                <a:ext cx="3238500" cy="1905000"/>
              </a:xfrm>
              <a:prstGeom prst="roundRect">
                <a:avLst>
                  <a:gd name="adj" fmla="val 6000"/>
                </a:avLst>
              </a:prstGeom>
              <a:solidFill>
                <a:srgbClr val="FFFFFF"/>
              </a:solidFill>
              <a:ln w="9525">
                <a:solidFill>
                  <a:srgbClr val="E5E7EB"/>
                </a:solidFill>
              </a:ln>
            </p:spPr>
          </p:sp>
          <p:sp>
            <p:nvSpPr>
              <p:cNvPr id="9" name="Rectangle 9"/>
              <p:cNvSpPr/>
              <p:nvPr/>
            </p:nvSpPr>
            <p:spPr>
              <a:xfrm>
                <a:off x="762000" y="1238250"/>
                <a:ext cx="3238500" cy="438150"/>
              </a:xfrm>
              <a:prstGeom prst="roundRect">
                <a:avLst>
                  <a:gd name="adj" fmla="val 26087"/>
                </a:avLst>
              </a:prstGeom>
              <a:solidFill>
                <a:srgbClr val="00897B"/>
              </a:solidFill>
              <a:ln>
                <a:noFill/>
              </a:ln>
            </p:spPr>
          </p:sp>
          <p:sp>
            <p:nvSpPr>
              <p:cNvPr id="10" name="Rectangle 10"/>
              <p:cNvSpPr/>
              <p:nvPr/>
            </p:nvSpPr>
            <p:spPr>
              <a:xfrm>
                <a:off x="762000" y="1457325"/>
                <a:ext cx="3238500" cy="219075"/>
              </a:xfrm>
              <a:prstGeom prst="rect">
                <a:avLst/>
              </a:prstGeom>
              <a:solidFill>
                <a:srgbClr val="00897B"/>
              </a:solidFill>
              <a:ln>
                <a:noFill/>
              </a:ln>
            </p:spPr>
          </p:sp>
          <p:grpSp>
            <p:nvGrpSpPr>
              <p:cNvPr id="13" name="Group 13"/>
              <p:cNvGrpSpPr/>
              <p:nvPr/>
            </p:nvGrpSpPr>
            <p:grpSpPr>
              <a:xfrm>
                <a:off x="985838" y="1874044"/>
                <a:ext cx="200025" cy="233362"/>
                <a:chOff x="985838" y="1874044"/>
                <a:chExt cx="200025" cy="233362"/>
              </a:xfrm>
            </p:grpSpPr>
            <p:sp>
              <p:nvSpPr>
                <p:cNvPr id="11" name="Freeform 11"/>
                <p:cNvSpPr/>
                <p:nvPr/>
              </p:nvSpPr>
              <p:spPr>
                <a:xfrm>
                  <a:off x="1035844" y="1874044"/>
                  <a:ext cx="100012" cy="1000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0012" h="100012">
                      <a:moveTo>
                        <a:pt x="50006" y="100012"/>
                      </a:moveTo>
                      <a:cubicBezTo>
                        <a:pt x="77624" y="100012"/>
                        <a:pt x="100012" y="77624"/>
                        <a:pt x="100012" y="50006"/>
                      </a:cubicBezTo>
                      <a:cubicBezTo>
                        <a:pt x="100012" y="22389"/>
                        <a:pt x="77624" y="0"/>
                        <a:pt x="50006" y="0"/>
                      </a:cubicBezTo>
                      <a:cubicBezTo>
                        <a:pt x="22389" y="0"/>
                        <a:pt x="0" y="22389"/>
                        <a:pt x="0" y="50006"/>
                      </a:cubicBezTo>
                      <a:cubicBezTo>
                        <a:pt x="0" y="77624"/>
                        <a:pt x="22389" y="100012"/>
                        <a:pt x="50006" y="100012"/>
                      </a:cubicBezTo>
                      <a:close/>
                    </a:path>
                  </a:pathLst>
                </a:custGeom>
                <a:solidFill>
                  <a:srgbClr val="00897B"/>
                </a:solidFill>
                <a:ln>
                  <a:noFill/>
                </a:ln>
              </p:spPr>
            </p:sp>
            <p:sp>
              <p:nvSpPr>
                <p:cNvPr id="12" name="Freeform 12"/>
                <p:cNvSpPr/>
                <p:nvPr/>
              </p:nvSpPr>
              <p:spPr>
                <a:xfrm>
                  <a:off x="985838" y="2007394"/>
                  <a:ext cx="200025" cy="1000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0025" h="100012">
                      <a:moveTo>
                        <a:pt x="200025" y="50006"/>
                      </a:moveTo>
                      <a:cubicBezTo>
                        <a:pt x="200025" y="22388"/>
                        <a:pt x="177637" y="0"/>
                        <a:pt x="150019" y="0"/>
                      </a:cubicBezTo>
                      <a:lnTo>
                        <a:pt x="50006" y="0"/>
                      </a:lnTo>
                      <a:cubicBezTo>
                        <a:pt x="22389" y="0"/>
                        <a:pt x="0" y="22388"/>
                        <a:pt x="0" y="50006"/>
                      </a:cubicBezTo>
                      <a:lnTo>
                        <a:pt x="0" y="100012"/>
                      </a:lnTo>
                      <a:lnTo>
                        <a:pt x="200025" y="100012"/>
                      </a:lnTo>
                      <a:lnTo>
                        <a:pt x="200025" y="50006"/>
                      </a:lnTo>
                      <a:close/>
                    </a:path>
                  </a:pathLst>
                </a:custGeom>
                <a:solidFill>
                  <a:srgbClr val="00897B"/>
                </a:solidFill>
                <a:ln>
                  <a:noFill/>
                </a:ln>
              </p:spPr>
            </p:sp>
          </p:grpSp>
          <p:sp>
            <p:nvSpPr>
              <p:cNvPr id="14" name="TextBox 14"/>
              <p:cNvSpPr txBox="1"/>
              <p:nvPr/>
            </p:nvSpPr>
            <p:spPr>
              <a:xfrm>
                <a:off x="1268730" y="1902142"/>
                <a:ext cx="1395260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00695C"/>
                    </a:solidFill>
                    <a:latin typeface="Arial"/>
                    <a:ea typeface="Microsoft YaHei"/>
                    <a:cs typeface="Arial"/>
                  </a:rPr>
                  <a:t>戴晨威（Lead）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940118" y="2228374"/>
                <a:ext cx="1636967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1D1D1F"/>
                    </a:solidFill>
                    <a:latin typeface="Arial"/>
                    <a:ea typeface="Microsoft YaHei"/>
                    <a:cs typeface="Arial"/>
                  </a:rPr>
                  <a:t>• 后端开发（Spring Boot）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940118" y="2466499"/>
                <a:ext cx="1175409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1D1D1F"/>
                    </a:solidFill>
                    <a:latin typeface="Arial"/>
                    <a:ea typeface="Microsoft YaHei"/>
                    <a:cs typeface="Arial"/>
                  </a:rPr>
                  <a:t>• 数据库设计与实现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940118" y="2704624"/>
                <a:ext cx="1344430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1D1D1F"/>
                    </a:solidFill>
                    <a:latin typeface="Arial"/>
                    <a:ea typeface="Microsoft YaHei"/>
                    <a:cs typeface="Arial"/>
                  </a:rPr>
                  <a:t>• 本地部署（Docker）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940118" y="2942749"/>
                <a:ext cx="1045393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1D1D1F"/>
                    </a:solidFill>
                    <a:latin typeface="Arial"/>
                    <a:ea typeface="Microsoft YaHei"/>
                    <a:cs typeface="Arial"/>
                  </a:rPr>
                  <a:t>• 测试策略与执行</a:t>
                </a:r>
              </a:p>
            </p:txBody>
          </p:sp>
          <p:sp>
            <p:nvSpPr>
              <p:cNvPr id="19" name="Rectangle 19"/>
              <p:cNvSpPr/>
              <p:nvPr/>
            </p:nvSpPr>
            <p:spPr>
              <a:xfrm>
                <a:off x="762000" y="3619500"/>
                <a:ext cx="3238500" cy="1905000"/>
              </a:xfrm>
              <a:prstGeom prst="roundRect">
                <a:avLst>
                  <a:gd name="adj" fmla="val 6000"/>
                </a:avLst>
              </a:prstGeom>
              <a:solidFill>
                <a:srgbClr val="FFFFFF"/>
              </a:solidFill>
              <a:ln w="9525">
                <a:solidFill>
                  <a:srgbClr val="E5E7EB"/>
                </a:solidFill>
              </a:ln>
            </p:spPr>
          </p:sp>
          <p:sp>
            <p:nvSpPr>
              <p:cNvPr id="20" name="Rectangle 20"/>
              <p:cNvSpPr/>
              <p:nvPr/>
            </p:nvSpPr>
            <p:spPr>
              <a:xfrm>
                <a:off x="762000" y="1238250"/>
                <a:ext cx="3238500" cy="438150"/>
              </a:xfrm>
              <a:prstGeom prst="roundRect">
                <a:avLst>
                  <a:gd name="adj" fmla="val 26087"/>
                </a:avLst>
              </a:prstGeom>
              <a:solidFill>
                <a:srgbClr val="4DB6AC"/>
              </a:solidFill>
              <a:ln>
                <a:noFill/>
              </a:ln>
            </p:spPr>
          </p:sp>
          <p:sp>
            <p:nvSpPr>
              <p:cNvPr id="21" name="Rectangle 21"/>
              <p:cNvSpPr/>
              <p:nvPr/>
            </p:nvSpPr>
            <p:spPr>
              <a:xfrm>
                <a:off x="762000" y="1457325"/>
                <a:ext cx="3238500" cy="219075"/>
              </a:xfrm>
              <a:prstGeom prst="rect">
                <a:avLst/>
              </a:prstGeom>
              <a:solidFill>
                <a:srgbClr val="4DB6AC"/>
              </a:solidFill>
              <a:ln>
                <a:noFill/>
              </a:ln>
            </p:spPr>
          </p:sp>
          <p:grpSp>
            <p:nvGrpSpPr>
              <p:cNvPr id="24" name="Group 24"/>
              <p:cNvGrpSpPr/>
              <p:nvPr/>
            </p:nvGrpSpPr>
            <p:grpSpPr>
              <a:xfrm>
                <a:off x="985838" y="3807619"/>
                <a:ext cx="200025" cy="233362"/>
                <a:chOff x="985838" y="3807619"/>
                <a:chExt cx="200025" cy="233362"/>
              </a:xfrm>
            </p:grpSpPr>
            <p:sp>
              <p:nvSpPr>
                <p:cNvPr id="22" name="Freeform 22"/>
                <p:cNvSpPr/>
                <p:nvPr/>
              </p:nvSpPr>
              <p:spPr>
                <a:xfrm>
                  <a:off x="1035844" y="3807619"/>
                  <a:ext cx="100012" cy="1000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0012" h="100012">
                      <a:moveTo>
                        <a:pt x="50006" y="100012"/>
                      </a:moveTo>
                      <a:cubicBezTo>
                        <a:pt x="77624" y="100012"/>
                        <a:pt x="100012" y="77624"/>
                        <a:pt x="100012" y="50006"/>
                      </a:cubicBezTo>
                      <a:cubicBezTo>
                        <a:pt x="100012" y="22389"/>
                        <a:pt x="77624" y="0"/>
                        <a:pt x="50006" y="0"/>
                      </a:cubicBezTo>
                      <a:cubicBezTo>
                        <a:pt x="22389" y="0"/>
                        <a:pt x="0" y="22389"/>
                        <a:pt x="0" y="50006"/>
                      </a:cubicBezTo>
                      <a:cubicBezTo>
                        <a:pt x="0" y="77624"/>
                        <a:pt x="22389" y="100012"/>
                        <a:pt x="50006" y="100012"/>
                      </a:cubicBezTo>
                      <a:close/>
                    </a:path>
                  </a:pathLst>
                </a:custGeom>
                <a:solidFill>
                  <a:srgbClr val="00897B"/>
                </a:solidFill>
                <a:ln>
                  <a:noFill/>
                </a:ln>
              </p:spPr>
            </p:sp>
            <p:sp>
              <p:nvSpPr>
                <p:cNvPr id="23" name="Freeform 23"/>
                <p:cNvSpPr/>
                <p:nvPr/>
              </p:nvSpPr>
              <p:spPr>
                <a:xfrm>
                  <a:off x="985838" y="3940969"/>
                  <a:ext cx="200025" cy="1000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0025" h="100012">
                      <a:moveTo>
                        <a:pt x="200025" y="50006"/>
                      </a:moveTo>
                      <a:cubicBezTo>
                        <a:pt x="200025" y="22388"/>
                        <a:pt x="177637" y="0"/>
                        <a:pt x="150019" y="0"/>
                      </a:cubicBezTo>
                      <a:lnTo>
                        <a:pt x="50006" y="0"/>
                      </a:lnTo>
                      <a:cubicBezTo>
                        <a:pt x="22389" y="0"/>
                        <a:pt x="0" y="22388"/>
                        <a:pt x="0" y="50006"/>
                      </a:cubicBezTo>
                      <a:lnTo>
                        <a:pt x="0" y="100012"/>
                      </a:lnTo>
                      <a:lnTo>
                        <a:pt x="200025" y="100012"/>
                      </a:lnTo>
                      <a:lnTo>
                        <a:pt x="200025" y="50006"/>
                      </a:lnTo>
                      <a:close/>
                    </a:path>
                  </a:pathLst>
                </a:custGeom>
                <a:solidFill>
                  <a:srgbClr val="00897B"/>
                </a:solidFill>
                <a:ln>
                  <a:noFill/>
                </a:ln>
              </p:spPr>
            </p:sp>
          </p:grpSp>
          <p:sp>
            <p:nvSpPr>
              <p:cNvPr id="25" name="TextBox 25"/>
              <p:cNvSpPr txBox="1"/>
              <p:nvPr/>
            </p:nvSpPr>
            <p:spPr>
              <a:xfrm>
                <a:off x="1268730" y="3835718"/>
                <a:ext cx="412337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00695C"/>
                    </a:solidFill>
                    <a:latin typeface="Arial"/>
                    <a:ea typeface="Microsoft YaHei"/>
                    <a:cs typeface="Arial"/>
                  </a:rPr>
                  <a:t>黄裔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940118" y="4161949"/>
                <a:ext cx="1201412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1D1D1F"/>
                    </a:solidFill>
                    <a:latin typeface="Arial"/>
                    <a:ea typeface="Microsoft YaHei"/>
                    <a:cs typeface="Arial"/>
                  </a:rPr>
                  <a:t>• 前端开发（Vue3）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940118" y="4400074"/>
                <a:ext cx="934879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1D1D1F"/>
                    </a:solidFill>
                    <a:latin typeface="Arial"/>
                    <a:ea typeface="Microsoft YaHei"/>
                    <a:cs typeface="Arial"/>
                  </a:rPr>
                  <a:t>• UI 设计与实现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940118" y="4638199"/>
                <a:ext cx="915376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1D1D1F"/>
                    </a:solidFill>
                    <a:latin typeface="Arial"/>
                    <a:ea typeface="Microsoft YaHei"/>
                    <a:cs typeface="Arial"/>
                  </a:rPr>
                  <a:t>• 需求文档撰写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940118" y="4876324"/>
                <a:ext cx="915376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1D1D1F"/>
                    </a:solidFill>
                    <a:latin typeface="Arial"/>
                    <a:ea typeface="Microsoft YaHei"/>
                    <a:cs typeface="Arial"/>
                  </a:rPr>
                  <a:t>• 汇报材料准备</a:t>
                </a:r>
              </a:p>
            </p:txBody>
          </p:sp>
        </p:grpSp>
        <p:grpSp>
          <p:nvGrpSpPr>
            <p:cNvPr id="34" name="Group 34"/>
            <p:cNvGrpSpPr/>
            <p:nvPr/>
          </p:nvGrpSpPr>
          <p:grpSpPr>
            <a:xfrm>
              <a:off x="4366260" y="1299210"/>
              <a:ext cx="7063740" cy="3129915"/>
              <a:chOff x="4366260" y="1299210"/>
              <a:chExt cx="7063740" cy="3129915"/>
            </a:xfrm>
          </p:grpSpPr>
          <p:sp>
            <p:nvSpPr>
              <p:cNvPr id="31" name="TextBox 31"/>
              <p:cNvSpPr txBox="1"/>
              <p:nvPr/>
            </p:nvSpPr>
            <p:spPr>
              <a:xfrm>
                <a:off x="4366260" y="1299210"/>
                <a:ext cx="702564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00897B"/>
                    </a:solidFill>
                    <a:latin typeface="Arial"/>
                    <a:ea typeface="Microsoft YaHei"/>
                    <a:cs typeface="Arial"/>
                  </a:rPr>
                  <a:t>配置管理</a:t>
                </a:r>
              </a:p>
            </p:txBody>
          </p:sp>
          <p:sp>
            <p:nvSpPr>
              <p:cNvPr id="32" name="Rectangle 32"/>
              <p:cNvSpPr/>
              <p:nvPr/>
            </p:nvSpPr>
            <p:spPr>
              <a:xfrm>
                <a:off x="4381500" y="1571625"/>
                <a:ext cx="7048500" cy="2857500"/>
              </a:xfrm>
              <a:prstGeom prst="roundRect">
                <a:avLst>
                  <a:gd name="adj" fmla="val 3333"/>
                </a:avLst>
              </a:prstGeom>
              <a:solidFill>
                <a:srgbClr val="F0F7F4"/>
              </a:solidFill>
              <a:ln>
                <a:noFill/>
              </a:ln>
            </p:spPr>
          </p:sp>
          <p:pic>
            <p:nvPicPr>
              <p:cNvPr id="33" name="Image 33"/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5847278" y="1714500"/>
                <a:ext cx="4116943" cy="2571750"/>
              </a:xfrm>
              <a:prstGeom prst="rect">
                <a:avLst/>
              </a:prstGeom>
            </p:spPr>
          </p:pic>
        </p:grpSp>
        <p:grpSp>
          <p:nvGrpSpPr>
            <p:cNvPr id="40" name="Group 40"/>
            <p:cNvGrpSpPr/>
            <p:nvPr/>
          </p:nvGrpSpPr>
          <p:grpSpPr>
            <a:xfrm>
              <a:off x="4381500" y="4333875"/>
              <a:ext cx="7048500" cy="1143000"/>
              <a:chOff x="4381500" y="4333875"/>
              <a:chExt cx="7048500" cy="1143000"/>
            </a:xfrm>
          </p:grpSpPr>
          <p:sp>
            <p:nvSpPr>
              <p:cNvPr id="35" name="Rectangle 35"/>
              <p:cNvSpPr/>
              <p:nvPr/>
            </p:nvSpPr>
            <p:spPr>
              <a:xfrm>
                <a:off x="4381500" y="4333875"/>
                <a:ext cx="7048500" cy="1143000"/>
              </a:xfrm>
              <a:prstGeom prst="roundRect">
                <a:avLst>
                  <a:gd name="adj" fmla="val 8333"/>
                </a:avLst>
              </a:prstGeom>
              <a:solidFill>
                <a:srgbClr val="FFFFFF"/>
              </a:solidFill>
              <a:ln w="9525">
                <a:solidFill>
                  <a:srgbClr val="E5E7EB"/>
                </a:solidFill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4586288" y="4557712"/>
                <a:ext cx="200025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00025" h="200025">
                    <a:moveTo>
                      <a:pt x="200025" y="0"/>
                    </a:moveTo>
                    <a:lnTo>
                      <a:pt x="0" y="0"/>
                    </a:lnTo>
                    <a:lnTo>
                      <a:pt x="0" y="200025"/>
                    </a:lnTo>
                    <a:lnTo>
                      <a:pt x="200025" y="200025"/>
                    </a:lnTo>
                    <a:lnTo>
                      <a:pt x="200025" y="0"/>
                    </a:lnTo>
                    <a:close/>
                    <a:moveTo>
                      <a:pt x="71438" y="57150"/>
                    </a:moveTo>
                    <a:lnTo>
                      <a:pt x="91643" y="77356"/>
                    </a:lnTo>
                    <a:lnTo>
                      <a:pt x="68986" y="100012"/>
                    </a:lnTo>
                    <a:lnTo>
                      <a:pt x="91643" y="122669"/>
                    </a:lnTo>
                    <a:lnTo>
                      <a:pt x="71438" y="142875"/>
                    </a:lnTo>
                    <a:lnTo>
                      <a:pt x="28575" y="100012"/>
                    </a:lnTo>
                    <a:lnTo>
                      <a:pt x="71438" y="57150"/>
                    </a:lnTo>
                    <a:close/>
                    <a:moveTo>
                      <a:pt x="128588" y="57150"/>
                    </a:moveTo>
                    <a:lnTo>
                      <a:pt x="108382" y="77356"/>
                    </a:lnTo>
                    <a:lnTo>
                      <a:pt x="131039" y="100012"/>
                    </a:lnTo>
                    <a:lnTo>
                      <a:pt x="108382" y="122669"/>
                    </a:lnTo>
                    <a:lnTo>
                      <a:pt x="128588" y="142875"/>
                    </a:lnTo>
                    <a:lnTo>
                      <a:pt x="171450" y="100012"/>
                    </a:lnTo>
                    <a:lnTo>
                      <a:pt x="128588" y="57150"/>
                    </a:lnTo>
                    <a:close/>
                  </a:path>
                </a:pathLst>
              </a:custGeom>
              <a:solidFill>
                <a:srgbClr val="00897B"/>
              </a:solidFill>
              <a:ln>
                <a:noFill/>
              </a:ln>
            </p:spPr>
          </p:sp>
          <p:sp>
            <p:nvSpPr>
              <p:cNvPr id="37" name="TextBox 37"/>
              <p:cNvSpPr txBox="1"/>
              <p:nvPr/>
            </p:nvSpPr>
            <p:spPr>
              <a:xfrm>
                <a:off x="4891088" y="4574381"/>
                <a:ext cx="926437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00695C"/>
                    </a:solidFill>
                    <a:latin typeface="Arial"/>
                    <a:ea typeface="Microsoft YaHei"/>
                    <a:cs typeface="Arial"/>
                  </a:rPr>
                  <a:t>Git 管理规范</a:t>
                </a:r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4560570" y="4855845"/>
                <a:ext cx="2573179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1D1D1F"/>
                    </a:solidFill>
                    <a:latin typeface="Arial"/>
                    <a:ea typeface="Microsoft YaHei"/>
                    <a:cs typeface="Arial"/>
                  </a:rPr>
                  <a:t>• 按功能创建分支，Merge Request 合入主分支</a:t>
                </a:r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4560570" y="5074920"/>
                <a:ext cx="2723197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1D1D1F"/>
                    </a:solidFill>
                    <a:latin typeface="Arial"/>
                    <a:ea typeface="Microsoft YaHei"/>
                    <a:cs typeface="Arial"/>
                  </a:rPr>
                  <a:t>• feat / fix / docs / test / chore 提交信息规范</a:t>
                </a:r>
              </a:p>
            </p:txBody>
          </p:sp>
        </p:grpSp>
      </p:grpSp>
      <p:grpSp>
        <p:nvGrpSpPr>
          <p:cNvPr id="45" name="Group 45"/>
          <p:cNvGrpSpPr/>
          <p:nvPr/>
        </p:nvGrpSpPr>
        <p:grpSpPr>
          <a:xfrm>
            <a:off x="750570" y="6477000"/>
            <a:ext cx="10690860" cy="257175"/>
            <a:chOff x="750570" y="6477000"/>
            <a:chExt cx="10690860" cy="257175"/>
          </a:xfrm>
        </p:grpSpPr>
        <p:sp>
          <p:nvSpPr>
            <p:cNvPr id="42" name="Line 42"/>
            <p:cNvSpPr/>
            <p:nvPr/>
          </p:nvSpPr>
          <p:spPr>
            <a:xfrm>
              <a:off x="762000" y="6477000"/>
              <a:ext cx="10668000" cy="9525"/>
            </a:xfrm>
            <a:custGeom>
              <a:avLst/>
              <a:gdLst/>
              <a:ahLst/>
              <a:cxnLst/>
              <a:rect l="l" t="t" r="r" b="b"/>
              <a:pathLst>
                <a:path w="10668000" h="9525">
                  <a:moveTo>
                    <a:pt x="0" y="0"/>
                  </a:moveTo>
                  <a:lnTo>
                    <a:pt x="10668000" y="0"/>
                  </a:lnTo>
                </a:path>
              </a:pathLst>
            </a:custGeom>
            <a:noFill/>
            <a:ln w="9525">
              <a:solidFill>
                <a:srgbClr val="E5E7EB"/>
              </a:solidFill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750570" y="6551295"/>
              <a:ext cx="74295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CA3AF"/>
                  </a:solidFill>
                  <a:latin typeface="Arial"/>
                  <a:ea typeface="Microsoft YaHei"/>
                  <a:cs typeface="Arial"/>
                </a:rPr>
                <a:t>房屋租赁系统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1016520" y="6551295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9CA3AF"/>
                  </a:solidFill>
                  <a:latin typeface="Arial"/>
                  <a:ea typeface="Microsoft YaHei"/>
                  <a:cs typeface="Arial"/>
                </a:rPr>
                <a:t>19 / 21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0897B">
                  <a:alpha val="6000"/>
                </a:srgbClr>
              </a:gs>
              <a:gs pos="100000">
                <a:srgbClr val="00897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762000" y="533400"/>
            <a:ext cx="10668000" cy="476250"/>
            <a:chOff x="762000" y="533400"/>
            <a:chExt cx="10668000" cy="476250"/>
          </a:xfrm>
        </p:grpSpPr>
        <p:sp>
          <p:nvSpPr>
            <p:cNvPr id="4" name="Rectangle 4"/>
            <p:cNvSpPr/>
            <p:nvPr/>
          </p:nvSpPr>
          <p:spPr>
            <a:xfrm>
              <a:off x="762000" y="533400"/>
              <a:ext cx="38100" cy="323850"/>
            </a:xfrm>
            <a:prstGeom prst="roundRect">
              <a:avLst>
                <a:gd name="adj" fmla="val 50000"/>
              </a:avLst>
            </a:prstGeom>
            <a:solidFill>
              <a:srgbClr val="00897B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925830" y="554355"/>
              <a:ext cx="2699671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1D1D1F"/>
                  </a:solidFill>
                  <a:latin typeface="Arial"/>
                  <a:ea typeface="Microsoft YaHei"/>
                  <a:cs typeface="Arial"/>
                </a:rPr>
                <a:t>系统亮点与后续扩展</a:t>
              </a:r>
            </a:p>
          </p:txBody>
        </p:sp>
        <p:sp>
          <p:nvSpPr>
            <p:cNvPr id="6" name="Line 6"/>
            <p:cNvSpPr/>
            <p:nvPr/>
          </p:nvSpPr>
          <p:spPr>
            <a:xfrm>
              <a:off x="762000" y="1000125"/>
              <a:ext cx="10668000" cy="9525"/>
            </a:xfrm>
            <a:custGeom>
              <a:avLst/>
              <a:gdLst/>
              <a:ahLst/>
              <a:cxnLst/>
              <a:rect l="l" t="t" r="r" b="b"/>
              <a:pathLst>
                <a:path w="10668000" h="9525">
                  <a:moveTo>
                    <a:pt x="0" y="0"/>
                  </a:moveTo>
                  <a:lnTo>
                    <a:pt x="10668000" y="0"/>
                  </a:lnTo>
                </a:path>
              </a:pathLst>
            </a:custGeom>
            <a:noFill/>
            <a:ln w="14288">
              <a:solidFill>
                <a:srgbClr val="E5E7EB"/>
              </a:solidFill>
            </a:ln>
          </p:spPr>
        </p:sp>
      </p:grpSp>
      <p:grpSp>
        <p:nvGrpSpPr>
          <p:cNvPr id="54" name="Group 54"/>
          <p:cNvGrpSpPr/>
          <p:nvPr/>
        </p:nvGrpSpPr>
        <p:grpSpPr>
          <a:xfrm>
            <a:off x="744855" y="1238250"/>
            <a:ext cx="10685145" cy="5048250"/>
            <a:chOff x="744855" y="1238250"/>
            <a:chExt cx="10685145" cy="5048250"/>
          </a:xfrm>
        </p:grpSpPr>
        <p:grpSp>
          <p:nvGrpSpPr>
            <p:cNvPr id="19" name="Group 19"/>
            <p:cNvGrpSpPr/>
            <p:nvPr/>
          </p:nvGrpSpPr>
          <p:grpSpPr>
            <a:xfrm>
              <a:off x="744855" y="1238250"/>
              <a:ext cx="5160645" cy="2619375"/>
              <a:chOff x="744855" y="1238250"/>
              <a:chExt cx="5160645" cy="2619375"/>
            </a:xfrm>
          </p:grpSpPr>
          <p:sp>
            <p:nvSpPr>
              <p:cNvPr id="8" name="TextBox 8"/>
              <p:cNvSpPr txBox="1"/>
              <p:nvPr/>
            </p:nvSpPr>
            <p:spPr>
              <a:xfrm>
                <a:off x="744855" y="1283018"/>
                <a:ext cx="790384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00897B"/>
                    </a:solidFill>
                    <a:latin typeface="Arial"/>
                    <a:ea typeface="Microsoft YaHei"/>
                    <a:cs typeface="Arial"/>
                  </a:rPr>
                  <a:t>项目亮点</a:t>
                </a:r>
              </a:p>
            </p:txBody>
          </p:sp>
          <p:sp>
            <p:nvSpPr>
              <p:cNvPr id="9" name="Rectangle 9"/>
              <p:cNvSpPr/>
              <p:nvPr/>
            </p:nvSpPr>
            <p:spPr>
              <a:xfrm>
                <a:off x="762000" y="1571625"/>
                <a:ext cx="5143500" cy="2286000"/>
              </a:xfrm>
              <a:prstGeom prst="roundRect">
                <a:avLst>
                  <a:gd name="adj" fmla="val 5000"/>
                </a:avLst>
              </a:prstGeom>
              <a:solidFill>
                <a:srgbClr val="FFFFFF"/>
              </a:solidFill>
              <a:ln w="9525">
                <a:solidFill>
                  <a:srgbClr val="E5E7EB"/>
                </a:solidFill>
              </a:ln>
            </p:spPr>
          </p:sp>
          <p:sp>
            <p:nvSpPr>
              <p:cNvPr id="10" name="Rectangle 10"/>
              <p:cNvSpPr/>
              <p:nvPr/>
            </p:nvSpPr>
            <p:spPr>
              <a:xfrm>
                <a:off x="762000" y="1238250"/>
                <a:ext cx="5143500" cy="438150"/>
              </a:xfrm>
              <a:prstGeom prst="roundRect">
                <a:avLst>
                  <a:gd name="adj" fmla="val 26087"/>
                </a:avLst>
              </a:prstGeom>
              <a:solidFill>
                <a:srgbClr val="00897B"/>
              </a:solidFill>
              <a:ln>
                <a:noFill/>
              </a:ln>
            </p:spPr>
          </p:sp>
          <p:sp>
            <p:nvSpPr>
              <p:cNvPr id="11" name="Rectangle 11"/>
              <p:cNvSpPr/>
              <p:nvPr/>
            </p:nvSpPr>
            <p:spPr>
              <a:xfrm>
                <a:off x="762000" y="1457325"/>
                <a:ext cx="5143500" cy="219075"/>
              </a:xfrm>
              <a:prstGeom prst="rect">
                <a:avLst/>
              </a:prstGeom>
              <a:solidFill>
                <a:srgbClr val="00897B"/>
              </a:solidFill>
              <a:ln>
                <a:noFill/>
              </a:ln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977265" y="1772602"/>
                <a:ext cx="1180764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00695C"/>
                    </a:solidFill>
                    <a:latin typeface="Arial"/>
                    <a:ea typeface="Microsoft YaHei"/>
                    <a:cs typeface="Arial"/>
                  </a:rPr>
                  <a:t>• 双方法需求分析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979170" y="2017395"/>
                <a:ext cx="2075117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结构化 DFD + 面向对象用例图同时覆盖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977265" y="2286952"/>
                <a:ext cx="1474801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00695C"/>
                    </a:solidFill>
                    <a:latin typeface="Arial"/>
                    <a:ea typeface="Microsoft YaHei"/>
                    <a:cs typeface="Arial"/>
                  </a:rPr>
                  <a:t>• 前后端分离完整实现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979170" y="2531745"/>
                <a:ext cx="2627185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管理端 Element Plus + 租客端 Vant H5 双端覆盖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977265" y="2801302"/>
                <a:ext cx="1474801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00695C"/>
                    </a:solidFill>
                    <a:latin typeface="Arial"/>
                    <a:ea typeface="Microsoft YaHei"/>
                    <a:cs typeface="Arial"/>
                  </a:rPr>
                  <a:t>• 完整测试与管理闭环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979170" y="3046095"/>
                <a:ext cx="2273141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白盒 + 黑盒 + Git 分支管理 + Docker 部署</a:t>
                </a:r>
              </a:p>
            </p:txBody>
          </p:sp>
          <p:sp>
            <p:nvSpPr>
              <p:cNvPr id="18" name="Freeform 18"/>
              <p:cNvSpPr/>
              <p:nvPr/>
            </p:nvSpPr>
            <p:spPr>
              <a:xfrm>
                <a:off x="5334000" y="1733550"/>
                <a:ext cx="342900" cy="342900"/>
              </a:xfrm>
              <a:custGeom>
                <a:avLst/>
                <a:gdLst/>
                <a:ahLst/>
                <a:cxnLst/>
                <a:rect l="l" t="t" r="r" b="b"/>
                <a:pathLst>
                  <a:path w="342900" h="342900">
                    <a:moveTo>
                      <a:pt x="314103" y="112362"/>
                    </a:moveTo>
                    <a:cubicBezTo>
                      <a:pt x="331634" y="126092"/>
                      <a:pt x="342900" y="147456"/>
                      <a:pt x="342900" y="171450"/>
                    </a:cubicBezTo>
                    <a:cubicBezTo>
                      <a:pt x="342900" y="195445"/>
                      <a:pt x="331634" y="216809"/>
                      <a:pt x="314101" y="230540"/>
                    </a:cubicBezTo>
                    <a:cubicBezTo>
                      <a:pt x="316788" y="252644"/>
                      <a:pt x="309649" y="275717"/>
                      <a:pt x="292682" y="292684"/>
                    </a:cubicBezTo>
                    <a:cubicBezTo>
                      <a:pt x="275715" y="309652"/>
                      <a:pt x="252642" y="316790"/>
                      <a:pt x="230538" y="314103"/>
                    </a:cubicBezTo>
                    <a:cubicBezTo>
                      <a:pt x="216807" y="331634"/>
                      <a:pt x="195444" y="342900"/>
                      <a:pt x="171450" y="342900"/>
                    </a:cubicBezTo>
                    <a:cubicBezTo>
                      <a:pt x="147455" y="342900"/>
                      <a:pt x="126092" y="331634"/>
                      <a:pt x="112361" y="314101"/>
                    </a:cubicBezTo>
                    <a:cubicBezTo>
                      <a:pt x="90256" y="316790"/>
                      <a:pt x="67183" y="309649"/>
                      <a:pt x="50216" y="292682"/>
                    </a:cubicBezTo>
                    <a:cubicBezTo>
                      <a:pt x="33249" y="275717"/>
                      <a:pt x="26110" y="252644"/>
                      <a:pt x="28798" y="230538"/>
                    </a:cubicBezTo>
                    <a:cubicBezTo>
                      <a:pt x="11266" y="216807"/>
                      <a:pt x="0" y="195444"/>
                      <a:pt x="0" y="171450"/>
                    </a:cubicBezTo>
                    <a:cubicBezTo>
                      <a:pt x="0" y="147455"/>
                      <a:pt x="11267" y="126092"/>
                      <a:pt x="28798" y="112361"/>
                    </a:cubicBezTo>
                    <a:cubicBezTo>
                      <a:pt x="26111" y="90256"/>
                      <a:pt x="33250" y="67183"/>
                      <a:pt x="50217" y="50216"/>
                    </a:cubicBezTo>
                    <a:cubicBezTo>
                      <a:pt x="67184" y="33249"/>
                      <a:pt x="90257" y="26110"/>
                      <a:pt x="112362" y="28798"/>
                    </a:cubicBezTo>
                    <a:cubicBezTo>
                      <a:pt x="126092" y="11266"/>
                      <a:pt x="147456" y="0"/>
                      <a:pt x="171450" y="0"/>
                    </a:cubicBezTo>
                    <a:cubicBezTo>
                      <a:pt x="195445" y="0"/>
                      <a:pt x="216809" y="11267"/>
                      <a:pt x="230540" y="28799"/>
                    </a:cubicBezTo>
                    <a:cubicBezTo>
                      <a:pt x="252644" y="26111"/>
                      <a:pt x="275717" y="33251"/>
                      <a:pt x="292684" y="50218"/>
                    </a:cubicBezTo>
                    <a:cubicBezTo>
                      <a:pt x="309652" y="67184"/>
                      <a:pt x="316790" y="90257"/>
                      <a:pt x="314103" y="112362"/>
                    </a:cubicBezTo>
                    <a:close/>
                    <a:moveTo>
                      <a:pt x="261613" y="133026"/>
                    </a:moveTo>
                    <a:lnTo>
                      <a:pt x="231305" y="102718"/>
                    </a:lnTo>
                    <a:lnTo>
                      <a:pt x="150019" y="184004"/>
                    </a:lnTo>
                    <a:lnTo>
                      <a:pt x="111595" y="145580"/>
                    </a:lnTo>
                    <a:lnTo>
                      <a:pt x="81286" y="175889"/>
                    </a:lnTo>
                    <a:lnTo>
                      <a:pt x="150019" y="244621"/>
                    </a:lnTo>
                    <a:lnTo>
                      <a:pt x="261613" y="133026"/>
                    </a:lnTo>
                    <a:close/>
                  </a:path>
                </a:pathLst>
              </a:custGeom>
              <a:solidFill>
                <a:srgbClr val="4DB6AC"/>
              </a:solidFill>
              <a:ln>
                <a:noFill/>
              </a:ln>
            </p:spPr>
          </p:sp>
        </p:grpSp>
        <p:grpSp>
          <p:nvGrpSpPr>
            <p:cNvPr id="46" name="Group 46"/>
            <p:cNvGrpSpPr/>
            <p:nvPr/>
          </p:nvGrpSpPr>
          <p:grpSpPr>
            <a:xfrm>
              <a:off x="6269355" y="1283018"/>
              <a:ext cx="5160645" cy="2574607"/>
              <a:chOff x="6269355" y="1283018"/>
              <a:chExt cx="5160645" cy="2574607"/>
            </a:xfrm>
          </p:grpSpPr>
          <p:sp>
            <p:nvSpPr>
              <p:cNvPr id="20" name="TextBox 20"/>
              <p:cNvSpPr txBox="1"/>
              <p:nvPr/>
            </p:nvSpPr>
            <p:spPr>
              <a:xfrm>
                <a:off x="6269355" y="1283018"/>
                <a:ext cx="1168432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00897B"/>
                    </a:solidFill>
                    <a:latin typeface="Arial"/>
                    <a:ea typeface="Microsoft YaHei"/>
                    <a:cs typeface="Arial"/>
                  </a:rPr>
                  <a:t>后续扩展方向</a:t>
                </a:r>
              </a:p>
            </p:txBody>
          </p:sp>
          <p:sp>
            <p:nvSpPr>
              <p:cNvPr id="21" name="Rectangle 21"/>
              <p:cNvSpPr/>
              <p:nvPr/>
            </p:nvSpPr>
            <p:spPr>
              <a:xfrm>
                <a:off x="6286500" y="1571625"/>
                <a:ext cx="5143500" cy="2286000"/>
              </a:xfrm>
              <a:prstGeom prst="roundRect">
                <a:avLst>
                  <a:gd name="adj" fmla="val 5000"/>
                </a:avLst>
              </a:prstGeom>
              <a:solidFill>
                <a:srgbClr val="F0F7F4"/>
              </a:solidFill>
              <a:ln>
                <a:noFill/>
              </a:ln>
            </p:spPr>
          </p:sp>
          <p:sp>
            <p:nvSpPr>
              <p:cNvPr id="22" name="Rectangle 22"/>
              <p:cNvSpPr/>
              <p:nvPr/>
            </p:nvSpPr>
            <p:spPr>
              <a:xfrm>
                <a:off x="6477000" y="1762125"/>
                <a:ext cx="2190750" cy="857250"/>
              </a:xfrm>
              <a:prstGeom prst="roundRect">
                <a:avLst>
                  <a:gd name="adj" fmla="val 8889"/>
                </a:avLst>
              </a:prstGeom>
              <a:solidFill>
                <a:srgbClr val="FFFFFF"/>
              </a:solidFill>
              <a:ln>
                <a:noFill/>
              </a:ln>
            </p:spPr>
          </p:sp>
          <p:grpSp>
            <p:nvGrpSpPr>
              <p:cNvPr id="25" name="Group 25"/>
              <p:cNvGrpSpPr/>
              <p:nvPr/>
            </p:nvGrpSpPr>
            <p:grpSpPr>
              <a:xfrm>
                <a:off x="6619875" y="1938338"/>
                <a:ext cx="266700" cy="200024"/>
                <a:chOff x="6619875" y="1938338"/>
                <a:chExt cx="266700" cy="200024"/>
              </a:xfrm>
            </p:grpSpPr>
            <p:sp>
              <p:nvSpPr>
                <p:cNvPr id="23" name="Freeform 23"/>
                <p:cNvSpPr/>
                <p:nvPr/>
              </p:nvSpPr>
              <p:spPr>
                <a:xfrm>
                  <a:off x="6619875" y="1938338"/>
                  <a:ext cx="266700" cy="5000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6700" h="50006">
                      <a:moveTo>
                        <a:pt x="266700" y="0"/>
                      </a:moveTo>
                      <a:lnTo>
                        <a:pt x="0" y="0"/>
                      </a:lnTo>
                      <a:lnTo>
                        <a:pt x="0" y="50006"/>
                      </a:lnTo>
                      <a:lnTo>
                        <a:pt x="266700" y="50006"/>
                      </a:lnTo>
                      <a:lnTo>
                        <a:pt x="266700" y="0"/>
                      </a:lnTo>
                      <a:close/>
                    </a:path>
                  </a:pathLst>
                </a:custGeom>
                <a:solidFill>
                  <a:srgbClr val="00897B"/>
                </a:solidFill>
                <a:ln>
                  <a:noFill/>
                </a:ln>
              </p:spPr>
            </p:sp>
            <p:sp>
              <p:nvSpPr>
                <p:cNvPr id="24" name="Freeform 24"/>
                <p:cNvSpPr/>
                <p:nvPr/>
              </p:nvSpPr>
              <p:spPr>
                <a:xfrm>
                  <a:off x="6619875" y="2021681"/>
                  <a:ext cx="266700" cy="1166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6700" h="116681">
                      <a:moveTo>
                        <a:pt x="266700" y="0"/>
                      </a:moveTo>
                      <a:lnTo>
                        <a:pt x="0" y="0"/>
                      </a:lnTo>
                      <a:lnTo>
                        <a:pt x="0" y="116681"/>
                      </a:lnTo>
                      <a:lnTo>
                        <a:pt x="266700" y="116681"/>
                      </a:lnTo>
                      <a:lnTo>
                        <a:pt x="266700" y="0"/>
                      </a:lnTo>
                      <a:close/>
                    </a:path>
                  </a:pathLst>
                </a:custGeom>
                <a:solidFill>
                  <a:srgbClr val="00897B"/>
                </a:solidFill>
                <a:ln>
                  <a:noFill/>
                </a:ln>
              </p:spPr>
            </p:sp>
          </p:grpSp>
          <p:sp>
            <p:nvSpPr>
              <p:cNvPr id="26" name="TextBox 26"/>
              <p:cNvSpPr txBox="1"/>
              <p:nvPr/>
            </p:nvSpPr>
            <p:spPr>
              <a:xfrm>
                <a:off x="6939915" y="1963102"/>
                <a:ext cx="614744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00695C"/>
                    </a:solidFill>
                    <a:latin typeface="Arial"/>
                    <a:ea typeface="Microsoft YaHei"/>
                    <a:cs typeface="Arial"/>
                  </a:rPr>
                  <a:t>在线支付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6609398" y="2244566"/>
                <a:ext cx="851559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825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微信/支付宝对接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6609398" y="2406491"/>
                <a:ext cx="461010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825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自动对账</a:t>
                </a:r>
              </a:p>
            </p:txBody>
          </p:sp>
          <p:sp>
            <p:nvSpPr>
              <p:cNvPr id="29" name="Rectangle 29"/>
              <p:cNvSpPr/>
              <p:nvPr/>
            </p:nvSpPr>
            <p:spPr>
              <a:xfrm>
                <a:off x="8858250" y="1762125"/>
                <a:ext cx="2381250" cy="857250"/>
              </a:xfrm>
              <a:prstGeom prst="roundRect">
                <a:avLst>
                  <a:gd name="adj" fmla="val 8889"/>
                </a:avLst>
              </a:prstGeom>
              <a:solidFill>
                <a:srgbClr val="FFFFFF"/>
              </a:solidFill>
              <a:ln>
                <a:noFill/>
              </a:ln>
            </p:spPr>
          </p:sp>
          <p:grpSp>
            <p:nvGrpSpPr>
              <p:cNvPr id="32" name="Group 32"/>
              <p:cNvGrpSpPr/>
              <p:nvPr/>
            </p:nvGrpSpPr>
            <p:grpSpPr>
              <a:xfrm>
                <a:off x="9034462" y="1905000"/>
                <a:ext cx="200026" cy="266700"/>
                <a:chOff x="9034462" y="1905000"/>
                <a:chExt cx="200026" cy="266700"/>
              </a:xfrm>
            </p:grpSpPr>
            <p:sp>
              <p:nvSpPr>
                <p:cNvPr id="30" name="Freeform 30"/>
                <p:cNvSpPr/>
                <p:nvPr/>
              </p:nvSpPr>
              <p:spPr>
                <a:xfrm>
                  <a:off x="9034462" y="1905000"/>
                  <a:ext cx="200025" cy="266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0025" h="266700">
                      <a:moveTo>
                        <a:pt x="83344" y="0"/>
                      </a:moveTo>
                      <a:lnTo>
                        <a:pt x="0" y="0"/>
                      </a:lnTo>
                      <a:lnTo>
                        <a:pt x="0" y="266700"/>
                      </a:lnTo>
                      <a:lnTo>
                        <a:pt x="200025" y="266700"/>
                      </a:lnTo>
                      <a:lnTo>
                        <a:pt x="200025" y="116681"/>
                      </a:lnTo>
                      <a:lnTo>
                        <a:pt x="83344" y="116681"/>
                      </a:lnTo>
                      <a:lnTo>
                        <a:pt x="83344" y="0"/>
                      </a:lnTo>
                      <a:close/>
                    </a:path>
                  </a:pathLst>
                </a:custGeom>
                <a:solidFill>
                  <a:srgbClr val="00897B"/>
                </a:solidFill>
                <a:ln>
                  <a:noFill/>
                </a:ln>
              </p:spPr>
            </p:sp>
            <p:sp>
              <p:nvSpPr>
                <p:cNvPr id="31" name="Freeform 31"/>
                <p:cNvSpPr/>
                <p:nvPr/>
              </p:nvSpPr>
              <p:spPr>
                <a:xfrm>
                  <a:off x="9151144" y="1905000"/>
                  <a:ext cx="83344" cy="8334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3344" h="83344">
                      <a:moveTo>
                        <a:pt x="0" y="0"/>
                      </a:moveTo>
                      <a:lnTo>
                        <a:pt x="0" y="83344"/>
                      </a:lnTo>
                      <a:lnTo>
                        <a:pt x="83344" y="83344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00897B"/>
                </a:solidFill>
                <a:ln>
                  <a:noFill/>
                </a:ln>
              </p:spPr>
            </p:sp>
          </p:grpSp>
          <p:sp>
            <p:nvSpPr>
              <p:cNvPr id="33" name="TextBox 33"/>
              <p:cNvSpPr txBox="1"/>
              <p:nvPr/>
            </p:nvSpPr>
            <p:spPr>
              <a:xfrm>
                <a:off x="9321165" y="1963102"/>
                <a:ext cx="614744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00695C"/>
                    </a:solidFill>
                    <a:latin typeface="Arial"/>
                    <a:ea typeface="Microsoft YaHei"/>
                    <a:cs typeface="Arial"/>
                  </a:rPr>
                  <a:t>电子合同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8990648" y="2244566"/>
                <a:ext cx="1027581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825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在线签署 + 法律效力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8990648" y="2406491"/>
                <a:ext cx="461010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825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合同模板</a:t>
                </a:r>
              </a:p>
            </p:txBody>
          </p:sp>
          <p:sp>
            <p:nvSpPr>
              <p:cNvPr id="36" name="Rectangle 36"/>
              <p:cNvSpPr/>
              <p:nvPr/>
            </p:nvSpPr>
            <p:spPr>
              <a:xfrm>
                <a:off x="6477000" y="2762250"/>
                <a:ext cx="2190750" cy="857250"/>
              </a:xfrm>
              <a:prstGeom prst="roundRect">
                <a:avLst>
                  <a:gd name="adj" fmla="val 8889"/>
                </a:avLst>
              </a:pr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37" name="Freeform 37"/>
              <p:cNvSpPr/>
              <p:nvPr/>
            </p:nvSpPr>
            <p:spPr>
              <a:xfrm>
                <a:off x="6653212" y="2905125"/>
                <a:ext cx="200025" cy="266700"/>
              </a:xfrm>
              <a:custGeom>
                <a:avLst/>
                <a:gdLst/>
                <a:ahLst/>
                <a:cxnLst/>
                <a:rect l="l" t="t" r="r" b="b"/>
                <a:pathLst>
                  <a:path w="200025" h="266700">
                    <a:moveTo>
                      <a:pt x="200025" y="0"/>
                    </a:moveTo>
                    <a:lnTo>
                      <a:pt x="0" y="0"/>
                    </a:lnTo>
                    <a:lnTo>
                      <a:pt x="0" y="266700"/>
                    </a:lnTo>
                    <a:lnTo>
                      <a:pt x="66675" y="266700"/>
                    </a:lnTo>
                    <a:lnTo>
                      <a:pt x="66675" y="200025"/>
                    </a:lnTo>
                    <a:lnTo>
                      <a:pt x="133350" y="200025"/>
                    </a:lnTo>
                    <a:lnTo>
                      <a:pt x="133350" y="266700"/>
                    </a:lnTo>
                    <a:lnTo>
                      <a:pt x="200025" y="266700"/>
                    </a:lnTo>
                    <a:lnTo>
                      <a:pt x="200025" y="0"/>
                    </a:lnTo>
                    <a:close/>
                    <a:moveTo>
                      <a:pt x="50006" y="50006"/>
                    </a:moveTo>
                    <a:lnTo>
                      <a:pt x="83344" y="50006"/>
                    </a:lnTo>
                    <a:lnTo>
                      <a:pt x="83344" y="83344"/>
                    </a:lnTo>
                    <a:lnTo>
                      <a:pt x="50006" y="83344"/>
                    </a:lnTo>
                    <a:lnTo>
                      <a:pt x="50006" y="50006"/>
                    </a:lnTo>
                    <a:close/>
                    <a:moveTo>
                      <a:pt x="83344" y="116681"/>
                    </a:moveTo>
                    <a:lnTo>
                      <a:pt x="50006" y="116681"/>
                    </a:lnTo>
                    <a:lnTo>
                      <a:pt x="50006" y="150019"/>
                    </a:lnTo>
                    <a:lnTo>
                      <a:pt x="83344" y="150019"/>
                    </a:lnTo>
                    <a:lnTo>
                      <a:pt x="83344" y="116681"/>
                    </a:lnTo>
                    <a:close/>
                    <a:moveTo>
                      <a:pt x="116681" y="50006"/>
                    </a:moveTo>
                    <a:lnTo>
                      <a:pt x="150019" y="50006"/>
                    </a:lnTo>
                    <a:lnTo>
                      <a:pt x="150019" y="83344"/>
                    </a:lnTo>
                    <a:lnTo>
                      <a:pt x="116681" y="83344"/>
                    </a:lnTo>
                    <a:lnTo>
                      <a:pt x="116681" y="50006"/>
                    </a:lnTo>
                    <a:close/>
                    <a:moveTo>
                      <a:pt x="150019" y="116681"/>
                    </a:moveTo>
                    <a:lnTo>
                      <a:pt x="116681" y="116681"/>
                    </a:lnTo>
                    <a:lnTo>
                      <a:pt x="116681" y="150019"/>
                    </a:lnTo>
                    <a:lnTo>
                      <a:pt x="150019" y="150019"/>
                    </a:lnTo>
                    <a:lnTo>
                      <a:pt x="150019" y="116681"/>
                    </a:lnTo>
                    <a:close/>
                  </a:path>
                </a:pathLst>
              </a:custGeom>
              <a:solidFill>
                <a:srgbClr val="00897B"/>
              </a:solidFill>
              <a:ln>
                <a:noFill/>
              </a:ln>
            </p:spPr>
          </p:sp>
          <p:sp>
            <p:nvSpPr>
              <p:cNvPr id="38" name="TextBox 38"/>
              <p:cNvSpPr txBox="1"/>
              <p:nvPr/>
            </p:nvSpPr>
            <p:spPr>
              <a:xfrm>
                <a:off x="6939915" y="2963228"/>
                <a:ext cx="761762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00695C"/>
                    </a:solidFill>
                    <a:latin typeface="Arial"/>
                    <a:ea typeface="Microsoft YaHei"/>
                    <a:cs typeface="Arial"/>
                  </a:rPr>
                  <a:t>多商户入驻</a:t>
                </a:r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6609398" y="3244691"/>
                <a:ext cx="791051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825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品牌方独立后台</a:t>
                </a:r>
              </a:p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6609398" y="3406616"/>
                <a:ext cx="461010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825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数据隔离</a:t>
                </a:r>
              </a:p>
            </p:txBody>
          </p:sp>
          <p:sp>
            <p:nvSpPr>
              <p:cNvPr id="41" name="Rectangle 41"/>
              <p:cNvSpPr/>
              <p:nvPr/>
            </p:nvSpPr>
            <p:spPr>
              <a:xfrm>
                <a:off x="8858250" y="2762250"/>
                <a:ext cx="2381250" cy="857250"/>
              </a:xfrm>
              <a:prstGeom prst="roundRect">
                <a:avLst>
                  <a:gd name="adj" fmla="val 8889"/>
                </a:avLst>
              </a:pr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9002500" y="2905125"/>
                <a:ext cx="263949" cy="251030"/>
              </a:xfrm>
              <a:custGeom>
                <a:avLst/>
                <a:gdLst/>
                <a:ahLst/>
                <a:cxnLst/>
                <a:rect l="l" t="t" r="r" b="b"/>
                <a:pathLst>
                  <a:path w="263949" h="251030">
                    <a:moveTo>
                      <a:pt x="148643" y="0"/>
                    </a:moveTo>
                    <a:lnTo>
                      <a:pt x="115306" y="0"/>
                    </a:lnTo>
                    <a:lnTo>
                      <a:pt x="90518" y="76290"/>
                    </a:lnTo>
                    <a:lnTo>
                      <a:pt x="10302" y="76290"/>
                    </a:lnTo>
                    <a:lnTo>
                      <a:pt x="0" y="107996"/>
                    </a:lnTo>
                    <a:lnTo>
                      <a:pt x="64896" y="155145"/>
                    </a:lnTo>
                    <a:lnTo>
                      <a:pt x="40109" y="231434"/>
                    </a:lnTo>
                    <a:lnTo>
                      <a:pt x="67079" y="251030"/>
                    </a:lnTo>
                    <a:lnTo>
                      <a:pt x="131975" y="203880"/>
                    </a:lnTo>
                    <a:lnTo>
                      <a:pt x="196871" y="251030"/>
                    </a:lnTo>
                    <a:lnTo>
                      <a:pt x="223841" y="231434"/>
                    </a:lnTo>
                    <a:lnTo>
                      <a:pt x="199053" y="155145"/>
                    </a:lnTo>
                    <a:lnTo>
                      <a:pt x="263949" y="107995"/>
                    </a:lnTo>
                    <a:lnTo>
                      <a:pt x="253646" y="76290"/>
                    </a:lnTo>
                    <a:lnTo>
                      <a:pt x="173431" y="76290"/>
                    </a:lnTo>
                    <a:lnTo>
                      <a:pt x="148643" y="0"/>
                    </a:lnTo>
                    <a:close/>
                  </a:path>
                </a:pathLst>
              </a:custGeom>
              <a:solidFill>
                <a:srgbClr val="00897B"/>
              </a:solidFill>
              <a:ln>
                <a:noFill/>
              </a:ln>
            </p:spPr>
          </p:sp>
          <p:sp>
            <p:nvSpPr>
              <p:cNvPr id="43" name="TextBox 43"/>
              <p:cNvSpPr txBox="1"/>
              <p:nvPr/>
            </p:nvSpPr>
            <p:spPr>
              <a:xfrm>
                <a:off x="9321165" y="2963228"/>
                <a:ext cx="614744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00695C"/>
                    </a:solidFill>
                    <a:latin typeface="Arial"/>
                    <a:ea typeface="Microsoft YaHei"/>
                    <a:cs typeface="Arial"/>
                  </a:rPr>
                  <a:t>智能推荐</a:t>
                </a:r>
              </a:p>
            </p:txBody>
          </p:sp>
          <p:sp>
            <p:nvSpPr>
              <p:cNvPr id="44" name="TextBox 44"/>
              <p:cNvSpPr txBox="1"/>
              <p:nvPr/>
            </p:nvSpPr>
            <p:spPr>
              <a:xfrm>
                <a:off x="8990648" y="3244691"/>
                <a:ext cx="791051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825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个性化房源推荐</a:t>
                </a:r>
              </a:p>
            </p:txBody>
          </p:sp>
          <p:sp>
            <p:nvSpPr>
              <p:cNvPr id="45" name="TextBox 45"/>
              <p:cNvSpPr txBox="1"/>
              <p:nvPr/>
            </p:nvSpPr>
            <p:spPr>
              <a:xfrm>
                <a:off x="8990648" y="3406616"/>
                <a:ext cx="461010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825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用户画像</a:t>
                </a:r>
              </a:p>
            </p:txBody>
          </p:sp>
        </p:grpSp>
        <p:grpSp>
          <p:nvGrpSpPr>
            <p:cNvPr id="53" name="Group 53"/>
            <p:cNvGrpSpPr/>
            <p:nvPr/>
          </p:nvGrpSpPr>
          <p:grpSpPr>
            <a:xfrm>
              <a:off x="746760" y="3947160"/>
              <a:ext cx="10683240" cy="2339340"/>
              <a:chOff x="746760" y="3947160"/>
              <a:chExt cx="10683240" cy="2339340"/>
            </a:xfrm>
          </p:grpSpPr>
          <p:sp>
            <p:nvSpPr>
              <p:cNvPr id="47" name="TextBox 47"/>
              <p:cNvSpPr txBox="1"/>
              <p:nvPr/>
            </p:nvSpPr>
            <p:spPr>
              <a:xfrm>
                <a:off x="746760" y="3947160"/>
                <a:ext cx="366522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00897B"/>
                    </a:solidFill>
                    <a:latin typeface="Arial"/>
                    <a:ea typeface="Microsoft YaHei"/>
                    <a:cs typeface="Arial"/>
                  </a:rPr>
                  <a:t>总结</a:t>
                </a:r>
              </a:p>
            </p:txBody>
          </p:sp>
          <p:sp>
            <p:nvSpPr>
              <p:cNvPr id="48" name="Rectangle 48"/>
              <p:cNvSpPr/>
              <p:nvPr/>
            </p:nvSpPr>
            <p:spPr>
              <a:xfrm>
                <a:off x="762000" y="4191000"/>
                <a:ext cx="10668000" cy="2095500"/>
              </a:xfrm>
              <a:prstGeom prst="roundRect">
                <a:avLst>
                  <a:gd name="adj" fmla="val 5455"/>
                </a:avLst>
              </a:prstGeom>
              <a:solidFill>
                <a:srgbClr val="00897B"/>
              </a:solidFill>
              <a:ln>
                <a:noFill/>
              </a:ln>
            </p:spPr>
          </p:sp>
          <p:sp>
            <p:nvSpPr>
              <p:cNvPr id="49" name="TextBox 49"/>
              <p:cNvSpPr txBox="1"/>
              <p:nvPr/>
            </p:nvSpPr>
            <p:spPr>
              <a:xfrm>
                <a:off x="4686967" y="4472940"/>
                <a:ext cx="2818066" cy="3657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完成软件工程全流程实践</a:t>
                </a:r>
              </a:p>
            </p:txBody>
          </p:sp>
          <p:sp>
            <p:nvSpPr>
              <p:cNvPr id="50" name="TextBox 50"/>
              <p:cNvSpPr txBox="1"/>
              <p:nvPr/>
            </p:nvSpPr>
            <p:spPr>
              <a:xfrm>
                <a:off x="3988546" y="4910614"/>
                <a:ext cx="4214908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75" dirty="0">
                    <a:solidFill>
                      <a:srgbClr val="B2DFDB"/>
                    </a:solidFill>
                    <a:latin typeface="Arial"/>
                    <a:ea typeface="Microsoft YaHei"/>
                    <a:cs typeface="Arial"/>
                  </a:rPr>
                  <a:t>需求分析 → 系统设计 → 编码实现 → 测试管理 → 部署交付</a:t>
                </a:r>
              </a:p>
            </p:txBody>
          </p:sp>
          <p:sp>
            <p:nvSpPr>
              <p:cNvPr id="51" name="TextBox 51"/>
              <p:cNvSpPr txBox="1"/>
              <p:nvPr/>
            </p:nvSpPr>
            <p:spPr>
              <a:xfrm>
                <a:off x="4232731" y="5355431"/>
                <a:ext cx="3726537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5" dirty="0">
                    <a:solidFill>
                      <a:srgbClr val="B2DFDB"/>
                    </a:solidFill>
                    <a:latin typeface="Arial"/>
                    <a:ea typeface="Microsoft YaHei"/>
                    <a:cs typeface="Arial"/>
                  </a:rPr>
                  <a:t>技术栈：Spring Boot + Vue3 + MySQL + Redis + MinIO</a:t>
                </a:r>
              </a:p>
            </p:txBody>
          </p:sp>
          <p:sp>
            <p:nvSpPr>
              <p:cNvPr id="52" name="TextBox 52"/>
              <p:cNvSpPr txBox="1"/>
              <p:nvPr/>
            </p:nvSpPr>
            <p:spPr>
              <a:xfrm>
                <a:off x="4383655" y="5800249"/>
                <a:ext cx="3424690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dirty="0">
                    <a:solidFill>
                      <a:srgbClr val="80CBC4"/>
                    </a:solidFill>
                    <a:latin typeface="Arial"/>
                    <a:ea typeface="Microsoft YaHei"/>
                    <a:cs typeface="Arial"/>
                  </a:rPr>
                  <a:t>增量迭代模型 · 前后端分离 · 完整测试覆盖 · Git 团队协作</a:t>
                </a:r>
              </a:p>
            </p:txBody>
          </p:sp>
        </p:grpSp>
      </p:grpSp>
      <p:grpSp>
        <p:nvGrpSpPr>
          <p:cNvPr id="58" name="Group 58"/>
          <p:cNvGrpSpPr/>
          <p:nvPr/>
        </p:nvGrpSpPr>
        <p:grpSpPr>
          <a:xfrm>
            <a:off x="750570" y="6477000"/>
            <a:ext cx="10690860" cy="257175"/>
            <a:chOff x="750570" y="6477000"/>
            <a:chExt cx="10690860" cy="257175"/>
          </a:xfrm>
        </p:grpSpPr>
        <p:sp>
          <p:nvSpPr>
            <p:cNvPr id="55" name="Line 55"/>
            <p:cNvSpPr/>
            <p:nvPr/>
          </p:nvSpPr>
          <p:spPr>
            <a:xfrm>
              <a:off x="762000" y="6477000"/>
              <a:ext cx="10668000" cy="9525"/>
            </a:xfrm>
            <a:custGeom>
              <a:avLst/>
              <a:gdLst/>
              <a:ahLst/>
              <a:cxnLst/>
              <a:rect l="l" t="t" r="r" b="b"/>
              <a:pathLst>
                <a:path w="10668000" h="9525">
                  <a:moveTo>
                    <a:pt x="0" y="0"/>
                  </a:moveTo>
                  <a:lnTo>
                    <a:pt x="10668000" y="0"/>
                  </a:lnTo>
                </a:path>
              </a:pathLst>
            </a:custGeom>
            <a:noFill/>
            <a:ln w="9525">
              <a:solidFill>
                <a:srgbClr val="E5E7EB"/>
              </a:solidFill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750570" y="6551295"/>
              <a:ext cx="74295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CA3AF"/>
                  </a:solidFill>
                  <a:latin typeface="Arial"/>
                  <a:ea typeface="Microsoft YaHei"/>
                  <a:cs typeface="Arial"/>
                </a:rPr>
                <a:t>房屋租赁系统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11016520" y="6551295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9CA3AF"/>
                  </a:solidFill>
                  <a:latin typeface="Arial"/>
                  <a:ea typeface="Microsoft YaHei"/>
                  <a:cs typeface="Arial"/>
                </a:rPr>
                <a:t>20 / 21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4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0897B">
                  <a:alpha val="12000"/>
                </a:srgbClr>
              </a:gs>
              <a:gs pos="100000">
                <a:srgbClr val="00897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1333500" y="190500"/>
            <a:ext cx="10096500" cy="5905500"/>
            <a:chOff x="1333500" y="190500"/>
            <a:chExt cx="10096500" cy="5905500"/>
          </a:xfrm>
        </p:grpSpPr>
        <p:sp>
          <p:nvSpPr>
            <p:cNvPr id="4" name="Ellipse 4"/>
            <p:cNvSpPr/>
            <p:nvPr/>
          </p:nvSpPr>
          <p:spPr>
            <a:xfrm>
              <a:off x="9144000" y="571500"/>
              <a:ext cx="1905000" cy="1905000"/>
            </a:xfrm>
            <a:prstGeom prst="ellipse">
              <a:avLst/>
            </a:prstGeom>
            <a:noFill/>
            <a:ln w="9525">
              <a:solidFill>
                <a:srgbClr val="00897B">
                  <a:alpha val="12000"/>
                </a:srgbClr>
              </a:solidFill>
            </a:ln>
          </p:spPr>
        </p:sp>
        <p:sp>
          <p:nvSpPr>
            <p:cNvPr id="5" name="Ellipse 5"/>
            <p:cNvSpPr/>
            <p:nvPr/>
          </p:nvSpPr>
          <p:spPr>
            <a:xfrm>
              <a:off x="8763000" y="190500"/>
              <a:ext cx="2667000" cy="2667000"/>
            </a:xfrm>
            <a:prstGeom prst="ellipse">
              <a:avLst/>
            </a:prstGeom>
            <a:noFill/>
            <a:ln w="4762">
              <a:solidFill>
                <a:srgbClr val="00897B">
                  <a:alpha val="6000"/>
                </a:srgbClr>
              </a:solidFill>
            </a:ln>
          </p:spPr>
        </p:sp>
        <p:sp>
          <p:nvSpPr>
            <p:cNvPr id="6" name="Ellipse 6"/>
            <p:cNvSpPr/>
            <p:nvPr/>
          </p:nvSpPr>
          <p:spPr>
            <a:xfrm>
              <a:off x="1333500" y="4572000"/>
              <a:ext cx="1524000" cy="1524000"/>
            </a:xfrm>
            <a:prstGeom prst="ellipse">
              <a:avLst/>
            </a:prstGeom>
            <a:noFill/>
            <a:ln w="9525">
              <a:solidFill>
                <a:srgbClr val="00897B">
                  <a:alpha val="10000"/>
                </a:srgbClr>
              </a:solidFill>
            </a:ln>
          </p:spPr>
        </p:sp>
      </p:grpSp>
      <p:grpSp>
        <p:nvGrpSpPr>
          <p:cNvPr id="13" name="Group 13"/>
          <p:cNvGrpSpPr/>
          <p:nvPr/>
        </p:nvGrpSpPr>
        <p:grpSpPr>
          <a:xfrm>
            <a:off x="4778692" y="2276475"/>
            <a:ext cx="2634615" cy="2538413"/>
            <a:chOff x="4778692" y="2276475"/>
            <a:chExt cx="2634615" cy="2538413"/>
          </a:xfrm>
        </p:grpSpPr>
        <p:sp>
          <p:nvSpPr>
            <p:cNvPr id="8" name="TextBox 8"/>
            <p:cNvSpPr txBox="1"/>
            <p:nvPr/>
          </p:nvSpPr>
          <p:spPr>
            <a:xfrm>
              <a:off x="4778692" y="2276475"/>
              <a:ext cx="2634615" cy="914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4500" b="1" dirty="0">
                  <a:solidFill>
                    <a:srgbClr val="00897B"/>
                  </a:solidFill>
                  <a:latin typeface="Arial"/>
                  <a:ea typeface="Microsoft YaHei"/>
                  <a:cs typeface="Arial"/>
                </a:rPr>
                <a:t>感谢聆听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5509260" y="3202305"/>
              <a:ext cx="1173480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dirty="0">
                  <a:solidFill>
                    <a:srgbClr val="4DB6AC"/>
                  </a:solidFill>
                  <a:latin typeface="Arial"/>
                  <a:ea typeface="Microsoft YaHei"/>
                  <a:cs typeface="Arial"/>
                </a:rPr>
                <a:t>欢迎提问</a:t>
              </a:r>
            </a:p>
          </p:txBody>
        </p:sp>
        <p:sp>
          <p:nvSpPr>
            <p:cNvPr id="10" name="Line 10"/>
            <p:cNvSpPr/>
            <p:nvPr/>
          </p:nvSpPr>
          <p:spPr>
            <a:xfrm>
              <a:off x="5143500" y="3905250"/>
              <a:ext cx="1905000" cy="9525"/>
            </a:xfrm>
            <a:custGeom>
              <a:avLst/>
              <a:gdLst/>
              <a:ahLst/>
              <a:cxnLst/>
              <a:rect l="l" t="t" r="r" b="b"/>
              <a:pathLst>
                <a:path w="1905000" h="9525">
                  <a:moveTo>
                    <a:pt x="0" y="0"/>
                  </a:moveTo>
                  <a:lnTo>
                    <a:pt x="1905000" y="0"/>
                  </a:lnTo>
                </a:path>
              </a:pathLst>
            </a:custGeom>
            <a:noFill/>
            <a:ln w="19050">
              <a:solidFill>
                <a:srgbClr val="00897B">
                  <a:alpha val="40000"/>
                </a:srgbClr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4948618" y="4251960"/>
              <a:ext cx="229476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房屋租赁系统 · 软件工程大作业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4840010" y="4601528"/>
              <a:ext cx="251198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9CA3AF"/>
                  </a:solidFill>
                  <a:latin typeface="Arial"/>
                  <a:ea typeface="Microsoft YaHei"/>
                  <a:cs typeface="Arial"/>
                </a:rPr>
                <a:t>戴晨威 2023211871 · 黄裔 2023212243</a:t>
              </a:r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11016520" y="6475095"/>
            <a:ext cx="42491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21 / 21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21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2026-06-10T08:42:16Z</dcterms:created>
  <dcterms:modified xsi:type="dcterms:W3CDTF">2026-06-10T08:42:16Z</dcterms:modified>
  <cp:category/>
  <cp:contentStatus/>
</cp:coreProperties>
</file>